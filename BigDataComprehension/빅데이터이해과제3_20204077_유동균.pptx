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72" r:id="rId4"/>
    <p:sldId id="273" r:id="rId5"/>
    <p:sldId id="274" r:id="rId6"/>
    <p:sldId id="276" r:id="rId7"/>
    <p:sldId id="277" r:id="rId8"/>
    <p:sldId id="278" r:id="rId9"/>
    <p:sldId id="279" r:id="rId10"/>
    <p:sldId id="264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769" autoAdjust="0"/>
  </p:normalViewPr>
  <p:slideViewPr>
    <p:cSldViewPr>
      <p:cViewPr varScale="1">
        <p:scale>
          <a:sx n="80" d="100"/>
          <a:sy n="80" d="100"/>
        </p:scale>
        <p:origin x="741" y="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416ED-892F-4139-9991-C51D92A3ED0C}" type="datetimeFigureOut">
              <a:rPr lang="ko-KR" altLang="en-US" smtClean="0"/>
              <a:t>2025-03-22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571BE-E7BD-41BC-AAA8-9AC43E0417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99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571BE-E7BD-41BC-AAA8-9AC43E0417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465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-2147483648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 rot="-5400000">
            <a:off x="10109200" y="279400"/>
            <a:ext cx="5727700" cy="2628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979400" y="6134100"/>
            <a:ext cx="5676900" cy="2628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4503400" y="1828800"/>
            <a:ext cx="2628900" cy="2628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6700" y="4610100"/>
            <a:ext cx="2628900" cy="2628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8100" y="8712200"/>
            <a:ext cx="18288000" cy="15748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93800" y="2857500"/>
            <a:ext cx="5334000" cy="76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3600" b="0" i="0" u="none" strike="noStrike" spc="-100" dirty="0">
                <a:solidFill>
                  <a:srgbClr val="595959"/>
                </a:solidFill>
                <a:latin typeface="S-Core Dream 5 Medium"/>
              </a:rPr>
              <a:t>빅데이터 이해</a:t>
            </a:r>
            <a:endParaRPr lang="en-US" sz="3600" b="0" i="0" u="none" strike="noStrike" spc="-100" dirty="0">
              <a:solidFill>
                <a:srgbClr val="595959"/>
              </a:solidFill>
              <a:latin typeface="S-Core Dream 5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5700" y="3340100"/>
            <a:ext cx="9664700" cy="184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7200" b="0" i="0" u="none" strike="noStrike" spc="-400" dirty="0">
                <a:solidFill>
                  <a:srgbClr val="164F36"/>
                </a:solidFill>
                <a:latin typeface="S-Core Dream 7 ExtraBold"/>
              </a:rPr>
              <a:t>3</a:t>
            </a:r>
            <a:r>
              <a:rPr lang="ko-KR" altLang="en-US" sz="7200" b="0" i="0" u="none" strike="noStrike" spc="-400" dirty="0">
                <a:solidFill>
                  <a:srgbClr val="164F36"/>
                </a:solidFill>
                <a:latin typeface="S-Core Dream 7 ExtraBold"/>
              </a:rPr>
              <a:t>주차 과제</a:t>
            </a:r>
            <a:endParaRPr lang="en-US" sz="7200" b="0" i="0" u="none" strike="noStrike" spc="-400" dirty="0">
              <a:solidFill>
                <a:srgbClr val="164F36"/>
              </a:solidFill>
              <a:latin typeface="S-Core Dream 7 Extra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1506" y="8782050"/>
            <a:ext cx="3970594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2000" i="0" u="none" strike="noStrike" spc="500" dirty="0">
                <a:solidFill>
                  <a:srgbClr val="FFFFFF"/>
                </a:solidFill>
                <a:ea typeface="S-Core Dream 3 Light"/>
              </a:rPr>
              <a:t>학과</a:t>
            </a:r>
            <a:r>
              <a:rPr lang="en-US" altLang="ko-KR" sz="2000" i="0" u="none" strike="noStrike" spc="500" dirty="0">
                <a:solidFill>
                  <a:srgbClr val="FFFFFF"/>
                </a:solidFill>
                <a:ea typeface="S-Core Dream 3 Light"/>
              </a:rPr>
              <a:t>: </a:t>
            </a:r>
            <a:r>
              <a:rPr lang="ko-KR" altLang="en-US" sz="2000" i="0" u="none" strike="noStrike" spc="500" dirty="0">
                <a:solidFill>
                  <a:srgbClr val="FFFFFF"/>
                </a:solidFill>
                <a:ea typeface="S-Core Dream 3 Light"/>
              </a:rPr>
              <a:t>컴퓨터공학과</a:t>
            </a:r>
            <a:endParaRPr lang="en-US" altLang="ko-KR" sz="2000" i="0" u="none" strike="noStrike" spc="500" dirty="0">
              <a:solidFill>
                <a:srgbClr val="FFFFFF"/>
              </a:solidFill>
              <a:ea typeface="S-Core Dream 3 Light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2000" spc="500" dirty="0">
                <a:solidFill>
                  <a:srgbClr val="FFFFFF"/>
                </a:solidFill>
                <a:ea typeface="S-Core Dream 3 Light"/>
              </a:rPr>
              <a:t>학년</a:t>
            </a:r>
            <a:r>
              <a:rPr lang="en-US" altLang="ko-KR" sz="2000" spc="500" dirty="0">
                <a:solidFill>
                  <a:srgbClr val="FFFFFF"/>
                </a:solidFill>
                <a:ea typeface="S-Core Dream 3 Light"/>
              </a:rPr>
              <a:t>: 4</a:t>
            </a:r>
            <a:r>
              <a:rPr lang="ko-KR" altLang="en-US" sz="2000" spc="500" dirty="0">
                <a:solidFill>
                  <a:srgbClr val="FFFFFF"/>
                </a:solidFill>
                <a:ea typeface="S-Core Dream 3 Light"/>
              </a:rPr>
              <a:t>학년</a:t>
            </a:r>
            <a:endParaRPr lang="en-US" altLang="ko-KR" sz="2000" spc="500" dirty="0">
              <a:solidFill>
                <a:srgbClr val="FFFFFF"/>
              </a:solidFill>
              <a:ea typeface="S-Core Dream 3 Light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2000" i="0" u="none" strike="noStrike" spc="500" dirty="0">
                <a:solidFill>
                  <a:srgbClr val="FFFFFF"/>
                </a:solidFill>
                <a:ea typeface="S-Core Dream 5 Medium"/>
              </a:rPr>
              <a:t>학번</a:t>
            </a:r>
            <a:r>
              <a:rPr lang="en-US" altLang="ko-KR" sz="2000" i="0" u="none" strike="noStrike" spc="500" dirty="0">
                <a:solidFill>
                  <a:srgbClr val="FFFFFF"/>
                </a:solidFill>
                <a:ea typeface="S-Core Dream 5 Medium"/>
              </a:rPr>
              <a:t>: 20204077</a:t>
            </a:r>
          </a:p>
          <a:p>
            <a:pPr lvl="0" algn="l">
              <a:lnSpc>
                <a:spcPct val="124499"/>
              </a:lnSpc>
            </a:pPr>
            <a:r>
              <a:rPr lang="ko-KR" altLang="en-US" sz="2000" spc="500" dirty="0">
                <a:solidFill>
                  <a:srgbClr val="FFFFFF"/>
                </a:solidFill>
                <a:ea typeface="S-Core Dream 5 Medium"/>
              </a:rPr>
              <a:t>이름</a:t>
            </a:r>
            <a:r>
              <a:rPr lang="en-US" altLang="ko-KR" sz="2000" spc="500" dirty="0">
                <a:solidFill>
                  <a:srgbClr val="FFFFFF"/>
                </a:solidFill>
                <a:ea typeface="S-Core Dream 5 Medium"/>
              </a:rPr>
              <a:t>: </a:t>
            </a:r>
            <a:r>
              <a:rPr lang="ko-KR" altLang="en-US" sz="2000" spc="500" dirty="0">
                <a:solidFill>
                  <a:srgbClr val="FFFFFF"/>
                </a:solidFill>
                <a:ea typeface="S-Core Dream 5 Medium"/>
              </a:rPr>
              <a:t>유동균</a:t>
            </a:r>
            <a:endParaRPr lang="ko-KR" sz="2000" i="0" u="none" strike="noStrike" spc="500" dirty="0">
              <a:solidFill>
                <a:srgbClr val="FFFFFF"/>
              </a:solidFill>
              <a:ea typeface="S-Core Dream 5 Medium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" y="5219700"/>
            <a:ext cx="100457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600" y="0"/>
            <a:ext cx="1168400" cy="10287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66800" y="1016000"/>
            <a:ext cx="736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4800" b="0" i="0" u="none" strike="noStrike" spc="-100" dirty="0">
                <a:solidFill>
                  <a:srgbClr val="164F36"/>
                </a:solidFill>
                <a:latin typeface="S-Core Dream 3 Light"/>
              </a:rPr>
              <a:t>01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1803400"/>
            <a:ext cx="64389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09600" y="1395412"/>
            <a:ext cx="144780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endParaRPr lang="en-US" altLang="ko-KR" sz="4000" dirty="0"/>
          </a:p>
          <a:p>
            <a:pPr lvl="0" algn="l">
              <a:lnSpc>
                <a:spcPct val="107899"/>
              </a:lnSpc>
            </a:pPr>
            <a:endParaRPr lang="en-US" altLang="ko-KR" sz="4000" dirty="0"/>
          </a:p>
          <a:p>
            <a:pPr lvl="0" algn="l">
              <a:lnSpc>
                <a:spcPct val="107899"/>
              </a:lnSpc>
            </a:pPr>
            <a:r>
              <a:rPr lang="en-US" altLang="ko-KR" sz="4000" b="1" dirty="0"/>
              <a:t>1. </a:t>
            </a:r>
            <a:r>
              <a:rPr lang="ko-KR" altLang="en-US" sz="4000" b="1" dirty="0"/>
              <a:t>데이터 분석 방법론 </a:t>
            </a:r>
            <a:r>
              <a:rPr lang="en-US" altLang="ko-KR" sz="4000" b="1" dirty="0"/>
              <a:t>CRISP-DM</a:t>
            </a:r>
            <a:r>
              <a:rPr lang="ko-KR" altLang="en-US" sz="4000" b="1" dirty="0"/>
              <a:t>를 사용해 데이터 분석 과정 서술</a:t>
            </a:r>
            <a:endParaRPr lang="en-US" altLang="ko-KR" sz="4000" b="1" dirty="0"/>
          </a:p>
        </p:txBody>
      </p:sp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24"/>
          <p:cNvSpPr txBox="1"/>
          <p:nvPr/>
        </p:nvSpPr>
        <p:spPr>
          <a:xfrm>
            <a:off x="1816100" y="889000"/>
            <a:ext cx="7556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과제 </a:t>
            </a:r>
            <a:endParaRPr lang="ko-KR" sz="6000" b="0" i="0" u="none" strike="noStrike" spc="-200" dirty="0">
              <a:solidFill>
                <a:srgbClr val="164F36"/>
              </a:solidFill>
              <a:ea typeface="S-Core Dream 7 ExtraBold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7399000" y="9105900"/>
            <a:ext cx="609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300"/>
              </a:lnSpc>
            </a:pPr>
            <a:r>
              <a:rPr lang="en-US" spc="-200" dirty="0">
                <a:solidFill>
                  <a:srgbClr val="FFFFFF">
                    <a:alpha val="70196"/>
                  </a:srgbClr>
                </a:solidFill>
                <a:latin typeface="S-Core Dream 3 Light"/>
              </a:rPr>
              <a:t>1</a:t>
            </a:r>
            <a:endParaRPr lang="en-US" b="0" i="0" u="none" strike="noStrike" spc="-200" dirty="0">
              <a:solidFill>
                <a:srgbClr val="FFFFFF">
                  <a:alpha val="70196"/>
                </a:srgbClr>
              </a:solidFill>
              <a:latin typeface="S-Core Dream 3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47DE3A-8DC0-B96A-5975-50A5EE44136E}"/>
              </a:ext>
            </a:extLst>
          </p:cNvPr>
          <p:cNvSpPr txBox="1"/>
          <p:nvPr/>
        </p:nvSpPr>
        <p:spPr>
          <a:xfrm>
            <a:off x="17449800" y="495300"/>
            <a:ext cx="457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컴퓨터공학과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유동균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pic>
        <p:nvPicPr>
          <p:cNvPr id="4" name="그림 3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546CFA2-BFCC-B194-E25D-5C909B2E9A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896" y="2628900"/>
            <a:ext cx="12573000" cy="728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02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9600" y="0"/>
            <a:ext cx="1168400" cy="10287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66800" y="1016000"/>
            <a:ext cx="736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4800" b="0" i="0" u="none" strike="noStrike" spc="-100" dirty="0">
                <a:solidFill>
                  <a:srgbClr val="164F36"/>
                </a:solidFill>
                <a:latin typeface="S-Core Dream 3 Light"/>
              </a:rPr>
              <a:t>02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00" y="1803400"/>
            <a:ext cx="64389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63713" y="5118100"/>
            <a:ext cx="15995374" cy="429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07899"/>
              </a:lnSpc>
            </a:pPr>
            <a:r>
              <a:rPr lang="ko-KR" altLang="en-US" sz="4000" b="1" dirty="0"/>
              <a:t>시나리오</a:t>
            </a:r>
            <a:r>
              <a:rPr lang="en-US" altLang="ko-KR" sz="4000" b="1" dirty="0"/>
              <a:t>:</a:t>
            </a:r>
          </a:p>
          <a:p>
            <a:pPr>
              <a:lnSpc>
                <a:spcPct val="107899"/>
              </a:lnSpc>
            </a:pPr>
            <a:r>
              <a:rPr lang="en-US" altLang="ko-KR" sz="4000" dirty="0"/>
              <a:t>B2C </a:t>
            </a:r>
            <a:r>
              <a:rPr lang="ko-KR" altLang="en-US" sz="4000" dirty="0"/>
              <a:t>기업에서 소비자를 위한 </a:t>
            </a:r>
            <a:r>
              <a:rPr lang="ko-KR" altLang="en-US" sz="4000" dirty="0">
                <a:solidFill>
                  <a:srgbClr val="00B0F0"/>
                </a:solidFill>
              </a:rPr>
              <a:t>새로운 프로모션</a:t>
            </a:r>
            <a:r>
              <a:rPr lang="en-US" altLang="ko-KR" sz="4000" dirty="0">
                <a:solidFill>
                  <a:srgbClr val="00B0F0"/>
                </a:solidFill>
              </a:rPr>
              <a:t>, </a:t>
            </a:r>
            <a:r>
              <a:rPr lang="ko-KR" altLang="en-US" sz="4000" dirty="0">
                <a:solidFill>
                  <a:srgbClr val="00B0F0"/>
                </a:solidFill>
              </a:rPr>
              <a:t>이벤트</a:t>
            </a:r>
            <a:r>
              <a:rPr lang="ko-KR" altLang="en-US" sz="4000" dirty="0"/>
              <a:t>를</a:t>
            </a:r>
            <a:r>
              <a:rPr lang="ko-KR" altLang="en-US" sz="4000" dirty="0">
                <a:solidFill>
                  <a:srgbClr val="00B0F0"/>
                </a:solidFill>
              </a:rPr>
              <a:t> </a:t>
            </a:r>
            <a:r>
              <a:rPr lang="ko-KR" altLang="en-US" sz="4000" dirty="0"/>
              <a:t>기획</a:t>
            </a:r>
            <a:r>
              <a:rPr lang="en-US" altLang="ko-KR" sz="4000" dirty="0"/>
              <a:t>. </a:t>
            </a:r>
            <a:r>
              <a:rPr lang="ko-KR" altLang="en-US" sz="4000" dirty="0"/>
              <a:t>지속적인 이벤트를 위해 소비자들의 </a:t>
            </a:r>
            <a:r>
              <a:rPr lang="ko-KR" altLang="en-US" sz="4000" dirty="0">
                <a:solidFill>
                  <a:srgbClr val="FF0000"/>
                </a:solidFill>
              </a:rPr>
              <a:t>파악</a:t>
            </a:r>
            <a:r>
              <a:rPr lang="ko-KR" altLang="en-US" sz="4000" dirty="0"/>
              <a:t>이 필요</a:t>
            </a:r>
            <a:r>
              <a:rPr lang="en-US" altLang="ko-KR" sz="4000" dirty="0"/>
              <a:t>.</a:t>
            </a:r>
          </a:p>
          <a:p>
            <a:pPr>
              <a:lnSpc>
                <a:spcPct val="107899"/>
              </a:lnSpc>
            </a:pPr>
            <a:endParaRPr lang="en-US" altLang="ko-KR" sz="4000" dirty="0"/>
          </a:p>
          <a:p>
            <a:pPr>
              <a:lnSpc>
                <a:spcPct val="107899"/>
              </a:lnSpc>
            </a:pPr>
            <a:endParaRPr lang="en-US" altLang="ko-KR" sz="4000" dirty="0"/>
          </a:p>
          <a:p>
            <a:pPr>
              <a:lnSpc>
                <a:spcPct val="107899"/>
              </a:lnSpc>
            </a:pPr>
            <a:r>
              <a:rPr lang="ko-KR" altLang="en-US" sz="4000" dirty="0"/>
              <a:t>데이터의 사용 및 접근</a:t>
            </a:r>
            <a:endParaRPr lang="en-US" altLang="ko-KR" sz="4000" dirty="0"/>
          </a:p>
          <a:p>
            <a:pPr>
              <a:lnSpc>
                <a:spcPct val="107899"/>
              </a:lnSpc>
            </a:pPr>
            <a:r>
              <a:rPr lang="en-US" altLang="ko-KR" sz="4000" dirty="0"/>
              <a:t>=&gt; </a:t>
            </a:r>
            <a:r>
              <a:rPr lang="ko-KR" altLang="en-US" sz="4000" dirty="0"/>
              <a:t>소비자의 정보와 소비 경향 그리고 기록 등의 빅데이터를 활용하여 접근</a:t>
            </a:r>
            <a:r>
              <a:rPr lang="en-US" altLang="ko-KR" sz="4000" dirty="0"/>
              <a:t>. </a:t>
            </a:r>
          </a:p>
          <a:p>
            <a:pPr>
              <a:lnSpc>
                <a:spcPct val="107899"/>
              </a:lnSpc>
            </a:pPr>
            <a:endParaRPr lang="en-US" altLang="ko-KR" sz="4400" dirty="0"/>
          </a:p>
          <a:p>
            <a:pPr lvl="0" algn="l">
              <a:lnSpc>
                <a:spcPct val="107899"/>
              </a:lnSpc>
            </a:pPr>
            <a:endParaRPr lang="en-US" altLang="ko-KR" sz="4000" dirty="0"/>
          </a:p>
          <a:p>
            <a:pPr lvl="0" algn="l">
              <a:lnSpc>
                <a:spcPct val="107899"/>
              </a:lnSpc>
            </a:pPr>
            <a:endParaRPr lang="en-US" altLang="ko-KR" sz="4000" dirty="0"/>
          </a:p>
          <a:p>
            <a:pPr lvl="0" algn="l">
              <a:lnSpc>
                <a:spcPct val="107899"/>
              </a:lnSpc>
            </a:pPr>
            <a:endParaRPr lang="en-US" altLang="ko-KR" sz="4000" dirty="0"/>
          </a:p>
          <a:p>
            <a:pPr lvl="0" algn="l">
              <a:lnSpc>
                <a:spcPct val="107899"/>
              </a:lnSpc>
            </a:pPr>
            <a:endParaRPr lang="en-US" altLang="ko-KR" sz="4000" dirty="0"/>
          </a:p>
        </p:txBody>
      </p:sp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24"/>
          <p:cNvSpPr txBox="1"/>
          <p:nvPr/>
        </p:nvSpPr>
        <p:spPr>
          <a:xfrm>
            <a:off x="1816100" y="889000"/>
            <a:ext cx="7556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ko-KR" altLang="en-US" sz="6000" spc="-200" dirty="0">
                <a:solidFill>
                  <a:srgbClr val="164F36"/>
                </a:solidFill>
                <a:ea typeface="S-Core Dream 7 ExtraBold"/>
              </a:rPr>
              <a:t>데이터 분석 시나리오</a:t>
            </a:r>
            <a:endParaRPr lang="ko-KR" sz="6000" b="0" i="0" u="none" strike="noStrike" spc="-200" dirty="0">
              <a:solidFill>
                <a:srgbClr val="164F36"/>
              </a:solidFill>
              <a:ea typeface="S-Core Dream 7 ExtraBold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7399000" y="9105900"/>
            <a:ext cx="609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300"/>
              </a:lnSpc>
            </a:pPr>
            <a:r>
              <a:rPr lang="en-US" b="0" i="0" u="none" strike="noStrike" spc="-200" dirty="0">
                <a:solidFill>
                  <a:srgbClr val="FFFFFF">
                    <a:alpha val="70196"/>
                  </a:srgbClr>
                </a:solidFill>
                <a:latin typeface="S-Core Dream 3 Light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47DE3A-8DC0-B96A-5975-50A5EE44136E}"/>
              </a:ext>
            </a:extLst>
          </p:cNvPr>
          <p:cNvSpPr txBox="1"/>
          <p:nvPr/>
        </p:nvSpPr>
        <p:spPr>
          <a:xfrm>
            <a:off x="17449800" y="495300"/>
            <a:ext cx="457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컴퓨터공학과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유동균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88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600" y="0"/>
            <a:ext cx="1168400" cy="10287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66800" y="1016000"/>
            <a:ext cx="736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4800" b="0" i="0" u="none" strike="noStrike" spc="-100" dirty="0">
                <a:solidFill>
                  <a:srgbClr val="164F36"/>
                </a:solidFill>
                <a:latin typeface="S-Core Dream 3 Light"/>
              </a:rPr>
              <a:t>03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1803400"/>
            <a:ext cx="6438900" cy="254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24"/>
          <p:cNvSpPr txBox="1"/>
          <p:nvPr/>
        </p:nvSpPr>
        <p:spPr>
          <a:xfrm>
            <a:off x="1816100" y="889000"/>
            <a:ext cx="7556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altLang="ko-KR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CRISP-DM  1</a:t>
            </a:r>
            <a:r>
              <a:rPr lang="ko-KR" altLang="en-US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단계 구성</a:t>
            </a:r>
            <a:endParaRPr lang="ko-KR" altLang="ko-KR" sz="6000" b="0" i="0" u="none" strike="noStrike" spc="-200" dirty="0">
              <a:solidFill>
                <a:srgbClr val="164F36"/>
              </a:solidFill>
              <a:ea typeface="S-Core Dream 7 ExtraBold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7399000" y="9105900"/>
            <a:ext cx="609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300"/>
              </a:lnSpc>
            </a:pPr>
            <a:r>
              <a:rPr lang="en-US" b="0" i="0" u="none" strike="noStrike" spc="-200" dirty="0">
                <a:solidFill>
                  <a:srgbClr val="FFFFFF">
                    <a:alpha val="70196"/>
                  </a:srgbClr>
                </a:solidFill>
                <a:latin typeface="S-Core Dream 3 Light"/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47DE3A-8DC0-B96A-5975-50A5EE44136E}"/>
              </a:ext>
            </a:extLst>
          </p:cNvPr>
          <p:cNvSpPr txBox="1"/>
          <p:nvPr/>
        </p:nvSpPr>
        <p:spPr>
          <a:xfrm>
            <a:off x="17449800" y="495300"/>
            <a:ext cx="457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컴퓨터공학과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유동균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0E2BE-501A-9AF7-3D32-A571F6D77F1F}"/>
              </a:ext>
            </a:extLst>
          </p:cNvPr>
          <p:cNvSpPr txBox="1"/>
          <p:nvPr/>
        </p:nvSpPr>
        <p:spPr>
          <a:xfrm>
            <a:off x="228600" y="1828800"/>
            <a:ext cx="16306800" cy="836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07899"/>
              </a:lnSpc>
            </a:pPr>
            <a:r>
              <a:rPr lang="en-US" altLang="ko-KR" sz="3200" b="1" dirty="0"/>
              <a:t>CRISP-DM 1</a:t>
            </a:r>
            <a:r>
              <a:rPr lang="ko-KR" altLang="en-US" sz="3200" b="1" dirty="0"/>
              <a:t>단계 </a:t>
            </a:r>
            <a:r>
              <a:rPr lang="en-US" altLang="ko-KR" sz="3200" b="1" dirty="0"/>
              <a:t>[</a:t>
            </a:r>
            <a:r>
              <a:rPr lang="ko-KR" altLang="en-US" sz="3200" b="1" dirty="0"/>
              <a:t>업무의 이해</a:t>
            </a:r>
            <a:r>
              <a:rPr lang="en-US" altLang="ko-KR" sz="3200" b="1" dirty="0"/>
              <a:t>]</a:t>
            </a:r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ko-KR" altLang="en-US" sz="3200" dirty="0"/>
              <a:t>빅데이터를 활용한 목표설정</a:t>
            </a:r>
            <a:r>
              <a:rPr lang="en-US" altLang="ko-KR" sz="3200" dirty="0"/>
              <a:t>, </a:t>
            </a:r>
            <a:r>
              <a:rPr lang="ko-KR" altLang="en-US" sz="3200" dirty="0"/>
              <a:t>업무 목적 파악</a:t>
            </a:r>
            <a:r>
              <a:rPr lang="en-US" altLang="ko-KR" sz="3200" dirty="0"/>
              <a:t>, </a:t>
            </a:r>
            <a:r>
              <a:rPr lang="ko-KR" altLang="en-US" sz="3200" dirty="0"/>
              <a:t>상황파악</a:t>
            </a:r>
            <a:r>
              <a:rPr lang="en-US" altLang="ko-KR" sz="3200" dirty="0"/>
              <a:t>, </a:t>
            </a:r>
            <a:r>
              <a:rPr lang="ko-KR" altLang="en-US" sz="3200" dirty="0"/>
              <a:t>데이터 마이닝 목표</a:t>
            </a:r>
            <a:r>
              <a:rPr lang="en-US" altLang="ko-KR" sz="3200" dirty="0"/>
              <a:t>, </a:t>
            </a:r>
            <a:r>
              <a:rPr lang="ko-KR" altLang="en-US" sz="3200" dirty="0"/>
              <a:t>계획수립</a:t>
            </a:r>
            <a:endParaRPr lang="en-US" altLang="ko-KR" sz="3200" dirty="0"/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ko-KR" altLang="en-US" sz="3200" b="1" dirty="0"/>
              <a:t>업무의 이해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목적 파악</a:t>
            </a:r>
            <a:endParaRPr lang="en-US" altLang="ko-KR" sz="3200" b="1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ko-KR" altLang="en-US" sz="3200" dirty="0"/>
              <a:t>소비자들의 경향과 정보를 파악하기 위해 소비자들을 관리하고 정보를 저장할 수 있는 </a:t>
            </a:r>
            <a:r>
              <a:rPr lang="ko-KR" altLang="en-US" sz="3200" dirty="0">
                <a:solidFill>
                  <a:srgbClr val="00B0F0"/>
                </a:solidFill>
              </a:rPr>
              <a:t>프로그램</a:t>
            </a:r>
            <a:r>
              <a:rPr lang="en-US" altLang="ko-KR" sz="3200" dirty="0">
                <a:solidFill>
                  <a:srgbClr val="00B0F0"/>
                </a:solidFill>
              </a:rPr>
              <a:t>(ex</a:t>
            </a:r>
            <a:r>
              <a:rPr lang="ko-KR" altLang="en-US" sz="3200" dirty="0">
                <a:solidFill>
                  <a:srgbClr val="00B0F0"/>
                </a:solidFill>
              </a:rPr>
              <a:t> </a:t>
            </a:r>
            <a:r>
              <a:rPr lang="en-US" altLang="ko-KR" sz="3200" dirty="0">
                <a:solidFill>
                  <a:srgbClr val="00B0F0"/>
                </a:solidFill>
              </a:rPr>
              <a:t>CRM)</a:t>
            </a:r>
            <a:r>
              <a:rPr lang="ko-KR" altLang="en-US" sz="3200" dirty="0">
                <a:solidFill>
                  <a:srgbClr val="00B0F0"/>
                </a:solidFill>
              </a:rPr>
              <a:t>을 </a:t>
            </a:r>
            <a:r>
              <a:rPr lang="ko-KR" altLang="en-US" sz="3200" dirty="0"/>
              <a:t>개발할 예정</a:t>
            </a:r>
            <a:r>
              <a:rPr lang="en-US" altLang="ko-KR" sz="3200" dirty="0"/>
              <a:t>. (</a:t>
            </a:r>
            <a:r>
              <a:rPr lang="ko-KR" altLang="en-US" sz="3200" dirty="0">
                <a:solidFill>
                  <a:srgbClr val="FF0000"/>
                </a:solidFill>
              </a:rPr>
              <a:t>업무의 목적</a:t>
            </a:r>
            <a:r>
              <a:rPr lang="en-US" altLang="ko-KR" sz="3200" dirty="0">
                <a:solidFill>
                  <a:srgbClr val="FF0000"/>
                </a:solidFill>
              </a:rPr>
              <a:t>,  </a:t>
            </a:r>
            <a:r>
              <a:rPr lang="ko-KR" altLang="en-US" sz="3200" dirty="0">
                <a:solidFill>
                  <a:srgbClr val="FF0000"/>
                </a:solidFill>
              </a:rPr>
              <a:t>목표</a:t>
            </a:r>
            <a:r>
              <a:rPr lang="en-US" altLang="ko-KR" sz="3200" dirty="0"/>
              <a:t>)</a:t>
            </a:r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ko-KR" altLang="en-US" sz="3200" b="1" dirty="0"/>
              <a:t>빅데이터를 활용 계획</a:t>
            </a:r>
            <a:endParaRPr lang="en-US" altLang="ko-KR" sz="3200" b="1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en-US" altLang="ko-KR" sz="3200" dirty="0"/>
              <a:t> </a:t>
            </a:r>
            <a:r>
              <a:rPr lang="ko-KR" altLang="en-US" sz="3200" dirty="0"/>
              <a:t>해당 프로그램을 위해서 다양한 </a:t>
            </a:r>
            <a:r>
              <a:rPr lang="ko-KR" altLang="en-US" sz="3200" dirty="0">
                <a:solidFill>
                  <a:srgbClr val="00B0F0"/>
                </a:solidFill>
              </a:rPr>
              <a:t>빅데이터</a:t>
            </a:r>
            <a:r>
              <a:rPr lang="ko-KR" altLang="en-US" sz="3200" dirty="0"/>
              <a:t>가 필요</a:t>
            </a:r>
            <a:r>
              <a:rPr lang="en-US" altLang="ko-KR" sz="3200" dirty="0"/>
              <a:t>. </a:t>
            </a:r>
          </a:p>
          <a:p>
            <a:pPr marL="914400" lvl="1" indent="-457200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en-US" altLang="ko-KR" sz="3200" dirty="0"/>
              <a:t>Ex) </a:t>
            </a:r>
            <a:r>
              <a:rPr lang="ko-KR" altLang="en-US" sz="3200" dirty="0"/>
              <a:t>소비자 정보</a:t>
            </a:r>
            <a:r>
              <a:rPr lang="en-US" altLang="ko-KR" sz="3200" dirty="0"/>
              <a:t>(Consumers), </a:t>
            </a:r>
            <a:r>
              <a:rPr lang="ko-KR" altLang="en-US" sz="3200" dirty="0"/>
              <a:t>거래 정보</a:t>
            </a:r>
            <a:r>
              <a:rPr lang="en-US" altLang="ko-KR" sz="3200" dirty="0"/>
              <a:t>(Transactions), </a:t>
            </a:r>
            <a:r>
              <a:rPr lang="ko-KR" altLang="en-US" sz="3200" dirty="0"/>
              <a:t>구매 목록</a:t>
            </a:r>
            <a:r>
              <a:rPr lang="en-US" altLang="ko-KR" sz="3200" dirty="0"/>
              <a:t>(</a:t>
            </a:r>
            <a:r>
              <a:rPr lang="en-US" altLang="ko-KR" sz="3200" dirty="0" err="1"/>
              <a:t>Purchase_Items</a:t>
            </a:r>
            <a:r>
              <a:rPr lang="en-US" altLang="ko-KR" sz="3200" dirty="0"/>
              <a:t>) </a:t>
            </a:r>
            <a:r>
              <a:rPr lang="ko-KR" altLang="en-US" sz="3200" dirty="0"/>
              <a:t>등</a:t>
            </a:r>
            <a:endParaRPr lang="en-US" altLang="ko-KR" sz="3200" dirty="0"/>
          </a:p>
          <a:p>
            <a:pPr marL="0" indent="0">
              <a:buNone/>
            </a:pPr>
            <a:r>
              <a:rPr lang="en-US" altLang="ko-KR" sz="3200" dirty="0"/>
              <a:t> 	</a:t>
            </a:r>
            <a:endParaRPr lang="en-US" altLang="ko-KR" sz="3200" dirty="0">
              <a:latin typeface="+mn-ea"/>
            </a:endParaRPr>
          </a:p>
          <a:p>
            <a:pPr marL="0" indent="0">
              <a:buNone/>
            </a:pPr>
            <a:r>
              <a:rPr lang="ko-KR" altLang="en-US" sz="3200" b="1" dirty="0">
                <a:latin typeface="+mn-ea"/>
              </a:rPr>
              <a:t>계획 수립</a:t>
            </a:r>
            <a:endParaRPr lang="en-US" altLang="ko-KR" sz="3200" b="1" dirty="0">
              <a:latin typeface="+mn-ea"/>
            </a:endParaRPr>
          </a:p>
          <a:p>
            <a:pPr marL="514350" indent="-514350">
              <a:buAutoNum type="arabicPeriod"/>
            </a:pPr>
            <a:r>
              <a:rPr lang="ko-KR" altLang="en-US" sz="3200" dirty="0"/>
              <a:t>요구사항 분석 및 데이터 설계</a:t>
            </a:r>
            <a:endParaRPr lang="en-US" altLang="ko-KR" sz="3200" dirty="0"/>
          </a:p>
          <a:p>
            <a:pPr marL="514350" indent="-514350">
              <a:buAutoNum type="arabicPeriod"/>
            </a:pPr>
            <a:r>
              <a:rPr lang="ko-KR" altLang="en-US" sz="3200" dirty="0"/>
              <a:t>데이터 수집 및 분석</a:t>
            </a:r>
            <a:endParaRPr lang="en-US" altLang="ko-KR" sz="3200" dirty="0"/>
          </a:p>
          <a:p>
            <a:pPr marL="514350" indent="-514350">
              <a:buAutoNum type="arabicPeriod"/>
            </a:pPr>
            <a:r>
              <a:rPr lang="ko-KR" altLang="en-US" sz="3200" dirty="0"/>
              <a:t>프로그램의 개발</a:t>
            </a:r>
            <a:endParaRPr lang="en-US" altLang="ko-KR" sz="3200" dirty="0"/>
          </a:p>
          <a:p>
            <a:pPr marL="514350" indent="-514350">
              <a:buAutoNum type="arabicPeriod"/>
            </a:pPr>
            <a:r>
              <a:rPr lang="en-US" altLang="ko-KR" sz="3200" dirty="0"/>
              <a:t> </a:t>
            </a:r>
            <a:r>
              <a:rPr lang="ko-KR" altLang="en-US" sz="3200" dirty="0"/>
              <a:t>분석 및 평가</a:t>
            </a:r>
            <a:r>
              <a:rPr lang="en-US" altLang="ko-KR" sz="3200" dirty="0"/>
              <a:t>, </a:t>
            </a:r>
            <a:r>
              <a:rPr lang="ko-KR" altLang="en-US" sz="3200" dirty="0"/>
              <a:t>테스트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1072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600" y="0"/>
            <a:ext cx="1168400" cy="10287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66800" y="1016000"/>
            <a:ext cx="736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4800" b="0" i="0" u="none" strike="noStrike" spc="-100" dirty="0">
                <a:solidFill>
                  <a:srgbClr val="164F36"/>
                </a:solidFill>
                <a:latin typeface="S-Core Dream 3 Light"/>
              </a:rPr>
              <a:t>0</a:t>
            </a:r>
            <a:r>
              <a:rPr lang="en-US" sz="4800" spc="-100" dirty="0">
                <a:solidFill>
                  <a:srgbClr val="164F36"/>
                </a:solidFill>
                <a:latin typeface="S-Core Dream 3 Light"/>
              </a:rPr>
              <a:t>4</a:t>
            </a:r>
            <a:endParaRPr lang="en-US" sz="4800" b="0" i="0" u="none" strike="noStrike" spc="-100" dirty="0">
              <a:solidFill>
                <a:srgbClr val="164F36"/>
              </a:solidFill>
              <a:latin typeface="S-Core Dream 3 Light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1803400"/>
            <a:ext cx="6438900" cy="254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24"/>
          <p:cNvSpPr txBox="1"/>
          <p:nvPr/>
        </p:nvSpPr>
        <p:spPr>
          <a:xfrm>
            <a:off x="1816100" y="889000"/>
            <a:ext cx="7556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altLang="ko-KR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CRISP-DM  2</a:t>
            </a:r>
            <a:r>
              <a:rPr lang="ko-KR" altLang="en-US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단계 구성</a:t>
            </a:r>
            <a:endParaRPr lang="ko-KR" altLang="ko-KR" sz="6000" b="0" i="0" u="none" strike="noStrike" spc="-200" dirty="0">
              <a:solidFill>
                <a:srgbClr val="164F36"/>
              </a:solidFill>
              <a:ea typeface="S-Core Dream 7 ExtraBold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7399000" y="9105900"/>
            <a:ext cx="609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300"/>
              </a:lnSpc>
            </a:pPr>
            <a:r>
              <a:rPr lang="en-US" b="0" i="0" u="none" strike="noStrike" spc="-200" dirty="0">
                <a:solidFill>
                  <a:srgbClr val="FFFFFF">
                    <a:alpha val="70196"/>
                  </a:srgbClr>
                </a:solidFill>
                <a:latin typeface="S-Core Dream 3 Light"/>
              </a:rPr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47DE3A-8DC0-B96A-5975-50A5EE44136E}"/>
              </a:ext>
            </a:extLst>
          </p:cNvPr>
          <p:cNvSpPr txBox="1"/>
          <p:nvPr/>
        </p:nvSpPr>
        <p:spPr>
          <a:xfrm>
            <a:off x="17449800" y="495300"/>
            <a:ext cx="457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컴퓨터공학과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유동균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9E587-2B17-A000-7F02-0C2804F398A8}"/>
              </a:ext>
            </a:extLst>
          </p:cNvPr>
          <p:cNvSpPr txBox="1"/>
          <p:nvPr/>
        </p:nvSpPr>
        <p:spPr>
          <a:xfrm>
            <a:off x="228600" y="1828800"/>
            <a:ext cx="14935200" cy="8114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899"/>
              </a:lnSpc>
            </a:pPr>
            <a:r>
              <a:rPr lang="en-US" altLang="ko-KR" sz="3200" b="1" dirty="0">
                <a:latin typeface="+mj-lt"/>
              </a:rPr>
              <a:t>CRISP-DM 2</a:t>
            </a:r>
            <a:r>
              <a:rPr lang="ko-KR" altLang="en-US" sz="3200" b="1" dirty="0">
                <a:latin typeface="+mj-lt"/>
              </a:rPr>
              <a:t>단계 </a:t>
            </a:r>
            <a:r>
              <a:rPr lang="en-US" altLang="ko-KR" sz="3200" b="1" dirty="0">
                <a:latin typeface="+mj-lt"/>
              </a:rPr>
              <a:t>[</a:t>
            </a:r>
            <a:r>
              <a:rPr lang="ko-KR" altLang="en-US" sz="3200" b="1" dirty="0">
                <a:latin typeface="+mj-lt"/>
              </a:rPr>
              <a:t>데이터의 이해</a:t>
            </a:r>
            <a:r>
              <a:rPr lang="en-US" altLang="ko-KR" sz="3200" b="1" dirty="0">
                <a:latin typeface="+mj-lt"/>
              </a:rPr>
              <a:t>] </a:t>
            </a:r>
          </a:p>
          <a:p>
            <a:pPr>
              <a:lnSpc>
                <a:spcPct val="107899"/>
              </a:lnSpc>
            </a:pPr>
            <a:r>
              <a:rPr lang="en-US" altLang="ko-KR" sz="3200" dirty="0">
                <a:latin typeface="+mn-ea"/>
              </a:rPr>
              <a:t>=&gt;</a:t>
            </a:r>
            <a:r>
              <a:rPr lang="ko-KR" altLang="en-US" sz="3200" dirty="0">
                <a:latin typeface="+mn-ea"/>
              </a:rPr>
              <a:t>초기 데이터 수집</a:t>
            </a:r>
            <a:r>
              <a:rPr lang="en-US" altLang="ko-KR" sz="3200" dirty="0">
                <a:latin typeface="+mn-ea"/>
              </a:rPr>
              <a:t>, </a:t>
            </a:r>
            <a:r>
              <a:rPr lang="ko-KR" altLang="en-US" sz="3200" dirty="0">
                <a:latin typeface="+mn-ea"/>
              </a:rPr>
              <a:t>데이터 기술 분석</a:t>
            </a:r>
            <a:r>
              <a:rPr lang="en-US" altLang="ko-KR" sz="3200" dirty="0">
                <a:latin typeface="+mn-ea"/>
              </a:rPr>
              <a:t>, </a:t>
            </a:r>
            <a:r>
              <a:rPr lang="ko-KR" altLang="en-US" sz="3200" dirty="0">
                <a:latin typeface="+mn-ea"/>
              </a:rPr>
              <a:t>데이터 탐색</a:t>
            </a:r>
            <a:r>
              <a:rPr lang="en-US" altLang="ko-KR" sz="3200" dirty="0">
                <a:latin typeface="+mn-ea"/>
              </a:rPr>
              <a:t>, </a:t>
            </a:r>
            <a:r>
              <a:rPr lang="ko-KR" altLang="en-US" sz="3200" dirty="0">
                <a:latin typeface="+mn-ea"/>
              </a:rPr>
              <a:t>데이터 품질 확인</a:t>
            </a:r>
            <a:endParaRPr lang="en-US" altLang="ko-KR" sz="3200" dirty="0">
              <a:latin typeface="+mn-ea"/>
            </a:endParaRPr>
          </a:p>
          <a:p>
            <a:pPr>
              <a:lnSpc>
                <a:spcPct val="107899"/>
              </a:lnSpc>
            </a:pPr>
            <a:endParaRPr lang="en-US" altLang="ko-KR" sz="3200" dirty="0">
              <a:latin typeface="+mn-ea"/>
            </a:endParaRPr>
          </a:p>
          <a:p>
            <a:pPr>
              <a:lnSpc>
                <a:spcPct val="107899"/>
              </a:lnSpc>
            </a:pPr>
            <a:r>
              <a:rPr lang="ko-KR" altLang="en-US" sz="3200" dirty="0">
                <a:latin typeface="+mn-ea"/>
              </a:rPr>
              <a:t>초기 데이터 수집</a:t>
            </a:r>
            <a:endParaRPr lang="en-US" altLang="ko-KR" sz="3200" dirty="0">
              <a:latin typeface="+mn-ea"/>
            </a:endParaRPr>
          </a:p>
          <a:p>
            <a:pPr marL="457200" indent="-457200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en-US" altLang="ko-KR" sz="3200" dirty="0">
                <a:latin typeface="+mn-ea"/>
              </a:rPr>
              <a:t>DB</a:t>
            </a:r>
            <a:r>
              <a:rPr lang="ko-KR" altLang="en-US" sz="3200" dirty="0">
                <a:latin typeface="+mn-ea"/>
              </a:rPr>
              <a:t>에 저장되어 있는 </a:t>
            </a:r>
            <a:r>
              <a:rPr lang="ko-KR" altLang="en-US" sz="3200" dirty="0">
                <a:solidFill>
                  <a:srgbClr val="FF0000"/>
                </a:solidFill>
                <a:latin typeface="+mn-ea"/>
              </a:rPr>
              <a:t>반정형 데이터</a:t>
            </a:r>
            <a:r>
              <a:rPr lang="ko-KR" altLang="en-US" sz="3200" dirty="0">
                <a:latin typeface="+mn-ea"/>
              </a:rPr>
              <a:t>와 </a:t>
            </a:r>
            <a:r>
              <a:rPr lang="ko-KR" altLang="en-US" sz="3200" dirty="0">
                <a:solidFill>
                  <a:srgbClr val="FF0000"/>
                </a:solidFill>
                <a:latin typeface="+mn-ea"/>
              </a:rPr>
              <a:t>정형 데이터</a:t>
            </a:r>
            <a:r>
              <a:rPr lang="ko-KR" altLang="en-US" sz="3200" dirty="0">
                <a:latin typeface="+mn-ea"/>
              </a:rPr>
              <a:t>를 불러옴</a:t>
            </a:r>
            <a:endParaRPr lang="en-US" altLang="ko-KR" sz="3200" dirty="0">
              <a:latin typeface="+mn-ea"/>
            </a:endParaRPr>
          </a:p>
          <a:p>
            <a:pPr marL="457200" indent="-457200">
              <a:lnSpc>
                <a:spcPct val="107899"/>
              </a:lnSpc>
              <a:buFont typeface="Symbol" panose="05050102010706020507" pitchFamily="18" charset="2"/>
              <a:buChar char="Þ"/>
            </a:pPr>
            <a:endParaRPr lang="en-US" altLang="ko-KR" sz="3200" dirty="0">
              <a:latin typeface="+mn-ea"/>
            </a:endParaRPr>
          </a:p>
          <a:p>
            <a:pPr marL="457200" indent="-457200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en-US" altLang="ko-KR" sz="3200" dirty="0">
                <a:latin typeface="+mn-ea"/>
              </a:rPr>
              <a:t> </a:t>
            </a:r>
            <a:r>
              <a:rPr lang="ko-KR" altLang="en-US" sz="3200" dirty="0">
                <a:latin typeface="+mn-ea"/>
              </a:rPr>
              <a:t>데이터 소스</a:t>
            </a:r>
            <a:endParaRPr lang="en-US" altLang="ko-KR" sz="3200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소비자 정보 (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Consumers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이름, 나이, 성별, 지역, 가입일 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거래 정보 (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구매 ID, 날짜, 결제 방식, 소비자 ID 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구매 목록 (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Purchase_Items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상품명, 수량, 금액, 소비자 ID 또는 거래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ID와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연결</a:t>
            </a:r>
          </a:p>
          <a:p>
            <a:pPr>
              <a:lnSpc>
                <a:spcPct val="107899"/>
              </a:lnSpc>
            </a:pPr>
            <a:endParaRPr lang="en-US" altLang="ko-KR" sz="3200" dirty="0">
              <a:latin typeface="+mn-ea"/>
            </a:endParaRPr>
          </a:p>
          <a:p>
            <a:pPr>
              <a:lnSpc>
                <a:spcPct val="107899"/>
              </a:lnSpc>
            </a:pPr>
            <a:r>
              <a:rPr lang="ko-KR" altLang="en-US" sz="3200" dirty="0">
                <a:latin typeface="+mn-ea"/>
              </a:rPr>
              <a:t>데이터 탐색</a:t>
            </a:r>
            <a:endParaRPr lang="en-US" altLang="ko-KR" sz="3200" dirty="0">
              <a:latin typeface="+mn-ea"/>
            </a:endParaRPr>
          </a:p>
          <a:p>
            <a:pPr>
              <a:lnSpc>
                <a:spcPct val="107899"/>
              </a:lnSpc>
            </a:pPr>
            <a:r>
              <a:rPr lang="ko-KR" altLang="en-US" sz="3200" dirty="0">
                <a:latin typeface="+mn-ea"/>
              </a:rPr>
              <a:t>전체 레코드의 통계와 수치 등을 파악하여 </a:t>
            </a:r>
            <a:r>
              <a:rPr lang="ko-KR" altLang="en-US" sz="3200" dirty="0">
                <a:solidFill>
                  <a:srgbClr val="00B0F0"/>
                </a:solidFill>
                <a:latin typeface="+mn-ea"/>
              </a:rPr>
              <a:t>자주 나타나는 값</a:t>
            </a:r>
            <a:r>
              <a:rPr lang="en-US" altLang="ko-KR" sz="3200" dirty="0">
                <a:latin typeface="+mn-ea"/>
              </a:rPr>
              <a:t>(</a:t>
            </a:r>
            <a:r>
              <a:rPr lang="ko-KR" altLang="en-US" sz="3200" dirty="0">
                <a:latin typeface="+mn-ea"/>
              </a:rPr>
              <a:t>구매한 아이템</a:t>
            </a:r>
            <a:r>
              <a:rPr lang="en-US" altLang="ko-KR" sz="3200" dirty="0">
                <a:latin typeface="+mn-ea"/>
              </a:rPr>
              <a:t>, </a:t>
            </a:r>
            <a:r>
              <a:rPr lang="ko-KR" altLang="en-US" sz="3200" dirty="0">
                <a:latin typeface="+mn-ea"/>
              </a:rPr>
              <a:t>구매 목록</a:t>
            </a:r>
            <a:r>
              <a:rPr lang="en-US" altLang="ko-KR" sz="3200" dirty="0">
                <a:latin typeface="+mn-ea"/>
              </a:rPr>
              <a:t>, </a:t>
            </a:r>
            <a:r>
              <a:rPr lang="ko-KR" altLang="en-US" sz="3200" dirty="0">
                <a:latin typeface="+mn-ea"/>
              </a:rPr>
              <a:t>연령대 등</a:t>
            </a:r>
            <a:r>
              <a:rPr lang="en-US" altLang="ko-KR" sz="3200" dirty="0">
                <a:latin typeface="+mn-ea"/>
              </a:rPr>
              <a:t>)</a:t>
            </a:r>
            <a:r>
              <a:rPr lang="ko-KR" altLang="en-US" sz="3200" dirty="0">
                <a:latin typeface="+mn-ea"/>
              </a:rPr>
              <a:t>과 </a:t>
            </a:r>
            <a:r>
              <a:rPr lang="ko-KR" altLang="en-US" sz="3200" dirty="0">
                <a:solidFill>
                  <a:srgbClr val="00B0F0"/>
                </a:solidFill>
                <a:latin typeface="+mn-ea"/>
              </a:rPr>
              <a:t>최대</a:t>
            </a:r>
            <a:r>
              <a:rPr lang="en-US" altLang="ko-KR" sz="3200" dirty="0">
                <a:solidFill>
                  <a:srgbClr val="00B0F0"/>
                </a:solidFill>
                <a:latin typeface="+mn-ea"/>
              </a:rPr>
              <a:t>/</a:t>
            </a:r>
            <a:r>
              <a:rPr lang="ko-KR" altLang="en-US" sz="3200" dirty="0">
                <a:solidFill>
                  <a:srgbClr val="00B0F0"/>
                </a:solidFill>
                <a:latin typeface="+mn-ea"/>
              </a:rPr>
              <a:t>최소값</a:t>
            </a:r>
            <a:r>
              <a:rPr lang="en-US" altLang="ko-KR" sz="3200" dirty="0">
                <a:solidFill>
                  <a:srgbClr val="00B0F0"/>
                </a:solidFill>
                <a:latin typeface="+mn-ea"/>
              </a:rPr>
              <a:t>, </a:t>
            </a:r>
            <a:r>
              <a:rPr lang="ko-KR" altLang="en-US" sz="3200" dirty="0">
                <a:solidFill>
                  <a:srgbClr val="00B0F0"/>
                </a:solidFill>
                <a:latin typeface="+mn-ea"/>
              </a:rPr>
              <a:t>이상치 </a:t>
            </a:r>
            <a:r>
              <a:rPr lang="ko-KR" altLang="en-US" sz="3200" dirty="0">
                <a:latin typeface="+mn-ea"/>
              </a:rPr>
              <a:t>등을 확인함</a:t>
            </a:r>
            <a:endParaRPr lang="en-US" altLang="ko-KR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720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CAC4F-35E8-34F2-0334-02BC401A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5F6A99-CC25-5930-9036-FD9F80426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600" y="0"/>
            <a:ext cx="1168400" cy="102870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371498E1-5A6B-87B1-629F-CAC74BB7AB29}"/>
              </a:ext>
            </a:extLst>
          </p:cNvPr>
          <p:cNvSpPr txBox="1"/>
          <p:nvPr/>
        </p:nvSpPr>
        <p:spPr>
          <a:xfrm>
            <a:off x="1066800" y="1016000"/>
            <a:ext cx="736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4800" b="0" i="0" u="none" strike="noStrike" spc="-100" dirty="0">
                <a:solidFill>
                  <a:srgbClr val="164F36"/>
                </a:solidFill>
                <a:latin typeface="S-Core Dream 3 Light"/>
              </a:rPr>
              <a:t>05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09398AD-5C81-33A6-A4C2-E5EBA4BD4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1803400"/>
            <a:ext cx="6438900" cy="25400"/>
          </a:xfrm>
          <a:prstGeom prst="rect">
            <a:avLst/>
          </a:prstGeom>
        </p:spPr>
      </p:pic>
      <p:grpSp>
        <p:nvGrpSpPr>
          <p:cNvPr id="16" name="Group 16">
            <a:extLst>
              <a:ext uri="{FF2B5EF4-FFF2-40B4-BE49-F238E27FC236}">
                <a16:creationId xmlns:a16="http://schemas.microsoft.com/office/drawing/2014/main" id="{B1493DDF-E7B4-1A5A-37F9-C784B51AB7C0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C53D1F1-5162-8C63-7F52-84A273F6C292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24837BE5-3CBD-66B9-2AB3-446E96DAB149}"/>
              </a:ext>
            </a:extLst>
          </p:cNvPr>
          <p:cNvSpPr txBox="1"/>
          <p:nvPr/>
        </p:nvSpPr>
        <p:spPr>
          <a:xfrm>
            <a:off x="1816100" y="889000"/>
            <a:ext cx="7556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altLang="ko-KR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CRISP-DM  3</a:t>
            </a:r>
            <a:r>
              <a:rPr lang="ko-KR" altLang="en-US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단계 구성</a:t>
            </a:r>
            <a:endParaRPr lang="ko-KR" altLang="ko-KR" sz="6000" b="0" i="0" u="none" strike="noStrike" spc="-200" dirty="0">
              <a:solidFill>
                <a:srgbClr val="164F36"/>
              </a:solidFill>
              <a:ea typeface="S-Core Dream 7 ExtraBold"/>
            </a:endParaRPr>
          </a:p>
        </p:txBody>
      </p:sp>
      <p:pic>
        <p:nvPicPr>
          <p:cNvPr id="29" name="Picture 29">
            <a:extLst>
              <a:ext uri="{FF2B5EF4-FFF2-40B4-BE49-F238E27FC236}">
                <a16:creationId xmlns:a16="http://schemas.microsoft.com/office/drawing/2014/main" id="{FBFB0982-ACA5-5E91-67A2-739C298AA9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582C92CF-34A0-DC7C-2C72-F3A3B27F7604}"/>
              </a:ext>
            </a:extLst>
          </p:cNvPr>
          <p:cNvSpPr txBox="1"/>
          <p:nvPr/>
        </p:nvSpPr>
        <p:spPr>
          <a:xfrm>
            <a:off x="17399000" y="9105900"/>
            <a:ext cx="609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300"/>
              </a:lnSpc>
            </a:pPr>
            <a:r>
              <a:rPr lang="en-US" b="0" i="0" u="none" strike="noStrike" spc="-200" dirty="0">
                <a:solidFill>
                  <a:srgbClr val="FFFFFF">
                    <a:alpha val="70196"/>
                  </a:srgbClr>
                </a:solidFill>
                <a:latin typeface="S-Core Dream 3 Light"/>
              </a:rPr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7E4D59-D649-9F07-2BE8-F7AE1D36B370}"/>
              </a:ext>
            </a:extLst>
          </p:cNvPr>
          <p:cNvSpPr txBox="1"/>
          <p:nvPr/>
        </p:nvSpPr>
        <p:spPr>
          <a:xfrm>
            <a:off x="17449800" y="495300"/>
            <a:ext cx="457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컴퓨터공학과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유동균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92712-E30A-5F7C-86B5-FB781E0F05BE}"/>
              </a:ext>
            </a:extLst>
          </p:cNvPr>
          <p:cNvSpPr txBox="1"/>
          <p:nvPr/>
        </p:nvSpPr>
        <p:spPr>
          <a:xfrm>
            <a:off x="228600" y="1836019"/>
            <a:ext cx="16306800" cy="856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07899"/>
              </a:lnSpc>
            </a:pPr>
            <a:r>
              <a:rPr lang="en-US" altLang="ko-KR" sz="3200" b="1" dirty="0"/>
              <a:t>CRISP-DM 3</a:t>
            </a:r>
            <a:r>
              <a:rPr lang="ko-KR" altLang="en-US" sz="3200" b="1" dirty="0"/>
              <a:t>단계 </a:t>
            </a:r>
            <a:r>
              <a:rPr lang="en-US" altLang="ko-KR" sz="3200" b="1" dirty="0"/>
              <a:t>[</a:t>
            </a:r>
            <a:r>
              <a:rPr lang="ko-KR" altLang="en-US" sz="3200" b="1" dirty="0"/>
              <a:t>데이터 준비</a:t>
            </a:r>
            <a:r>
              <a:rPr lang="en-US" altLang="ko-KR" sz="3200" b="1" dirty="0"/>
              <a:t>]</a:t>
            </a:r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ko-KR" altLang="en-US" sz="3200" dirty="0"/>
              <a:t>분석용 데이터 셋 선택</a:t>
            </a:r>
            <a:r>
              <a:rPr lang="en-US" altLang="ko-KR" sz="3200" dirty="0"/>
              <a:t>, </a:t>
            </a:r>
            <a:r>
              <a:rPr lang="ko-KR" altLang="en-US" sz="3200" dirty="0"/>
              <a:t>데이터 정제</a:t>
            </a:r>
            <a:r>
              <a:rPr lang="en-US" altLang="ko-KR" sz="3200" dirty="0"/>
              <a:t>, </a:t>
            </a:r>
            <a:r>
              <a:rPr lang="ko-KR" altLang="en-US" sz="3200" dirty="0"/>
              <a:t>분석용 데이터 셋 편성</a:t>
            </a:r>
            <a:r>
              <a:rPr lang="en-US" altLang="ko-KR" sz="3200" dirty="0"/>
              <a:t>, </a:t>
            </a:r>
            <a:r>
              <a:rPr lang="ko-KR" altLang="en-US" sz="3200" dirty="0"/>
              <a:t>데이터 통합</a:t>
            </a:r>
            <a:r>
              <a:rPr lang="en-US" altLang="ko-KR" sz="3200" dirty="0"/>
              <a:t>, </a:t>
            </a:r>
            <a:r>
              <a:rPr lang="ko-KR" altLang="en-US" sz="3200" dirty="0"/>
              <a:t>데이터 </a:t>
            </a:r>
            <a:r>
              <a:rPr lang="ko-KR" altLang="en-US" sz="3200" dirty="0" err="1"/>
              <a:t>포멧팅</a:t>
            </a:r>
            <a:endParaRPr lang="en-US" altLang="ko-KR" sz="3200" dirty="0"/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ko-KR" altLang="en-US" sz="3200" b="1" dirty="0"/>
              <a:t>데이터 정제</a:t>
            </a: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r>
              <a:rPr lang="ko-KR" altLang="en-US" sz="2800" dirty="0">
                <a:solidFill>
                  <a:srgbClr val="FF0000"/>
                </a:solidFill>
              </a:rPr>
              <a:t>소비자 정보 </a:t>
            </a:r>
            <a:r>
              <a:rPr lang="en-US" altLang="ko-KR" sz="2800" dirty="0"/>
              <a:t>-&gt; </a:t>
            </a:r>
            <a:r>
              <a:rPr lang="ko-KR" altLang="en-US" sz="2800" dirty="0"/>
              <a:t>소비자</a:t>
            </a:r>
            <a:r>
              <a:rPr lang="en-US" altLang="ko-KR" sz="2800" dirty="0"/>
              <a:t>ID, </a:t>
            </a:r>
            <a:r>
              <a:rPr lang="ko-KR" altLang="en-US" sz="2800" dirty="0"/>
              <a:t>이름</a:t>
            </a:r>
            <a:r>
              <a:rPr lang="en-US" altLang="ko-KR" sz="2800" dirty="0"/>
              <a:t>, </a:t>
            </a:r>
            <a:r>
              <a:rPr lang="ko-KR" altLang="en-US" sz="2800" dirty="0"/>
              <a:t>이메일</a:t>
            </a:r>
            <a:r>
              <a:rPr lang="en-US" altLang="ko-KR" sz="2800" dirty="0"/>
              <a:t>, </a:t>
            </a:r>
            <a:r>
              <a:rPr lang="ko-KR" altLang="en-US" sz="2800" dirty="0"/>
              <a:t>핸드폰번호</a:t>
            </a:r>
            <a:r>
              <a:rPr lang="en-US" altLang="ko-KR" sz="2800" dirty="0"/>
              <a:t>, </a:t>
            </a:r>
            <a:r>
              <a:rPr lang="ko-KR" altLang="en-US" sz="2800" dirty="0"/>
              <a:t>등록날짜 등</a:t>
            </a:r>
            <a:endParaRPr lang="en-US" altLang="ko-KR" sz="2800" dirty="0"/>
          </a:p>
          <a:p>
            <a:pPr lvl="0" algn="l">
              <a:lnSpc>
                <a:spcPct val="107899"/>
              </a:lnSpc>
            </a:pPr>
            <a:r>
              <a:rPr lang="ko-KR" altLang="en-US" sz="2800" dirty="0">
                <a:solidFill>
                  <a:srgbClr val="FF0000"/>
                </a:solidFill>
              </a:rPr>
              <a:t>거래정보</a:t>
            </a:r>
            <a:r>
              <a:rPr lang="ko-KR" altLang="en-US" sz="2800" dirty="0"/>
              <a:t> </a:t>
            </a:r>
            <a:r>
              <a:rPr lang="en-US" altLang="ko-KR" sz="2800" dirty="0"/>
              <a:t>-&gt; </a:t>
            </a:r>
            <a:r>
              <a:rPr lang="ko-KR" altLang="en-US" sz="2800" dirty="0"/>
              <a:t>거래일</a:t>
            </a:r>
            <a:r>
              <a:rPr lang="en-US" altLang="ko-KR" sz="2800" dirty="0"/>
              <a:t>, </a:t>
            </a:r>
            <a:r>
              <a:rPr lang="ko-KR" altLang="en-US" sz="2800" dirty="0"/>
              <a:t>총액</a:t>
            </a:r>
            <a:r>
              <a:rPr lang="en-US" altLang="ko-KR" sz="2800" dirty="0"/>
              <a:t>, </a:t>
            </a:r>
            <a:r>
              <a:rPr lang="ko-KR" altLang="en-US" sz="2800" dirty="0"/>
              <a:t>결제수단</a:t>
            </a:r>
            <a:endParaRPr lang="en-US" altLang="ko-KR" sz="2800" dirty="0"/>
          </a:p>
          <a:p>
            <a:pPr lvl="0" algn="l">
              <a:lnSpc>
                <a:spcPct val="107899"/>
              </a:lnSpc>
            </a:pPr>
            <a:r>
              <a:rPr lang="ko-KR" altLang="en-US" sz="2800" dirty="0">
                <a:solidFill>
                  <a:srgbClr val="FF0000"/>
                </a:solidFill>
              </a:rPr>
              <a:t>구매목록</a:t>
            </a:r>
            <a:r>
              <a:rPr lang="ko-KR" altLang="en-US" sz="2800" dirty="0"/>
              <a:t> </a:t>
            </a:r>
            <a:r>
              <a:rPr lang="en-US" altLang="ko-KR" sz="2800" dirty="0"/>
              <a:t>-&gt; </a:t>
            </a:r>
            <a:r>
              <a:rPr lang="ko-KR" altLang="en-US" sz="2800" dirty="0"/>
              <a:t>상품명</a:t>
            </a:r>
            <a:r>
              <a:rPr lang="en-US" altLang="ko-KR" sz="2800" dirty="0"/>
              <a:t>, </a:t>
            </a:r>
            <a:r>
              <a:rPr lang="ko-KR" altLang="en-US" sz="2800" dirty="0"/>
              <a:t>수량</a:t>
            </a:r>
            <a:r>
              <a:rPr lang="en-US" altLang="ko-KR" sz="2800" dirty="0"/>
              <a:t>, </a:t>
            </a:r>
            <a:r>
              <a:rPr lang="ko-KR" altLang="en-US" sz="2800" dirty="0"/>
              <a:t>가격</a:t>
            </a:r>
            <a:endParaRPr lang="en-US" altLang="ko-KR" sz="2800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ko-KR" altLang="en-US" sz="2800" dirty="0">
                <a:solidFill>
                  <a:srgbClr val="00B0F0"/>
                </a:solidFill>
              </a:rPr>
              <a:t>데이터의 중복 제거</a:t>
            </a:r>
            <a:r>
              <a:rPr lang="en-US" altLang="ko-KR" sz="2800" dirty="0">
                <a:solidFill>
                  <a:srgbClr val="00B0F0"/>
                </a:solidFill>
              </a:rPr>
              <a:t> </a:t>
            </a:r>
            <a:r>
              <a:rPr lang="ko-KR" altLang="en-US" sz="2800" dirty="0">
                <a:solidFill>
                  <a:srgbClr val="00B0F0"/>
                </a:solidFill>
              </a:rPr>
              <a:t>필요</a:t>
            </a:r>
            <a:endParaRPr lang="en-US" altLang="ko-KR" sz="2800" dirty="0">
              <a:solidFill>
                <a:srgbClr val="00B0F0"/>
              </a:solidFill>
            </a:endParaRPr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ko-KR" altLang="en-US" sz="3200" b="1" dirty="0"/>
              <a:t>분석용 데이터 셋 편성</a:t>
            </a: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r>
              <a:rPr lang="en-US" altLang="ko-KR" sz="2800" dirty="0"/>
              <a:t>Ex)</a:t>
            </a: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{</a:t>
            </a: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 "</a:t>
            </a:r>
            <a:r>
              <a:rPr lang="en-US" altLang="ko-KR" sz="2400" dirty="0" err="1">
                <a:latin typeface="+mn-ea"/>
                <a:ea typeface="+mn-ea"/>
              </a:rPr>
              <a:t>consumer_id</a:t>
            </a:r>
            <a:r>
              <a:rPr lang="en-US" altLang="ko-KR" sz="2400" dirty="0">
                <a:latin typeface="+mn-ea"/>
                <a:ea typeface="+mn-ea"/>
              </a:rPr>
              <a:t>": "csm_001",</a:t>
            </a: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 "name": "</a:t>
            </a:r>
            <a:r>
              <a:rPr lang="ko-KR" altLang="en-US" sz="2400" dirty="0">
                <a:latin typeface="+mn-ea"/>
                <a:ea typeface="+mn-ea"/>
              </a:rPr>
              <a:t>김철수</a:t>
            </a:r>
            <a:r>
              <a:rPr lang="en-US" altLang="ko-KR" sz="2400" dirty="0">
                <a:latin typeface="+mn-ea"/>
                <a:ea typeface="+mn-ea"/>
              </a:rPr>
              <a:t>",</a:t>
            </a: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 "email": "chulsoo@example.com",</a:t>
            </a: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 "phone": "010-1234-5678",</a:t>
            </a: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 "</a:t>
            </a:r>
            <a:r>
              <a:rPr lang="en-US" altLang="ko-KR" sz="2400" dirty="0" err="1">
                <a:latin typeface="+mn-ea"/>
                <a:ea typeface="+mn-ea"/>
              </a:rPr>
              <a:t>registration_date</a:t>
            </a:r>
            <a:r>
              <a:rPr lang="en-US" altLang="ko-KR" sz="2400" dirty="0">
                <a:latin typeface="+mn-ea"/>
                <a:ea typeface="+mn-ea"/>
              </a:rPr>
              <a:t>": "2025-03-09T14:23:00Z",</a:t>
            </a: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 "</a:t>
            </a:r>
            <a:r>
              <a:rPr lang="en-US" altLang="ko-KR" sz="2400" dirty="0" err="1">
                <a:latin typeface="+mn-ea"/>
                <a:ea typeface="+mn-ea"/>
              </a:rPr>
              <a:t>last_activity</a:t>
            </a:r>
            <a:r>
              <a:rPr lang="en-US" altLang="ko-KR" sz="2400" dirty="0">
                <a:latin typeface="+mn-ea"/>
                <a:ea typeface="+mn-ea"/>
              </a:rPr>
              <a:t>": "2025-03-09T15:00:00Z"</a:t>
            </a: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D9F43-1553-EC97-9E98-5C30D1BDCA61}"/>
              </a:ext>
            </a:extLst>
          </p:cNvPr>
          <p:cNvSpPr txBox="1"/>
          <p:nvPr/>
        </p:nvSpPr>
        <p:spPr>
          <a:xfrm>
            <a:off x="8089900" y="5829300"/>
            <a:ext cx="8382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+mj-lt"/>
              </a:rPr>
              <a:t>데이터</a:t>
            </a:r>
            <a:r>
              <a:rPr lang="en-US" altLang="ko-KR" sz="3200" b="1" dirty="0">
                <a:latin typeface="+mj-lt"/>
              </a:rPr>
              <a:t>, </a:t>
            </a:r>
            <a:r>
              <a:rPr lang="ko-KR" altLang="en-US" sz="3200" b="1" dirty="0">
                <a:latin typeface="+mj-lt"/>
              </a:rPr>
              <a:t>테스트 데이터를 통한 탐구</a:t>
            </a:r>
            <a:endParaRPr lang="en-US" altLang="ko-KR" sz="3200" b="1" dirty="0">
              <a:latin typeface="+mj-lt"/>
            </a:endParaRPr>
          </a:p>
          <a:p>
            <a:endParaRPr lang="en-US" altLang="ko-KR" sz="3200" b="1" dirty="0">
              <a:latin typeface="+mj-lt"/>
            </a:endParaRPr>
          </a:p>
          <a:p>
            <a:r>
              <a:rPr lang="en-US" altLang="ko-KR" sz="3200" dirty="0">
                <a:solidFill>
                  <a:srgbClr val="FF0000"/>
                </a:solidFill>
                <a:latin typeface="+mj-lt"/>
              </a:rPr>
              <a:t>Bar chart, Scatter Plot, Pie chart, Min, Max </a:t>
            </a:r>
            <a:r>
              <a:rPr lang="ko-KR" altLang="en-US" sz="3200" dirty="0">
                <a:latin typeface="+mj-lt"/>
              </a:rPr>
              <a:t>등을 활용해 </a:t>
            </a:r>
            <a:r>
              <a:rPr lang="ko-KR" altLang="en-US" sz="3200" dirty="0">
                <a:solidFill>
                  <a:srgbClr val="00B0F0"/>
                </a:solidFill>
                <a:latin typeface="+mj-lt"/>
              </a:rPr>
              <a:t>데이터를 체크</a:t>
            </a:r>
            <a:r>
              <a:rPr lang="en-US" altLang="ko-KR" sz="3200" dirty="0">
                <a:solidFill>
                  <a:srgbClr val="00B0F0"/>
                </a:solidFill>
                <a:latin typeface="+mj-lt"/>
              </a:rPr>
              <a:t>, </a:t>
            </a:r>
            <a:r>
              <a:rPr lang="ko-KR" altLang="en-US" sz="3200" dirty="0">
                <a:solidFill>
                  <a:srgbClr val="00B0F0"/>
                </a:solidFill>
                <a:latin typeface="+mj-lt"/>
              </a:rPr>
              <a:t>확인함</a:t>
            </a:r>
            <a:r>
              <a:rPr lang="en-US" altLang="ko-KR" sz="3200" dirty="0">
                <a:latin typeface="+mj-lt"/>
              </a:rPr>
              <a:t>.</a:t>
            </a:r>
            <a:endParaRPr lang="ko-KR" alt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3352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0B29-5013-03E9-75AC-A9214F82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55464C0-75CD-6689-0219-B2025DB60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600" y="0"/>
            <a:ext cx="1168400" cy="102870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5D8B12F-CA93-30EB-DC4D-C9276EA1FCEF}"/>
              </a:ext>
            </a:extLst>
          </p:cNvPr>
          <p:cNvSpPr txBox="1"/>
          <p:nvPr/>
        </p:nvSpPr>
        <p:spPr>
          <a:xfrm>
            <a:off x="1066800" y="1016000"/>
            <a:ext cx="736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4800" b="0" i="0" u="none" strike="noStrike" spc="-100" dirty="0">
                <a:solidFill>
                  <a:srgbClr val="164F36"/>
                </a:solidFill>
                <a:latin typeface="S-Core Dream 3 Light"/>
              </a:rPr>
              <a:t>06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D02408E2-E90A-D59A-807A-B921F23BE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1803400"/>
            <a:ext cx="6438900" cy="25400"/>
          </a:xfrm>
          <a:prstGeom prst="rect">
            <a:avLst/>
          </a:prstGeom>
        </p:spPr>
      </p:pic>
      <p:grpSp>
        <p:nvGrpSpPr>
          <p:cNvPr id="16" name="Group 16">
            <a:extLst>
              <a:ext uri="{FF2B5EF4-FFF2-40B4-BE49-F238E27FC236}">
                <a16:creationId xmlns:a16="http://schemas.microsoft.com/office/drawing/2014/main" id="{E33330BA-6629-CF62-ED41-28B4039FE1CE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053A43C-62BA-25BB-4136-71866EA6BC4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714B610D-6BC3-B682-DAE2-27ABAC7C8EEA}"/>
              </a:ext>
            </a:extLst>
          </p:cNvPr>
          <p:cNvSpPr txBox="1"/>
          <p:nvPr/>
        </p:nvSpPr>
        <p:spPr>
          <a:xfrm>
            <a:off x="1816100" y="889000"/>
            <a:ext cx="7556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altLang="ko-KR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CRISP-DM  4</a:t>
            </a:r>
            <a:r>
              <a:rPr lang="ko-KR" altLang="en-US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단계 구성</a:t>
            </a:r>
            <a:endParaRPr lang="ko-KR" altLang="ko-KR" sz="6000" b="0" i="0" u="none" strike="noStrike" spc="-200" dirty="0">
              <a:solidFill>
                <a:srgbClr val="164F36"/>
              </a:solidFill>
              <a:ea typeface="S-Core Dream 7 ExtraBold"/>
            </a:endParaRPr>
          </a:p>
        </p:txBody>
      </p:sp>
      <p:pic>
        <p:nvPicPr>
          <p:cNvPr id="29" name="Picture 29">
            <a:extLst>
              <a:ext uri="{FF2B5EF4-FFF2-40B4-BE49-F238E27FC236}">
                <a16:creationId xmlns:a16="http://schemas.microsoft.com/office/drawing/2014/main" id="{479A8FEB-A7B1-095F-052F-D011ACCC90F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74D84E0B-0601-A55A-3EF4-4E24555060D6}"/>
              </a:ext>
            </a:extLst>
          </p:cNvPr>
          <p:cNvSpPr txBox="1"/>
          <p:nvPr/>
        </p:nvSpPr>
        <p:spPr>
          <a:xfrm>
            <a:off x="17399000" y="9105900"/>
            <a:ext cx="609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300"/>
              </a:lnSpc>
            </a:pPr>
            <a:r>
              <a:rPr lang="en-US" b="0" i="0" u="none" strike="noStrike" spc="-200" dirty="0">
                <a:solidFill>
                  <a:srgbClr val="FFFFFF">
                    <a:alpha val="70196"/>
                  </a:srgbClr>
                </a:solidFill>
                <a:latin typeface="S-Core Dream 3 Light"/>
              </a:rPr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4404CA-0BA6-729C-0CA4-A11472A740DF}"/>
              </a:ext>
            </a:extLst>
          </p:cNvPr>
          <p:cNvSpPr txBox="1"/>
          <p:nvPr/>
        </p:nvSpPr>
        <p:spPr>
          <a:xfrm>
            <a:off x="17449800" y="495300"/>
            <a:ext cx="457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컴퓨터공학과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유동균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93D16D-37E8-C9A6-FBAC-C28575B68191}"/>
              </a:ext>
            </a:extLst>
          </p:cNvPr>
          <p:cNvSpPr txBox="1"/>
          <p:nvPr/>
        </p:nvSpPr>
        <p:spPr>
          <a:xfrm>
            <a:off x="228600" y="1828800"/>
            <a:ext cx="16306800" cy="8576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07899"/>
              </a:lnSpc>
            </a:pPr>
            <a:r>
              <a:rPr lang="en-US" altLang="ko-KR" sz="3200" b="1" dirty="0"/>
              <a:t>CRISP-DM 4</a:t>
            </a:r>
            <a:r>
              <a:rPr lang="ko-KR" altLang="en-US" sz="3200" b="1" dirty="0"/>
              <a:t>단계 </a:t>
            </a:r>
            <a:r>
              <a:rPr lang="en-US" altLang="ko-KR" sz="3200" b="1" dirty="0"/>
              <a:t>[</a:t>
            </a:r>
            <a:r>
              <a:rPr lang="ko-KR" altLang="en-US" sz="3200" b="1" dirty="0"/>
              <a:t>모델링</a:t>
            </a:r>
            <a:r>
              <a:rPr lang="en-US" altLang="ko-KR" sz="3200" b="1" dirty="0"/>
              <a:t>]</a:t>
            </a:r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ko-KR" altLang="en-US" sz="3200" dirty="0"/>
              <a:t>모델링 기법 선택</a:t>
            </a:r>
            <a:r>
              <a:rPr lang="en-US" altLang="ko-KR" sz="3200" dirty="0"/>
              <a:t>, </a:t>
            </a:r>
            <a:r>
              <a:rPr lang="ko-KR" altLang="en-US" sz="3200" dirty="0"/>
              <a:t>모델 테스트 계획 설계</a:t>
            </a:r>
            <a:r>
              <a:rPr lang="en-US" altLang="ko-KR" sz="3200" dirty="0"/>
              <a:t>, </a:t>
            </a:r>
            <a:r>
              <a:rPr lang="ko-KR" altLang="en-US" sz="3200" dirty="0"/>
              <a:t>모델 작성</a:t>
            </a:r>
            <a:r>
              <a:rPr lang="en-US" altLang="ko-KR" sz="3200" dirty="0"/>
              <a:t>, </a:t>
            </a:r>
            <a:r>
              <a:rPr lang="ko-KR" altLang="en-US" sz="3200" dirty="0"/>
              <a:t>모델 평가</a:t>
            </a:r>
            <a:endParaRPr lang="en-US" altLang="ko-KR" sz="3200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ko-KR" altLang="en-US" sz="3200" b="1" dirty="0"/>
              <a:t>모델링 기법 선택</a:t>
            </a: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r>
              <a:rPr lang="ko-KR" altLang="en-US" sz="3200" b="1" dirty="0"/>
              <a:t>모델 작성</a:t>
            </a: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r>
              <a:rPr lang="ko-KR" altLang="en-US" sz="3200" dirty="0"/>
              <a:t>모델에 따른 분류 시 </a:t>
            </a:r>
            <a:r>
              <a:rPr lang="ko-KR" altLang="en-US" sz="3200" dirty="0">
                <a:solidFill>
                  <a:srgbClr val="00B0F0"/>
                </a:solidFill>
              </a:rPr>
              <a:t>구매유형별 고객 그룹화</a:t>
            </a:r>
            <a:r>
              <a:rPr lang="ko-KR" altLang="en-US" sz="3200" dirty="0"/>
              <a:t>는 각 </a:t>
            </a:r>
            <a:r>
              <a:rPr lang="en-US" altLang="ko-KR" sz="3200" dirty="0">
                <a:solidFill>
                  <a:srgbClr val="FF0000"/>
                </a:solidFill>
              </a:rPr>
              <a:t>3</a:t>
            </a:r>
            <a:r>
              <a:rPr lang="ko-KR" altLang="en-US" sz="3200" dirty="0">
                <a:solidFill>
                  <a:srgbClr val="FF0000"/>
                </a:solidFill>
              </a:rPr>
              <a:t>개의 세그먼트</a:t>
            </a:r>
            <a:r>
              <a:rPr lang="ko-KR" altLang="en-US" sz="3200" dirty="0"/>
              <a:t>로 나눠 구분</a:t>
            </a: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ko-KR" altLang="en-US" sz="3200" dirty="0">
                <a:solidFill>
                  <a:srgbClr val="00B0F0"/>
                </a:solidFill>
              </a:rPr>
              <a:t>특정상품의 구매 예측의 </a:t>
            </a:r>
            <a:r>
              <a:rPr lang="ko-KR" altLang="en-US" sz="3200" dirty="0"/>
              <a:t>경우는 </a:t>
            </a:r>
            <a:r>
              <a:rPr lang="ko-KR" altLang="en-US" sz="3200" dirty="0">
                <a:solidFill>
                  <a:srgbClr val="FF0000"/>
                </a:solidFill>
              </a:rPr>
              <a:t>로지스틱 회귀 </a:t>
            </a:r>
            <a:r>
              <a:rPr lang="ko-KR" altLang="en-US" sz="3200" dirty="0"/>
              <a:t>모델을 사용</a:t>
            </a:r>
            <a:endParaRPr lang="en-US" altLang="ko-KR" sz="3200" dirty="0"/>
          </a:p>
          <a:p>
            <a:pPr lvl="0" algn="l">
              <a:lnSpc>
                <a:spcPct val="107899"/>
              </a:lnSpc>
            </a:pP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r>
              <a:rPr lang="en-US" altLang="ko-KR" sz="3200" dirty="0"/>
              <a:t>Python </a:t>
            </a:r>
            <a:r>
              <a:rPr lang="ko-KR" altLang="en-US" sz="3200" dirty="0"/>
              <a:t>과 </a:t>
            </a:r>
            <a:r>
              <a:rPr lang="en-US" altLang="ko-KR" sz="3200" dirty="0"/>
              <a:t>Scikit-learn</a:t>
            </a:r>
            <a:r>
              <a:rPr lang="ko-KR" altLang="en-US" sz="3200" dirty="0"/>
              <a:t>의 </a:t>
            </a:r>
            <a:r>
              <a:rPr lang="en-US" altLang="ko-KR" sz="3200" dirty="0" err="1">
                <a:solidFill>
                  <a:srgbClr val="FF0000"/>
                </a:solidFill>
              </a:rPr>
              <a:t>LogisticRegression</a:t>
            </a:r>
            <a:r>
              <a:rPr lang="en-US" altLang="ko-KR" sz="3200" dirty="0"/>
              <a:t>, </a:t>
            </a:r>
            <a:r>
              <a:rPr lang="en-US" altLang="ko-KR" sz="3200" dirty="0" err="1">
                <a:solidFill>
                  <a:srgbClr val="FF0000"/>
                </a:solidFill>
              </a:rPr>
              <a:t>Kmeans</a:t>
            </a:r>
            <a:r>
              <a:rPr lang="en-US" altLang="ko-KR" sz="3200" dirty="0"/>
              <a:t> </a:t>
            </a:r>
            <a:r>
              <a:rPr lang="ko-KR" altLang="en-US" sz="3200" dirty="0"/>
              <a:t>사용</a:t>
            </a:r>
            <a:endParaRPr lang="en-US" altLang="ko-KR" sz="32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A2B046-7702-6E2F-9491-59AA6F60F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475873"/>
              </p:ext>
            </p:extLst>
          </p:nvPr>
        </p:nvGraphicFramePr>
        <p:xfrm>
          <a:off x="228600" y="4000500"/>
          <a:ext cx="10210800" cy="3381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9478">
                  <a:extLst>
                    <a:ext uri="{9D8B030D-6E8A-4147-A177-3AD203B41FA5}">
                      <a16:colId xmlns:a16="http://schemas.microsoft.com/office/drawing/2014/main" val="3965840896"/>
                    </a:ext>
                  </a:extLst>
                </a:gridCol>
                <a:gridCol w="5771322">
                  <a:extLst>
                    <a:ext uri="{9D8B030D-6E8A-4147-A177-3AD203B41FA5}">
                      <a16:colId xmlns:a16="http://schemas.microsoft.com/office/drawing/2014/main" val="197618565"/>
                    </a:ext>
                  </a:extLst>
                </a:gridCol>
              </a:tblGrid>
              <a:tr h="8454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분석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모델링 기법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672843"/>
                  </a:ext>
                </a:extLst>
              </a:tr>
              <a:tr h="8454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구매 유형별 고객 그룹화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K-Means </a:t>
                      </a:r>
                      <a:r>
                        <a:rPr lang="ko-KR" altLang="en-US" sz="2800" dirty="0"/>
                        <a:t>와 같은 군집화 모델링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639413"/>
                  </a:ext>
                </a:extLst>
              </a:tr>
              <a:tr h="8454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특정 상품의 구매 예측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회귀모델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755351"/>
                  </a:ext>
                </a:extLst>
              </a:tr>
              <a:tr h="8454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자주 구매되는 상품 분석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/>
                        <a:t>연관 규칙 분석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013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03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BA488-0CF8-E358-408F-735116E1B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FF1F944-F65F-EE39-3C71-76D9C5D75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600" y="0"/>
            <a:ext cx="1168400" cy="102870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BEB61C7E-F50F-3E2D-0C83-774784915BB7}"/>
              </a:ext>
            </a:extLst>
          </p:cNvPr>
          <p:cNvSpPr txBox="1"/>
          <p:nvPr/>
        </p:nvSpPr>
        <p:spPr>
          <a:xfrm>
            <a:off x="1066800" y="1016000"/>
            <a:ext cx="736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4800" b="0" i="0" u="none" strike="noStrike" spc="-100" dirty="0">
                <a:solidFill>
                  <a:srgbClr val="164F36"/>
                </a:solidFill>
                <a:latin typeface="S-Core Dream 3 Light"/>
              </a:rPr>
              <a:t>0</a:t>
            </a:r>
            <a:r>
              <a:rPr lang="en-US" sz="4800" spc="-100" dirty="0">
                <a:solidFill>
                  <a:srgbClr val="164F36"/>
                </a:solidFill>
                <a:latin typeface="S-Core Dream 3 Light"/>
              </a:rPr>
              <a:t>7</a:t>
            </a:r>
            <a:endParaRPr lang="en-US" sz="4800" b="0" i="0" u="none" strike="noStrike" spc="-100" dirty="0">
              <a:solidFill>
                <a:srgbClr val="164F36"/>
              </a:solidFill>
              <a:latin typeface="S-Core Dream 3 Light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1DE3341-2750-A705-FAA7-C4CF6D1CC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1803400"/>
            <a:ext cx="6438900" cy="25400"/>
          </a:xfrm>
          <a:prstGeom prst="rect">
            <a:avLst/>
          </a:prstGeom>
        </p:spPr>
      </p:pic>
      <p:grpSp>
        <p:nvGrpSpPr>
          <p:cNvPr id="16" name="Group 16">
            <a:extLst>
              <a:ext uri="{FF2B5EF4-FFF2-40B4-BE49-F238E27FC236}">
                <a16:creationId xmlns:a16="http://schemas.microsoft.com/office/drawing/2014/main" id="{6749915B-7D02-97DC-DFEA-1386C0E11CA7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38EBE4E-AE18-7E0F-683C-F0A677BDC643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8713F23F-F8D7-F9AF-81A9-9E4ADA6BCE64}"/>
              </a:ext>
            </a:extLst>
          </p:cNvPr>
          <p:cNvSpPr txBox="1"/>
          <p:nvPr/>
        </p:nvSpPr>
        <p:spPr>
          <a:xfrm>
            <a:off x="1816100" y="889000"/>
            <a:ext cx="7556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altLang="ko-KR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CRISP-DM  5</a:t>
            </a:r>
            <a:r>
              <a:rPr lang="ko-KR" altLang="en-US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단계 구성</a:t>
            </a:r>
            <a:endParaRPr lang="ko-KR" altLang="ko-KR" sz="6000" b="0" i="0" u="none" strike="noStrike" spc="-200" dirty="0">
              <a:solidFill>
                <a:srgbClr val="164F36"/>
              </a:solidFill>
              <a:ea typeface="S-Core Dream 7 ExtraBold"/>
            </a:endParaRPr>
          </a:p>
        </p:txBody>
      </p:sp>
      <p:pic>
        <p:nvPicPr>
          <p:cNvPr id="29" name="Picture 29">
            <a:extLst>
              <a:ext uri="{FF2B5EF4-FFF2-40B4-BE49-F238E27FC236}">
                <a16:creationId xmlns:a16="http://schemas.microsoft.com/office/drawing/2014/main" id="{65747724-A355-6298-8A7C-346E83506D3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1C3519B6-89F0-CC2D-C7EC-A4198145944A}"/>
              </a:ext>
            </a:extLst>
          </p:cNvPr>
          <p:cNvSpPr txBox="1"/>
          <p:nvPr/>
        </p:nvSpPr>
        <p:spPr>
          <a:xfrm>
            <a:off x="17399000" y="9105900"/>
            <a:ext cx="609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300"/>
              </a:lnSpc>
            </a:pPr>
            <a:r>
              <a:rPr lang="en-US" spc="-200" dirty="0">
                <a:solidFill>
                  <a:srgbClr val="FFFFFF">
                    <a:alpha val="70196"/>
                  </a:srgbClr>
                </a:solidFill>
                <a:latin typeface="S-Core Dream 3 Light"/>
              </a:rPr>
              <a:t>7</a:t>
            </a:r>
            <a:endParaRPr lang="en-US" b="0" i="0" u="none" strike="noStrike" spc="-200" dirty="0">
              <a:solidFill>
                <a:srgbClr val="FFFFFF">
                  <a:alpha val="70196"/>
                </a:srgbClr>
              </a:solidFill>
              <a:latin typeface="S-Core Dream 3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DE1995-8FFB-D7F5-8ACC-CAE2211525A8}"/>
              </a:ext>
            </a:extLst>
          </p:cNvPr>
          <p:cNvSpPr txBox="1"/>
          <p:nvPr/>
        </p:nvSpPr>
        <p:spPr>
          <a:xfrm>
            <a:off x="17449800" y="495300"/>
            <a:ext cx="457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컴퓨터공학과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유동균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EED43-CCC8-29EE-A6BD-32D307A071BC}"/>
              </a:ext>
            </a:extLst>
          </p:cNvPr>
          <p:cNvSpPr txBox="1"/>
          <p:nvPr/>
        </p:nvSpPr>
        <p:spPr>
          <a:xfrm>
            <a:off x="228600" y="1828800"/>
            <a:ext cx="16306800" cy="7513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07899"/>
              </a:lnSpc>
            </a:pPr>
            <a:r>
              <a:rPr lang="en-US" altLang="ko-KR" sz="3200" b="1" dirty="0"/>
              <a:t>CRISP-DM 5</a:t>
            </a:r>
            <a:r>
              <a:rPr lang="ko-KR" altLang="en-US" sz="3200" b="1" dirty="0"/>
              <a:t>단계 </a:t>
            </a:r>
            <a:r>
              <a:rPr lang="en-US" altLang="ko-KR" sz="3200" b="1" dirty="0"/>
              <a:t>[</a:t>
            </a:r>
            <a:r>
              <a:rPr lang="ko-KR" altLang="en-US" sz="3200" b="1" dirty="0"/>
              <a:t>평가</a:t>
            </a:r>
            <a:r>
              <a:rPr lang="en-US" altLang="ko-KR" sz="3200" b="1" dirty="0"/>
              <a:t>]</a:t>
            </a:r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en-US" altLang="ko-KR" sz="3200" dirty="0"/>
              <a:t> </a:t>
            </a:r>
            <a:r>
              <a:rPr lang="ko-KR" altLang="en-US" sz="3200" dirty="0"/>
              <a:t>분석 결과 평가</a:t>
            </a:r>
            <a:r>
              <a:rPr lang="en-US" altLang="ko-KR" sz="3200" dirty="0"/>
              <a:t>, </a:t>
            </a:r>
            <a:r>
              <a:rPr lang="ko-KR" altLang="en-US" sz="3200" dirty="0"/>
              <a:t>모델링 과정 평가</a:t>
            </a:r>
            <a:r>
              <a:rPr lang="en-US" altLang="ko-KR" sz="3200" dirty="0"/>
              <a:t>, </a:t>
            </a:r>
            <a:r>
              <a:rPr lang="ko-KR" altLang="en-US" sz="3200" dirty="0"/>
              <a:t>모델 </a:t>
            </a:r>
            <a:r>
              <a:rPr lang="ko-KR" altLang="en-US" sz="3200" dirty="0" err="1"/>
              <a:t>적용성</a:t>
            </a:r>
            <a:r>
              <a:rPr lang="ko-KR" altLang="en-US" sz="3200" dirty="0"/>
              <a:t> 평가</a:t>
            </a:r>
            <a:endParaRPr lang="en-US" altLang="ko-KR" sz="3200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ko-KR" altLang="en-US" sz="3200" b="1" dirty="0"/>
              <a:t>수집한 데이터와 모델링에 대한 평가</a:t>
            </a:r>
            <a:endParaRPr lang="en-US" altLang="ko-KR" sz="3200" b="1" dirty="0"/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en-US" altLang="ko-KR" sz="3200" dirty="0"/>
              <a:t>: </a:t>
            </a:r>
            <a:r>
              <a:rPr lang="ko-KR" altLang="en-US" sz="3200" dirty="0"/>
              <a:t>각 테스트 데이터를 통한 모델링 평가 시 정확도를 고려하여 모델링 평가 가능</a:t>
            </a:r>
            <a:r>
              <a:rPr lang="en-US" altLang="ko-KR" sz="3200" dirty="0"/>
              <a:t>.</a:t>
            </a:r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en-US" altLang="ko-KR" sz="3200" dirty="0"/>
              <a:t>: </a:t>
            </a:r>
            <a:r>
              <a:rPr lang="ko-KR" altLang="en-US" sz="3200" dirty="0"/>
              <a:t>개발한 프로그램에 각 데이터와 모델이 </a:t>
            </a:r>
            <a:r>
              <a:rPr lang="ko-KR" altLang="en-US" sz="3200" dirty="0" err="1"/>
              <a:t>알맞은지</a:t>
            </a:r>
            <a:r>
              <a:rPr lang="ko-KR" altLang="en-US" sz="3200" dirty="0"/>
              <a:t> 확인해 평가함</a:t>
            </a:r>
            <a:r>
              <a:rPr lang="en-US" altLang="ko-KR" sz="3200" dirty="0"/>
              <a:t>.</a:t>
            </a:r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en-US" altLang="ko-KR" sz="3200" dirty="0"/>
              <a:t>: </a:t>
            </a:r>
            <a:r>
              <a:rPr lang="ko-KR" altLang="en-US" sz="3200" dirty="0"/>
              <a:t>데이터가 부족한지 혹은 주기적인 데이터 업데이트로 모델 학습이 가능한지 확인</a:t>
            </a:r>
            <a:r>
              <a:rPr lang="en-US" altLang="ko-KR" sz="3200" dirty="0"/>
              <a:t>.</a:t>
            </a:r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51113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521E-B9C0-1314-447D-C8581AC32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4734A1C-1D33-E456-9091-84C898533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9600" y="0"/>
            <a:ext cx="1168400" cy="102870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726A90A5-3594-2136-DA56-260AF632B58A}"/>
              </a:ext>
            </a:extLst>
          </p:cNvPr>
          <p:cNvSpPr txBox="1"/>
          <p:nvPr/>
        </p:nvSpPr>
        <p:spPr>
          <a:xfrm>
            <a:off x="1066800" y="1016000"/>
            <a:ext cx="7366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sz="4800" spc="-100" dirty="0">
                <a:solidFill>
                  <a:srgbClr val="164F36"/>
                </a:solidFill>
                <a:latin typeface="S-Core Dream 3 Light"/>
              </a:rPr>
              <a:t>08</a:t>
            </a:r>
            <a:endParaRPr lang="en-US" sz="4800" b="0" i="0" u="none" strike="noStrike" spc="-100" dirty="0">
              <a:solidFill>
                <a:srgbClr val="164F36"/>
              </a:solidFill>
              <a:latin typeface="S-Core Dream 3 Light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12B3B4A4-CB16-748D-8673-ADA277897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1803400"/>
            <a:ext cx="6438900" cy="25400"/>
          </a:xfrm>
          <a:prstGeom prst="rect">
            <a:avLst/>
          </a:prstGeom>
        </p:spPr>
      </p:pic>
      <p:grpSp>
        <p:nvGrpSpPr>
          <p:cNvPr id="16" name="Group 16">
            <a:extLst>
              <a:ext uri="{FF2B5EF4-FFF2-40B4-BE49-F238E27FC236}">
                <a16:creationId xmlns:a16="http://schemas.microsoft.com/office/drawing/2014/main" id="{0634C937-D07A-91A3-1BA0-1C8475FF8DFF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970616A8-8E8C-9DA6-BC3F-F9E3837A44C4}"/>
              </a:ext>
            </a:extLst>
          </p:cNvPr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86FD74B1-5D8E-80BC-B2C8-2CD070A427A1}"/>
              </a:ext>
            </a:extLst>
          </p:cNvPr>
          <p:cNvSpPr txBox="1"/>
          <p:nvPr/>
        </p:nvSpPr>
        <p:spPr>
          <a:xfrm>
            <a:off x="1816100" y="889000"/>
            <a:ext cx="7556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1300"/>
              </a:lnSpc>
            </a:pPr>
            <a:r>
              <a:rPr lang="en-US" altLang="ko-KR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CRISP-DM  6</a:t>
            </a:r>
            <a:r>
              <a:rPr lang="ko-KR" altLang="en-US" sz="6000" b="0" i="0" u="none" strike="noStrike" spc="-200" dirty="0">
                <a:solidFill>
                  <a:srgbClr val="164F36"/>
                </a:solidFill>
                <a:ea typeface="S-Core Dream 7 ExtraBold"/>
              </a:rPr>
              <a:t>단계 구성</a:t>
            </a:r>
            <a:endParaRPr lang="ko-KR" altLang="ko-KR" sz="6000" b="0" i="0" u="none" strike="noStrike" spc="-200" dirty="0">
              <a:solidFill>
                <a:srgbClr val="164F36"/>
              </a:solidFill>
              <a:ea typeface="S-Core Dream 7 ExtraBold"/>
            </a:endParaRPr>
          </a:p>
        </p:txBody>
      </p:sp>
      <p:pic>
        <p:nvPicPr>
          <p:cNvPr id="29" name="Picture 29">
            <a:extLst>
              <a:ext uri="{FF2B5EF4-FFF2-40B4-BE49-F238E27FC236}">
                <a16:creationId xmlns:a16="http://schemas.microsoft.com/office/drawing/2014/main" id="{C70D4A61-F3D2-C3D7-B92D-96FAB14125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EA798E65-EBEF-7617-0FB8-61AD4A44A42C}"/>
              </a:ext>
            </a:extLst>
          </p:cNvPr>
          <p:cNvSpPr txBox="1"/>
          <p:nvPr/>
        </p:nvSpPr>
        <p:spPr>
          <a:xfrm>
            <a:off x="17399000" y="9105900"/>
            <a:ext cx="6096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1300"/>
              </a:lnSpc>
            </a:pPr>
            <a:r>
              <a:rPr lang="en-US" b="0" i="0" u="none" strike="noStrike" spc="-200" dirty="0">
                <a:solidFill>
                  <a:srgbClr val="FFFFFF">
                    <a:alpha val="70196"/>
                  </a:srgbClr>
                </a:solidFill>
                <a:latin typeface="S-Core Dream 3 Light"/>
              </a:rPr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28E552-6A0B-F4C8-1627-CA2F2E0939DF}"/>
              </a:ext>
            </a:extLst>
          </p:cNvPr>
          <p:cNvSpPr txBox="1"/>
          <p:nvPr/>
        </p:nvSpPr>
        <p:spPr>
          <a:xfrm>
            <a:off x="17449800" y="495300"/>
            <a:ext cx="457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컴퓨터공학과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ko-KR" sz="2000" dirty="0">
                <a:solidFill>
                  <a:schemeClr val="bg1"/>
                </a:solidFill>
              </a:rPr>
              <a:t>7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ko-KR" altLang="en-US" sz="2000" dirty="0">
                <a:solidFill>
                  <a:schemeClr val="bg1"/>
                </a:solidFill>
              </a:rPr>
              <a:t>유동균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BA412-39E1-5E0B-3C99-F32752F2D49F}"/>
              </a:ext>
            </a:extLst>
          </p:cNvPr>
          <p:cNvSpPr txBox="1"/>
          <p:nvPr/>
        </p:nvSpPr>
        <p:spPr>
          <a:xfrm>
            <a:off x="228600" y="1828800"/>
            <a:ext cx="16510000" cy="8044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07899"/>
              </a:lnSpc>
            </a:pPr>
            <a:r>
              <a:rPr lang="en-US" altLang="ko-KR" sz="3200" b="1" dirty="0"/>
              <a:t>CRISP-DM 6</a:t>
            </a:r>
            <a:r>
              <a:rPr lang="ko-KR" altLang="en-US" sz="3200" b="1" dirty="0"/>
              <a:t>단계 </a:t>
            </a:r>
            <a:r>
              <a:rPr lang="en-US" altLang="ko-KR" sz="3200" b="1" dirty="0"/>
              <a:t>[</a:t>
            </a:r>
            <a:r>
              <a:rPr lang="ko-KR" altLang="en-US" sz="3200" b="1" dirty="0"/>
              <a:t>전개</a:t>
            </a:r>
            <a:r>
              <a:rPr lang="en-US" altLang="ko-KR" sz="3200" b="1" dirty="0"/>
              <a:t>]</a:t>
            </a:r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en-US" altLang="ko-KR" sz="3200" dirty="0"/>
              <a:t> </a:t>
            </a:r>
            <a:r>
              <a:rPr lang="ko-KR" altLang="en-US" sz="3200" dirty="0"/>
              <a:t>전개 계획 수립</a:t>
            </a:r>
            <a:r>
              <a:rPr lang="en-US" altLang="ko-KR" sz="3200" dirty="0"/>
              <a:t>, </a:t>
            </a:r>
            <a:r>
              <a:rPr lang="ko-KR" altLang="en-US" sz="3200" dirty="0"/>
              <a:t>모니터링 유지보수 계획 수립</a:t>
            </a:r>
            <a:r>
              <a:rPr lang="en-US" altLang="ko-KR" sz="3200" dirty="0"/>
              <a:t>, </a:t>
            </a:r>
            <a:r>
              <a:rPr lang="ko-KR" altLang="en-US" sz="3200" dirty="0"/>
              <a:t>프로젝트 종료 보고서 작성</a:t>
            </a:r>
            <a:r>
              <a:rPr lang="en-US" altLang="ko-KR" sz="3200" dirty="0"/>
              <a:t>, </a:t>
            </a:r>
            <a:r>
              <a:rPr lang="ko-KR" altLang="en-US" sz="3200" dirty="0"/>
              <a:t>프로젝트 리뷰</a:t>
            </a:r>
            <a:endParaRPr lang="en-US" altLang="ko-KR" sz="3200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ko-KR" altLang="en-US" sz="3200" b="1" dirty="0">
                <a:solidFill>
                  <a:srgbClr val="00B0F0"/>
                </a:solidFill>
              </a:rPr>
              <a:t>전개</a:t>
            </a:r>
            <a:r>
              <a:rPr lang="en-US" altLang="ko-KR" sz="3200" b="1" dirty="0">
                <a:solidFill>
                  <a:srgbClr val="00B0F0"/>
                </a:solidFill>
              </a:rPr>
              <a:t>, </a:t>
            </a:r>
            <a:r>
              <a:rPr lang="ko-KR" altLang="en-US" sz="3200" b="1" dirty="0">
                <a:solidFill>
                  <a:srgbClr val="00B0F0"/>
                </a:solidFill>
              </a:rPr>
              <a:t>모니터링 유지보수</a:t>
            </a:r>
            <a:endParaRPr lang="en-US" altLang="ko-KR" sz="3200" b="1" dirty="0">
              <a:solidFill>
                <a:srgbClr val="00B0F0"/>
              </a:solidFill>
            </a:endParaRPr>
          </a:p>
          <a:p>
            <a:pPr lvl="0" algn="l">
              <a:lnSpc>
                <a:spcPct val="107899"/>
              </a:lnSpc>
            </a:pPr>
            <a:r>
              <a:rPr lang="en-US" altLang="ko-KR" sz="3200" dirty="0"/>
              <a:t>: </a:t>
            </a:r>
            <a:r>
              <a:rPr lang="ko-KR" altLang="en-US" sz="3200" dirty="0"/>
              <a:t>프로그램에 빅데이터를 적용</a:t>
            </a:r>
            <a:r>
              <a:rPr lang="en-US" altLang="ko-KR" sz="3200" dirty="0"/>
              <a:t>. </a:t>
            </a:r>
            <a:r>
              <a:rPr lang="ko-KR" altLang="en-US" sz="3200" dirty="0"/>
              <a:t>시스템 연동</a:t>
            </a:r>
            <a:r>
              <a:rPr lang="en-US" altLang="ko-KR" sz="3200" dirty="0"/>
              <a:t>.</a:t>
            </a:r>
          </a:p>
          <a:p>
            <a:pPr lvl="0" algn="l">
              <a:lnSpc>
                <a:spcPct val="107899"/>
              </a:lnSpc>
            </a:pPr>
            <a:r>
              <a:rPr lang="en-US" altLang="ko-KR" sz="3200" dirty="0"/>
              <a:t>: </a:t>
            </a:r>
            <a:r>
              <a:rPr lang="ko-KR" altLang="en-US" sz="3200" dirty="0"/>
              <a:t>시스템을 모니터링과 확인</a:t>
            </a:r>
            <a:r>
              <a:rPr lang="en-US" altLang="ko-KR" sz="3200" dirty="0"/>
              <a:t>. </a:t>
            </a:r>
            <a:r>
              <a:rPr lang="ko-KR" altLang="en-US" sz="3200" dirty="0"/>
              <a:t>이를 통해 유지보수를 진행</a:t>
            </a: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en-US" altLang="ko-KR" sz="3200" dirty="0"/>
              <a:t>: </a:t>
            </a:r>
            <a:r>
              <a:rPr lang="ko-KR" altLang="en-US" sz="3200" dirty="0"/>
              <a:t>데이터를 반영하여 실시간으로 모니터링과 데이터를 통한 모델링의 연동</a:t>
            </a:r>
            <a:r>
              <a:rPr lang="en-US" altLang="ko-KR" sz="3200" dirty="0"/>
              <a:t> </a:t>
            </a:r>
            <a:r>
              <a:rPr lang="ko-KR" altLang="en-US" sz="3200" dirty="0"/>
              <a:t>확인</a:t>
            </a:r>
            <a:r>
              <a:rPr lang="en-US" altLang="ko-KR" sz="3200" dirty="0"/>
              <a:t>.</a:t>
            </a:r>
          </a:p>
          <a:p>
            <a:pPr lvl="0" algn="l">
              <a:lnSpc>
                <a:spcPct val="107899"/>
              </a:lnSpc>
            </a:pPr>
            <a:r>
              <a:rPr lang="en-US" altLang="ko-KR" sz="3200" dirty="0"/>
              <a:t>: </a:t>
            </a:r>
            <a:r>
              <a:rPr lang="ko-KR" altLang="en-US" sz="3200" dirty="0"/>
              <a:t>일정 주기를 통해 유지보수 진행</a:t>
            </a:r>
            <a:r>
              <a:rPr lang="en-US" altLang="ko-KR" sz="3200" dirty="0"/>
              <a:t>.</a:t>
            </a:r>
          </a:p>
          <a:p>
            <a:pPr lvl="0" algn="l">
              <a:lnSpc>
                <a:spcPct val="107899"/>
              </a:lnSpc>
            </a:pPr>
            <a:endParaRPr lang="en-US" altLang="ko-KR" sz="3200" dirty="0"/>
          </a:p>
          <a:p>
            <a:pPr lvl="0" algn="l">
              <a:lnSpc>
                <a:spcPct val="107899"/>
              </a:lnSpc>
            </a:pPr>
            <a:r>
              <a:rPr lang="ko-KR" altLang="en-US" sz="3200" b="1" dirty="0"/>
              <a:t>프로젝트 </a:t>
            </a:r>
            <a:r>
              <a:rPr lang="ko-KR" altLang="en-US" sz="3200" b="1" dirty="0">
                <a:solidFill>
                  <a:srgbClr val="00B0F0"/>
                </a:solidFill>
              </a:rPr>
              <a:t>보고서</a:t>
            </a:r>
            <a:r>
              <a:rPr lang="ko-KR" altLang="en-US" sz="3200" b="1" dirty="0"/>
              <a:t> 작성</a:t>
            </a:r>
            <a:endParaRPr lang="en-US" altLang="ko-KR" sz="3200" b="1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ko-KR" altLang="en-US" sz="3200" dirty="0"/>
              <a:t>프로젝트의 개요 및 목표</a:t>
            </a:r>
            <a:endParaRPr lang="en-US" altLang="ko-KR" sz="3200" dirty="0"/>
          </a:p>
          <a:p>
            <a:pPr marL="457200" indent="-457200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ko-KR" altLang="en-US" sz="3200" dirty="0"/>
              <a:t>데이터 수집과정 </a:t>
            </a:r>
            <a:r>
              <a:rPr lang="ko-KR" altLang="en-US" sz="3200" dirty="0" err="1"/>
              <a:t>전처리</a:t>
            </a:r>
            <a:r>
              <a:rPr lang="ko-KR" altLang="en-US" sz="3200" dirty="0"/>
              <a:t> 과정</a:t>
            </a:r>
            <a:endParaRPr lang="en-US" altLang="ko-KR" sz="3200" dirty="0"/>
          </a:p>
          <a:p>
            <a:pPr marL="457200" indent="-457200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en-US" altLang="ko-KR" sz="3200" dirty="0"/>
              <a:t> </a:t>
            </a:r>
            <a:r>
              <a:rPr lang="ko-KR" altLang="en-US" sz="3200" dirty="0"/>
              <a:t>사용하고 적용한 모델링 기법 </a:t>
            </a:r>
            <a:endParaRPr lang="en-US" altLang="ko-KR" sz="3200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en-US" altLang="ko-KR" sz="3200" dirty="0"/>
              <a:t> </a:t>
            </a:r>
            <a:r>
              <a:rPr lang="ko-KR" altLang="en-US" sz="3200" dirty="0"/>
              <a:t>데이터의 평가</a:t>
            </a:r>
            <a:endParaRPr lang="en-US" altLang="ko-KR" sz="3200" dirty="0"/>
          </a:p>
          <a:p>
            <a:pPr marL="457200" lvl="0" indent="-457200" algn="l">
              <a:lnSpc>
                <a:spcPct val="107899"/>
              </a:lnSpc>
              <a:buFont typeface="Symbol" panose="05050102010706020507" pitchFamily="18" charset="2"/>
              <a:buChar char="Þ"/>
            </a:pPr>
            <a:r>
              <a:rPr lang="en-US" altLang="ko-KR" sz="3200" dirty="0"/>
              <a:t> </a:t>
            </a:r>
            <a:r>
              <a:rPr lang="ko-KR" altLang="en-US" sz="3200" dirty="0"/>
              <a:t>실제 적용 후 효과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960385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2200"/>
            <a:ext cx="18288000" cy="1574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241800" y="3441700"/>
            <a:ext cx="9817100" cy="1816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500" b="0" i="0" u="none" strike="noStrike" spc="-300" dirty="0">
                <a:solidFill>
                  <a:srgbClr val="595959"/>
                </a:solidFill>
                <a:ea typeface="S-Core Dream 5 Medium"/>
              </a:rPr>
              <a:t>감사합니다</a:t>
            </a:r>
            <a:endParaRPr lang="ko-KR" sz="5500" b="0" i="0" u="none" strike="noStrike" spc="-300" dirty="0">
              <a:solidFill>
                <a:srgbClr val="595959"/>
              </a:solidFill>
              <a:ea typeface="S-Core Dream 5 Medium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041900" y="9525000"/>
            <a:ext cx="72390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261100" y="5905500"/>
            <a:ext cx="5765800" cy="1219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07899"/>
              </a:lnSpc>
            </a:pPr>
            <a:r>
              <a:rPr lang="en-US" sz="4000" spc="-100" dirty="0">
                <a:solidFill>
                  <a:srgbClr val="9E9E9E"/>
                </a:solidFill>
                <a:latin typeface="S-Core Dream 3 Light"/>
              </a:rPr>
              <a:t>20204077</a:t>
            </a:r>
          </a:p>
          <a:p>
            <a:pPr lvl="0" algn="ctr">
              <a:lnSpc>
                <a:spcPct val="107899"/>
              </a:lnSpc>
            </a:pPr>
            <a:r>
              <a:rPr lang="ko-KR" altLang="en-US" sz="4000" b="0" i="0" u="none" strike="noStrike" spc="-100" dirty="0">
                <a:solidFill>
                  <a:srgbClr val="9E9E9E"/>
                </a:solidFill>
                <a:latin typeface="S-Core Dream 3 Light"/>
              </a:rPr>
              <a:t>유동균</a:t>
            </a:r>
            <a:endParaRPr lang="en-US" sz="4000" b="0" i="0" u="none" strike="noStrike" spc="-100" dirty="0">
              <a:solidFill>
                <a:srgbClr val="9E9E9E"/>
              </a:solidFill>
              <a:latin typeface="S-Core Dream 3 Light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5588000"/>
            <a:ext cx="96774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6500" y="2781300"/>
            <a:ext cx="482600" cy="482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4442</TotalTime>
  <Words>791</Words>
  <Application>Microsoft Office PowerPoint</Application>
  <PresentationFormat>사용자 지정</PresentationFormat>
  <Paragraphs>243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S-Core Dream 3 Light</vt:lpstr>
      <vt:lpstr>S-Core Dream 5 Medium</vt:lpstr>
      <vt:lpstr>S-Core Dream 7 ExtraBold</vt:lpstr>
      <vt:lpstr>맑은 고딕</vt:lpstr>
      <vt:lpstr>Arial</vt:lpstr>
      <vt:lpstr>Calibri</vt:lpstr>
      <vt:lpstr>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유동균</cp:lastModifiedBy>
  <cp:revision>8</cp:revision>
  <dcterms:created xsi:type="dcterms:W3CDTF">2006-08-16T00:00:00Z</dcterms:created>
  <dcterms:modified xsi:type="dcterms:W3CDTF">2025-03-23T05:19:05Z</dcterms:modified>
</cp:coreProperties>
</file>