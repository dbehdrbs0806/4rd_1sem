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96" r:id="rId4"/>
    <p:sldId id="299" r:id="rId5"/>
    <p:sldId id="261" r:id="rId6"/>
    <p:sldId id="264" r:id="rId7"/>
    <p:sldId id="290" r:id="rId8"/>
    <p:sldId id="302" r:id="rId9"/>
    <p:sldId id="301" r:id="rId10"/>
    <p:sldId id="304" r:id="rId11"/>
    <p:sldId id="305" r:id="rId12"/>
    <p:sldId id="293" r:id="rId13"/>
  </p:sldIdLst>
  <p:sldSz cx="18288000" cy="10287000"/>
  <p:notesSz cx="6797675" cy="9926638"/>
  <p:embeddedFontLst>
    <p:embeddedFont>
      <p:font typeface="윤고딕" panose="020B0600000101010101" charset="-127"/>
      <p:regular r:id="rId15"/>
    </p:embeddedFont>
    <p:embeddedFont>
      <p:font typeface="Glacial Indifference" panose="020B0600000101010101" charset="0"/>
      <p:regular r:id="rId16"/>
    </p:embeddedFont>
    <p:embeddedFont>
      <p:font typeface="나눔고딕" pitchFamily="2" charset="-127"/>
      <p:regular r:id="rId17"/>
      <p:bold r:id="rId18"/>
    </p:embeddedFont>
    <p:embeddedFont>
      <p:font typeface="맑은 고딕" panose="020B0503020000020004" pitchFamily="50" charset="-127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5022" autoAdjust="0"/>
  </p:normalViewPr>
  <p:slideViewPr>
    <p:cSldViewPr>
      <p:cViewPr varScale="1">
        <p:scale>
          <a:sx n="82" d="100"/>
          <a:sy n="82" d="100"/>
        </p:scale>
        <p:origin x="681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481EB-0074-453D-B3D7-B18CEF01B00F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5692A-4F0B-4366-B6BF-50C20E291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012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314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D295E-6250-45FD-D6EE-4EF11C91C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E9A2BF-BFF9-1C65-D959-929B25277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8CF231-B3C9-84AF-9AA8-92BF7DB3E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err="1"/>
              <a:t>마이크로서비스로</a:t>
            </a:r>
            <a:r>
              <a:rPr lang="ko-KR" altLang="en-US"/>
              <a:t> 발전하는 플랜을 제시하는 논문의 형성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84F4A4-06C3-FF7F-0344-5AE76CD0D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55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589E4-8107-DB9A-206C-17FE138E5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5F94BD-8367-1E0F-C168-13B739BE6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0C230A-4549-DA86-0C84-8D16D27BF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1FB62B-6A99-814B-FF1E-D5AA982A2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01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폰트, 로고, 원, 등록 상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340B031-A102-B0AA-95E9-C122483FE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76" y="144672"/>
            <a:ext cx="2057400" cy="20574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43676" y="2288058"/>
            <a:ext cx="16306800" cy="7630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23"/>
              </a:lnSpc>
            </a:pPr>
            <a:r>
              <a:rPr lang="ko-KR" altLang="en-US" sz="5400" b="1" err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쿠버네티스</a:t>
            </a:r>
            <a:r>
              <a:rPr lang="ko-KR" altLang="en-US" sz="54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기반 </a:t>
            </a:r>
            <a:r>
              <a:rPr lang="ko-KR" altLang="en-US" sz="5400" b="1" err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스프링클라우드</a:t>
            </a:r>
            <a:r>
              <a:rPr lang="ko-KR" altLang="en-US" sz="54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</a:t>
            </a:r>
            <a:r>
              <a:rPr lang="ko-KR" altLang="en-US" sz="5400" b="1" err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마이크로서비스</a:t>
            </a:r>
            <a:r>
              <a:rPr lang="ko-KR" altLang="en-US" sz="54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아키텍처의 설계 및 구현</a:t>
            </a:r>
            <a:br>
              <a:rPr lang="ko-KR" altLang="en-US" sz="48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</a:br>
            <a:r>
              <a:rPr lang="en-US" altLang="ko-KR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Architectural  Design</a:t>
            </a:r>
            <a:r>
              <a:rPr lang="ko-KR" altLang="en-US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</a:t>
            </a:r>
            <a:r>
              <a:rPr lang="en-US" altLang="ko-KR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and</a:t>
            </a:r>
            <a:r>
              <a:rPr lang="ko-KR" altLang="en-US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</a:t>
            </a:r>
            <a:r>
              <a:rPr lang="en-US" altLang="ko-KR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Implementation</a:t>
            </a:r>
            <a:r>
              <a:rPr lang="ko-KR" altLang="en-US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</a:t>
            </a:r>
            <a:r>
              <a:rPr lang="en-US" altLang="ko-KR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of</a:t>
            </a:r>
            <a:r>
              <a:rPr lang="ko-KR" altLang="en-US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</a:t>
            </a:r>
            <a:r>
              <a:rPr lang="en-US" altLang="ko-KR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Spring</a:t>
            </a:r>
            <a:r>
              <a:rPr lang="ko-KR" altLang="en-US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</a:t>
            </a:r>
            <a:r>
              <a:rPr lang="en-US" altLang="ko-KR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Cloud-Based</a:t>
            </a:r>
            <a:r>
              <a:rPr lang="ko-KR" altLang="en-US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</a:t>
            </a:r>
            <a:r>
              <a:rPr lang="en-US" altLang="ko-KR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Microservices on Kubernetes </a:t>
            </a:r>
            <a:endParaRPr lang="ko-KR" altLang="en-US" sz="4800" b="1">
              <a:solidFill>
                <a:srgbClr val="000000"/>
              </a:solidFill>
              <a:latin typeface="나눔고딕" charset="0"/>
              <a:ea typeface="나눔고딕" charset="0"/>
              <a:cs typeface="NanumGothic" charset="0"/>
            </a:endParaRPr>
          </a:p>
          <a:p>
            <a:pPr algn="ctr">
              <a:lnSpc>
                <a:spcPts val="11923"/>
              </a:lnSpc>
            </a:pPr>
            <a:endParaRPr lang="en-US" sz="10368" spc="-103">
              <a:solidFill>
                <a:srgbClr val="191919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41A1CC6-28EE-B6B9-DCD6-5291CA5B01A6}"/>
              </a:ext>
            </a:extLst>
          </p:cNvPr>
          <p:cNvSpPr txBox="1">
            <a:spLocks/>
          </p:cNvSpPr>
          <p:nvPr/>
        </p:nvSpPr>
        <p:spPr>
          <a:xfrm>
            <a:off x="1012658" y="8590408"/>
            <a:ext cx="1908460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sz="2800" spc="-19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학번</a:t>
            </a:r>
            <a:endParaRPr lang="ko-KR" altLang="en-US" sz="280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D0D633C-75F8-D0F0-251E-9DD710E453EA}"/>
              </a:ext>
            </a:extLst>
          </p:cNvPr>
          <p:cNvSpPr txBox="1">
            <a:spLocks/>
          </p:cNvSpPr>
          <p:nvPr/>
        </p:nvSpPr>
        <p:spPr>
          <a:xfrm>
            <a:off x="2753015" y="8616252"/>
            <a:ext cx="6593205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en-US" sz="2800" spc="-9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20204077</a:t>
            </a:r>
            <a:endParaRPr lang="ko-KR" altLang="en-US" sz="280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4D8A690-E5D9-CAC2-A42C-DF8F64B03257}"/>
              </a:ext>
            </a:extLst>
          </p:cNvPr>
          <p:cNvSpPr txBox="1">
            <a:spLocks/>
          </p:cNvSpPr>
          <p:nvPr/>
        </p:nvSpPr>
        <p:spPr>
          <a:xfrm>
            <a:off x="1012658" y="9055863"/>
            <a:ext cx="1533531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sz="2800" spc="-19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지도교수</a:t>
            </a:r>
            <a:endParaRPr lang="ko-KR" altLang="en-US" sz="280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76AC1BE-AB75-DAB7-5770-648B95BCB6F2}"/>
              </a:ext>
            </a:extLst>
          </p:cNvPr>
          <p:cNvSpPr txBox="1">
            <a:spLocks/>
          </p:cNvSpPr>
          <p:nvPr/>
        </p:nvSpPr>
        <p:spPr>
          <a:xfrm>
            <a:off x="2753015" y="9055863"/>
            <a:ext cx="6593205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sz="2800" spc="-9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이상정</a:t>
            </a:r>
            <a:endParaRPr lang="ko-KR" altLang="en-US" sz="280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9B43892C-5E08-FB94-39C9-B7FE0A6DD7EA}"/>
              </a:ext>
            </a:extLst>
          </p:cNvPr>
          <p:cNvSpPr txBox="1">
            <a:spLocks/>
          </p:cNvSpPr>
          <p:nvPr/>
        </p:nvSpPr>
        <p:spPr>
          <a:xfrm>
            <a:off x="1012658" y="8144377"/>
            <a:ext cx="1908460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sz="2800" spc="-19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성명</a:t>
            </a:r>
            <a:endParaRPr lang="ko-KR" altLang="en-US" sz="280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C3BFEFB1-46C3-DB4D-DEDE-257D8747C7EE}"/>
              </a:ext>
            </a:extLst>
          </p:cNvPr>
          <p:cNvSpPr txBox="1">
            <a:spLocks/>
          </p:cNvSpPr>
          <p:nvPr/>
        </p:nvSpPr>
        <p:spPr>
          <a:xfrm>
            <a:off x="2753015" y="8134528"/>
            <a:ext cx="6593205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sz="28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유동균</a:t>
            </a:r>
          </a:p>
        </p:txBody>
      </p:sp>
      <p:sp>
        <p:nvSpPr>
          <p:cNvPr id="5" name="Object 13">
            <a:extLst>
              <a:ext uri="{FF2B5EF4-FFF2-40B4-BE49-F238E27FC236}">
                <a16:creationId xmlns:a16="http://schemas.microsoft.com/office/drawing/2014/main" id="{EDCC4A8E-1C34-3C84-2616-BBFF16B15363}"/>
              </a:ext>
            </a:extLst>
          </p:cNvPr>
          <p:cNvSpPr txBox="1">
            <a:spLocks/>
          </p:cNvSpPr>
          <p:nvPr/>
        </p:nvSpPr>
        <p:spPr>
          <a:xfrm>
            <a:off x="17135145" y="9472678"/>
            <a:ext cx="1076655" cy="4616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2400" b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1</a:t>
            </a:r>
            <a:endParaRPr lang="ko-KR" altLang="en-US" sz="2400" b="1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23950" y="944123"/>
            <a:ext cx="2186274" cy="797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목 차</a:t>
            </a:r>
          </a:p>
        </p:txBody>
      </p:sp>
      <p:sp>
        <p:nvSpPr>
          <p:cNvPr id="20" name="AutoShape 20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18B327-1235-3C4F-B51A-AE0E3F9C5D96}"/>
              </a:ext>
            </a:extLst>
          </p:cNvPr>
          <p:cNvSpPr txBox="1"/>
          <p:nvPr/>
        </p:nvSpPr>
        <p:spPr>
          <a:xfrm>
            <a:off x="2886456" y="2912870"/>
            <a:ext cx="26428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kern="0" spc="200">
                <a:solidFill>
                  <a:srgbClr val="000000"/>
                </a:solidFill>
                <a:latin typeface="윤고딕" panose="020B0600000101010101" charset="-127"/>
                <a:ea typeface="윤고딕" panose="020B0600000101010101" charset="-127"/>
              </a:rPr>
              <a:t>01</a:t>
            </a:r>
            <a:endParaRPr lang="ko-KR" altLang="en-US" sz="6600" kern="0" spc="200">
              <a:solidFill>
                <a:srgbClr val="000000"/>
              </a:solidFill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A12496-72F4-5D09-E70A-5F50B6503A51}"/>
              </a:ext>
            </a:extLst>
          </p:cNvPr>
          <p:cNvSpPr txBox="1"/>
          <p:nvPr/>
        </p:nvSpPr>
        <p:spPr>
          <a:xfrm>
            <a:off x="2895600" y="4428234"/>
            <a:ext cx="26428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kern="0" spc="200">
                <a:solidFill>
                  <a:srgbClr val="000000"/>
                </a:solidFill>
                <a:latin typeface="윤고딕" panose="020B0600000101010101" charset="-127"/>
                <a:ea typeface="윤고딕" panose="020B0600000101010101" charset="-127"/>
              </a:rPr>
              <a:t>02</a:t>
            </a:r>
            <a:endParaRPr lang="ko-KR" altLang="en-US" sz="6600" kern="0" spc="200">
              <a:solidFill>
                <a:srgbClr val="000000"/>
              </a:solidFill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1CA1E9-0611-4B34-8015-C8B43774B787}"/>
              </a:ext>
            </a:extLst>
          </p:cNvPr>
          <p:cNvSpPr txBox="1"/>
          <p:nvPr/>
        </p:nvSpPr>
        <p:spPr>
          <a:xfrm>
            <a:off x="2895600" y="6025046"/>
            <a:ext cx="26428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kern="0" spc="200">
                <a:solidFill>
                  <a:srgbClr val="000000"/>
                </a:solidFill>
                <a:latin typeface="윤고딕" panose="020B0600000101010101" charset="-127"/>
                <a:ea typeface="윤고딕" panose="020B0600000101010101" charset="-127"/>
              </a:rPr>
              <a:t>03</a:t>
            </a:r>
            <a:endParaRPr lang="ko-KR" altLang="en-US" sz="6600" kern="0" spc="200">
              <a:solidFill>
                <a:srgbClr val="000000"/>
              </a:solidFill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21633320-9E08-D5A1-CBB5-F4722686E9E0}"/>
              </a:ext>
            </a:extLst>
          </p:cNvPr>
          <p:cNvSpPr txBox="1"/>
          <p:nvPr/>
        </p:nvSpPr>
        <p:spPr>
          <a:xfrm>
            <a:off x="5791200" y="2901612"/>
            <a:ext cx="8655050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6000">
                <a:latin typeface="윤고딕" panose="020B0600000101010101" charset="-127"/>
                <a:ea typeface="윤고딕" panose="020B0600000101010101" charset="-127"/>
              </a:rPr>
              <a:t>논문 정리</a:t>
            </a:r>
            <a:endParaRPr lang="en-US" sz="6000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B55AE801-93CD-CC07-B5F6-6794A4D9D858}"/>
              </a:ext>
            </a:extLst>
          </p:cNvPr>
          <p:cNvSpPr txBox="1"/>
          <p:nvPr/>
        </p:nvSpPr>
        <p:spPr>
          <a:xfrm>
            <a:off x="5791200" y="4457700"/>
            <a:ext cx="9829800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6000">
                <a:latin typeface="윤고딕" panose="020B0600000101010101" charset="-127"/>
                <a:ea typeface="윤고딕" panose="020B0600000101010101" charset="-127"/>
              </a:rPr>
              <a:t>1</a:t>
            </a:r>
            <a:r>
              <a:rPr lang="ko-KR" altLang="en-US" sz="6000">
                <a:latin typeface="윤고딕" panose="020B0600000101010101" charset="-127"/>
                <a:ea typeface="윤고딕" panose="020B0600000101010101" charset="-127"/>
              </a:rPr>
              <a:t>차 논문 심사 후 피드백 적용 </a:t>
            </a:r>
            <a:endParaRPr lang="en-US" sz="6000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8" name="Object 6">
            <a:extLst>
              <a:ext uri="{FF2B5EF4-FFF2-40B4-BE49-F238E27FC236}">
                <a16:creationId xmlns:a16="http://schemas.microsoft.com/office/drawing/2014/main" id="{D726792D-A802-CF54-4667-B440509AA7DE}"/>
              </a:ext>
            </a:extLst>
          </p:cNvPr>
          <p:cNvSpPr txBox="1"/>
          <p:nvPr/>
        </p:nvSpPr>
        <p:spPr>
          <a:xfrm>
            <a:off x="5763768" y="6039696"/>
            <a:ext cx="8655050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6000">
                <a:latin typeface="윤고딕" panose="020B0600000101010101" charset="-127"/>
                <a:ea typeface="윤고딕" panose="020B0600000101010101" charset="-127"/>
              </a:rPr>
              <a:t>결론</a:t>
            </a:r>
            <a:endParaRPr lang="en-US" sz="6000">
              <a:latin typeface="윤고딕" panose="020B0600000101010101" charset="-127"/>
              <a:ea typeface="윤고딕" panose="020B0600000101010101" charset="-127"/>
            </a:endParaRPr>
          </a:p>
        </p:txBody>
      </p:sp>
      <p:pic>
        <p:nvPicPr>
          <p:cNvPr id="5" name="그림 4" descr="폰트, 로고, 원, 등록 상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B3585BC-740F-DB63-3106-B9075E86A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0" y="0"/>
            <a:ext cx="2057400" cy="2057400"/>
          </a:xfrm>
          <a:prstGeom prst="rect">
            <a:avLst/>
          </a:prstGeom>
        </p:spPr>
      </p:pic>
      <p:sp>
        <p:nvSpPr>
          <p:cNvPr id="7" name="Object 13">
            <a:extLst>
              <a:ext uri="{FF2B5EF4-FFF2-40B4-BE49-F238E27FC236}">
                <a16:creationId xmlns:a16="http://schemas.microsoft.com/office/drawing/2014/main" id="{E35212DF-07E0-244A-DCEE-66C1E01F618D}"/>
              </a:ext>
            </a:extLst>
          </p:cNvPr>
          <p:cNvSpPr txBox="1">
            <a:spLocks/>
          </p:cNvSpPr>
          <p:nvPr/>
        </p:nvSpPr>
        <p:spPr>
          <a:xfrm>
            <a:off x="17135145" y="9472678"/>
            <a:ext cx="1076655" cy="4616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2400" b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2</a:t>
            </a:r>
            <a:endParaRPr lang="ko-KR" altLang="en-US" sz="2400" b="1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9082-17C0-5B05-22D1-2B42C0691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상자 2">
            <a:extLst>
              <a:ext uri="{FF2B5EF4-FFF2-40B4-BE49-F238E27FC236}">
                <a16:creationId xmlns:a16="http://schemas.microsoft.com/office/drawing/2014/main" id="{F6B9C530-AB75-4C4A-49E7-8F549CCE64C0}"/>
              </a:ext>
            </a:extLst>
          </p:cNvPr>
          <p:cNvSpPr txBox="1">
            <a:spLocks/>
          </p:cNvSpPr>
          <p:nvPr/>
        </p:nvSpPr>
        <p:spPr>
          <a:xfrm>
            <a:off x="1298046" y="1904264"/>
            <a:ext cx="16021051" cy="45942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algn="l" defTabSz="914400" rtl="0" eaLnBrk="1" latinLnBrk="0" hangingPunct="1">
              <a:lnSpc>
                <a:spcPct val="200000"/>
              </a:lnSpc>
            </a:pPr>
            <a:r>
              <a:rPr lang="ko-KR" altLang="en-US" sz="4400" b="1">
                <a:latin typeface="맑은 고딕" charset="0"/>
                <a:ea typeface="맑은 고딕" charset="0"/>
              </a:rPr>
              <a:t>서론</a:t>
            </a:r>
            <a:endParaRPr lang="en-US" altLang="ko-KR" sz="4400" b="1">
              <a:latin typeface="맑은 고딕" charset="0"/>
              <a:ea typeface="맑은 고딕" charset="0"/>
            </a:endParaRPr>
          </a:p>
          <a:p>
            <a:pPr marL="254000" indent="-254000" algn="l" defTabSz="914400" rtl="0" eaLnBrk="1" latinLnBrk="0" hangingPunct="1">
              <a:lnSpc>
                <a:spcPct val="200000"/>
              </a:lnSpc>
              <a:buFont typeface="Wingdings"/>
              <a:buChar char=""/>
            </a:pPr>
            <a:r>
              <a:rPr lang="ko-KR" altLang="en-US" sz="3600">
                <a:latin typeface="맑은 고딕" charset="0"/>
                <a:ea typeface="맑은 고딕" charset="0"/>
              </a:rPr>
              <a:t>현대의 애플리케이션은 다양한 기능을 수용하며 지속적으로 확장되고 있음 </a:t>
            </a:r>
            <a:endParaRPr lang="en-US" altLang="ko-KR" sz="3600">
              <a:latin typeface="맑은 고딕" charset="0"/>
              <a:ea typeface="맑은 고딕" charset="0"/>
            </a:endParaRPr>
          </a:p>
          <a:p>
            <a:pPr marL="254000" indent="-254000" algn="l" defTabSz="914400" rtl="0" eaLnBrk="1" latinLnBrk="0" hangingPunct="1">
              <a:lnSpc>
                <a:spcPct val="200000"/>
              </a:lnSpc>
              <a:buFont typeface="Wingdings"/>
              <a:buChar char=""/>
            </a:pPr>
            <a:r>
              <a:rPr lang="ko-KR" altLang="en-US" sz="3600">
                <a:latin typeface="맑은 고딕" charset="0"/>
                <a:ea typeface="맑은 고딕" charset="0"/>
              </a:rPr>
              <a:t>구조가 복잡하고 동시에 처리하는 데이터의 양도 증가함</a:t>
            </a:r>
            <a:endParaRPr lang="en-US" altLang="ko-KR" sz="3600">
              <a:latin typeface="맑은 고딕" charset="0"/>
              <a:ea typeface="맑은 고딕" charset="0"/>
            </a:endParaRPr>
          </a:p>
          <a:p>
            <a:pPr marL="254000" indent="-254000" algn="l" defTabSz="914400" rtl="0" eaLnBrk="1" latinLnBrk="0" hangingPunct="1">
              <a:lnSpc>
                <a:spcPct val="200000"/>
              </a:lnSpc>
              <a:buFont typeface="Wingdings"/>
              <a:buChar char=""/>
            </a:pPr>
            <a:r>
              <a:rPr lang="ko-KR" altLang="en-US" sz="3600" err="1">
                <a:latin typeface="맑은 고딕" charset="0"/>
                <a:ea typeface="맑은 고딕" charset="0"/>
              </a:rPr>
              <a:t>모놀리식</a:t>
            </a:r>
            <a:r>
              <a:rPr lang="ko-KR" altLang="en-US" sz="3600">
                <a:latin typeface="맑은 고딕" charset="0"/>
                <a:ea typeface="맑은 고딕" charset="0"/>
              </a:rPr>
              <a:t> 아키텍처는 확장과 유지보수에 한계가 존재</a:t>
            </a:r>
            <a:endParaRPr lang="en-US" altLang="ko-KR" sz="3600">
              <a:latin typeface="맑은 고딕" charset="0"/>
              <a:ea typeface="맑은 고딕" charset="0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DD03E04-FD42-854F-967A-A789F15BC3BE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035DCD-FBAC-98F3-F03C-5363A7D2D16A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2F44CC9-4DEC-C77E-1176-1629F855CC4F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901ABE66-5116-59D9-C892-EA27C079BEF3}"/>
              </a:ext>
            </a:extLst>
          </p:cNvPr>
          <p:cNvSpPr txBox="1"/>
          <p:nvPr/>
        </p:nvSpPr>
        <p:spPr>
          <a:xfrm>
            <a:off x="1123949" y="944123"/>
            <a:ext cx="327638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논문 정리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A6D1402-8CA3-D898-1668-099F5FD07C0C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도표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B8848-B045-0286-6759-2978633DA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4" b="11228"/>
          <a:stretch/>
        </p:blipFill>
        <p:spPr>
          <a:xfrm>
            <a:off x="12725400" y="5517434"/>
            <a:ext cx="5486400" cy="4400917"/>
          </a:xfrm>
          <a:prstGeom prst="rect">
            <a:avLst/>
          </a:prstGeom>
        </p:spPr>
      </p:pic>
      <p:pic>
        <p:nvPicPr>
          <p:cNvPr id="8" name="그림 7" descr="폰트, 로고, 원, 등록 상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15187FA-6611-2F49-2210-AD845E57E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0" y="0"/>
            <a:ext cx="2057400" cy="2057400"/>
          </a:xfrm>
          <a:prstGeom prst="rect">
            <a:avLst/>
          </a:prstGeom>
        </p:spPr>
      </p:pic>
      <p:sp>
        <p:nvSpPr>
          <p:cNvPr id="9" name="Object 13">
            <a:extLst>
              <a:ext uri="{FF2B5EF4-FFF2-40B4-BE49-F238E27FC236}">
                <a16:creationId xmlns:a16="http://schemas.microsoft.com/office/drawing/2014/main" id="{ADE92778-C6A1-2E25-EDFD-E0C7E924C8A9}"/>
              </a:ext>
            </a:extLst>
          </p:cNvPr>
          <p:cNvSpPr txBox="1">
            <a:spLocks/>
          </p:cNvSpPr>
          <p:nvPr/>
        </p:nvSpPr>
        <p:spPr>
          <a:xfrm>
            <a:off x="17135145" y="9472678"/>
            <a:ext cx="1076655" cy="4616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2400" b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3</a:t>
            </a:r>
            <a:endParaRPr lang="ko-KR" altLang="en-US" sz="2400" b="1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131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8D5C-AFAF-C774-2142-B7537ADA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B36A59B-0347-5337-8B58-0097EC3159AA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2A9E912-DF43-56AC-CA19-8628FDC237DB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1BACC06-C02E-8B24-1846-5EB3A9F962E1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>
            <a:extLst>
              <a:ext uri="{FF2B5EF4-FFF2-40B4-BE49-F238E27FC236}">
                <a16:creationId xmlns:a16="http://schemas.microsoft.com/office/drawing/2014/main" id="{4E9238E5-D520-1909-9302-6E65FD2604DC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그림 16" descr="텍스트, 도표, 스크린샷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D35B963-AA2F-BEE4-8BDE-D38BB0355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549" y="3811027"/>
            <a:ext cx="7196306" cy="2511511"/>
          </a:xfrm>
          <a:prstGeom prst="rect">
            <a:avLst/>
          </a:prstGeom>
        </p:spPr>
      </p:pic>
      <p:sp>
        <p:nvSpPr>
          <p:cNvPr id="18" name="Object 6">
            <a:extLst>
              <a:ext uri="{FF2B5EF4-FFF2-40B4-BE49-F238E27FC236}">
                <a16:creationId xmlns:a16="http://schemas.microsoft.com/office/drawing/2014/main" id="{F2BCDE8E-6EB3-7665-0534-9EFCE67D158A}"/>
              </a:ext>
            </a:extLst>
          </p:cNvPr>
          <p:cNvSpPr txBox="1"/>
          <p:nvPr/>
        </p:nvSpPr>
        <p:spPr>
          <a:xfrm>
            <a:off x="1240834" y="3270771"/>
            <a:ext cx="665761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latin typeface="윤고딕" panose="020B0600000101010101" charset="-127"/>
                <a:ea typeface="윤고딕" panose="020B0600000101010101" charset="-127"/>
              </a:rPr>
              <a:t>Spring Cloud</a:t>
            </a:r>
          </a:p>
        </p:txBody>
      </p:sp>
      <p:pic>
        <p:nvPicPr>
          <p:cNvPr id="19" name="그림 18" descr="텍스트, 스크린샷, 원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F2A069F-3ACD-8F24-7D9F-94A5E79748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61" t="14932" r="2317" b="2274"/>
          <a:stretch/>
        </p:blipFill>
        <p:spPr>
          <a:xfrm>
            <a:off x="10210800" y="1844015"/>
            <a:ext cx="5181600" cy="3658900"/>
          </a:xfrm>
          <a:prstGeom prst="rect">
            <a:avLst/>
          </a:prstGeom>
        </p:spPr>
      </p:pic>
      <p:sp>
        <p:nvSpPr>
          <p:cNvPr id="20" name="Object 6">
            <a:extLst>
              <a:ext uri="{FF2B5EF4-FFF2-40B4-BE49-F238E27FC236}">
                <a16:creationId xmlns:a16="http://schemas.microsoft.com/office/drawing/2014/main" id="{E2A4F074-4278-9365-A414-8878407508BF}"/>
              </a:ext>
            </a:extLst>
          </p:cNvPr>
          <p:cNvSpPr txBox="1"/>
          <p:nvPr/>
        </p:nvSpPr>
        <p:spPr>
          <a:xfrm>
            <a:off x="10439400" y="1159584"/>
            <a:ext cx="769620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>
                <a:latin typeface="윤고딕" panose="020B0600000101010101" charset="-127"/>
                <a:ea typeface="윤고딕" panose="020B0600000101010101" charset="-127"/>
              </a:rPr>
              <a:t>Cloud Native</a:t>
            </a:r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C1F7B84-6D63-5698-62D5-6A2D1D931F92}"/>
              </a:ext>
            </a:extLst>
          </p:cNvPr>
          <p:cNvSpPr txBox="1"/>
          <p:nvPr/>
        </p:nvSpPr>
        <p:spPr>
          <a:xfrm>
            <a:off x="1240834" y="6097817"/>
            <a:ext cx="533927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>
                <a:latin typeface="윤고딕" panose="020B0600000101010101" charset="-127"/>
                <a:ea typeface="윤고딕" panose="020B0600000101010101" charset="-127"/>
              </a:rPr>
              <a:t>Docker</a:t>
            </a:r>
          </a:p>
        </p:txBody>
      </p:sp>
      <p:sp>
        <p:nvSpPr>
          <p:cNvPr id="24" name="Object 6">
            <a:extLst>
              <a:ext uri="{FF2B5EF4-FFF2-40B4-BE49-F238E27FC236}">
                <a16:creationId xmlns:a16="http://schemas.microsoft.com/office/drawing/2014/main" id="{2DCA7FE2-C782-AF0D-DBAE-BBE1498F7B1B}"/>
              </a:ext>
            </a:extLst>
          </p:cNvPr>
          <p:cNvSpPr txBox="1"/>
          <p:nvPr/>
        </p:nvSpPr>
        <p:spPr>
          <a:xfrm>
            <a:off x="10439400" y="5508589"/>
            <a:ext cx="533400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600" b="1" err="1">
                <a:latin typeface="윤고딕" panose="020B0600000101010101" charset="-127"/>
                <a:ea typeface="윤고딕" panose="020B0600000101010101" charset="-127"/>
              </a:rPr>
              <a:t>kubernetes</a:t>
            </a:r>
            <a:endParaRPr lang="en-US" sz="3600" b="1">
              <a:latin typeface="윤고딕" panose="020B0600000101010101" charset="-127"/>
              <a:ea typeface="윤고딕" panose="020B0600000101010101" charset="-127"/>
            </a:endParaRPr>
          </a:p>
        </p:txBody>
      </p:sp>
      <p:pic>
        <p:nvPicPr>
          <p:cNvPr id="28" name="그림 27" descr="텍스트, 스크린샷, 폰트, 브랜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241240A-25F9-9C4A-A3C3-C5EB6275A3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7" t="15830" r="12969" b="4276"/>
          <a:stretch/>
        </p:blipFill>
        <p:spPr>
          <a:xfrm>
            <a:off x="10058400" y="6286097"/>
            <a:ext cx="6229720" cy="3451429"/>
          </a:xfrm>
          <a:prstGeom prst="rect">
            <a:avLst/>
          </a:prstGeom>
        </p:spPr>
      </p:pic>
      <p:pic>
        <p:nvPicPr>
          <p:cNvPr id="30" name="그림 29" descr="텍스트, 도표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11BD0AE-2EA4-2752-3EF5-3545EAC926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0" t="5559" r="3658" b="2089"/>
          <a:stretch/>
        </p:blipFill>
        <p:spPr>
          <a:xfrm>
            <a:off x="1218422" y="6744544"/>
            <a:ext cx="5352403" cy="30452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C03335-F37D-B39B-9190-B8975F01B499}"/>
              </a:ext>
            </a:extLst>
          </p:cNvPr>
          <p:cNvSpPr txBox="1"/>
          <p:nvPr/>
        </p:nvSpPr>
        <p:spPr>
          <a:xfrm>
            <a:off x="685800" y="2229839"/>
            <a:ext cx="4000500" cy="64633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/>
              <a:t>이론적 배경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A56730F-D6A5-D721-D454-35721BF4A9C9}"/>
              </a:ext>
            </a:extLst>
          </p:cNvPr>
          <p:cNvSpPr txBox="1"/>
          <p:nvPr/>
        </p:nvSpPr>
        <p:spPr>
          <a:xfrm>
            <a:off x="1123949" y="944123"/>
            <a:ext cx="327638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논문 정리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pic>
        <p:nvPicPr>
          <p:cNvPr id="7" name="그림 6" descr="폰트, 로고, 원, 등록 상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BB1A31D-0850-9E1E-9042-5D7F719624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0" y="0"/>
            <a:ext cx="2057400" cy="2057400"/>
          </a:xfrm>
          <a:prstGeom prst="rect">
            <a:avLst/>
          </a:prstGeom>
        </p:spPr>
      </p:pic>
      <p:sp>
        <p:nvSpPr>
          <p:cNvPr id="8" name="Object 13">
            <a:extLst>
              <a:ext uri="{FF2B5EF4-FFF2-40B4-BE49-F238E27FC236}">
                <a16:creationId xmlns:a16="http://schemas.microsoft.com/office/drawing/2014/main" id="{86482A75-4B6F-BF1C-FC37-341B7B0A4C8B}"/>
              </a:ext>
            </a:extLst>
          </p:cNvPr>
          <p:cNvSpPr txBox="1">
            <a:spLocks/>
          </p:cNvSpPr>
          <p:nvPr/>
        </p:nvSpPr>
        <p:spPr>
          <a:xfrm>
            <a:off x="17135145" y="9472678"/>
            <a:ext cx="1076655" cy="4616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2400" b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4</a:t>
            </a:r>
            <a:endParaRPr lang="ko-KR" altLang="en-US" sz="2400" b="1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283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E119A9-7822-8D39-E804-3C8C714C97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3"/>
          <a:stretch/>
        </p:blipFill>
        <p:spPr>
          <a:xfrm>
            <a:off x="599874" y="3444357"/>
            <a:ext cx="11473349" cy="6196248"/>
          </a:xfrm>
          <a:prstGeom prst="rect">
            <a:avLst/>
          </a:prstGeom>
        </p:spPr>
      </p:pic>
      <p:pic>
        <p:nvPicPr>
          <p:cNvPr id="27" name="그림 26" descr="그래픽, 폰트, 블랙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31741CA-E53A-9D54-66F0-C1D7A6C4D0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19"/>
          <a:stretch/>
        </p:blipFill>
        <p:spPr>
          <a:xfrm>
            <a:off x="10949250" y="3130948"/>
            <a:ext cx="2993210" cy="904018"/>
          </a:xfrm>
          <a:prstGeom prst="rect">
            <a:avLst/>
          </a:prstGeom>
        </p:spPr>
      </p:pic>
      <p:pic>
        <p:nvPicPr>
          <p:cNvPr id="44" name="그림 43" descr="그래픽, 스크린샷, 그래픽 디자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A35A0ED-EB31-BB0D-7A15-E2DB258A4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1963" y="5079434"/>
            <a:ext cx="1087785" cy="1463047"/>
          </a:xfrm>
          <a:prstGeom prst="rect">
            <a:avLst/>
          </a:prstGeom>
        </p:spPr>
      </p:pic>
      <p:pic>
        <p:nvPicPr>
          <p:cNvPr id="48" name="그림 47" descr="텍스트, 폰트, 디자인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C1E4910-B57E-5089-5DFD-0DB4051C4A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9294" y="7408679"/>
            <a:ext cx="2220908" cy="1247868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89DB672F-03F8-1E52-39A2-5B6586C93978}"/>
              </a:ext>
            </a:extLst>
          </p:cNvPr>
          <p:cNvSpPr txBox="1"/>
          <p:nvPr/>
        </p:nvSpPr>
        <p:spPr>
          <a:xfrm>
            <a:off x="1123949" y="944123"/>
            <a:ext cx="327638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논문 정리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1A28C1-0FD5-3A7D-513C-EADF26ED2D3B}"/>
              </a:ext>
            </a:extLst>
          </p:cNvPr>
          <p:cNvSpPr txBox="1"/>
          <p:nvPr/>
        </p:nvSpPr>
        <p:spPr>
          <a:xfrm>
            <a:off x="609601" y="2066571"/>
            <a:ext cx="9448800" cy="64633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/>
              <a:t>마이크로서비스 아키텍처의설계 및 구현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0CF594-BC1C-F3BC-B103-60201982A852}"/>
              </a:ext>
            </a:extLst>
          </p:cNvPr>
          <p:cNvSpPr txBox="1"/>
          <p:nvPr/>
        </p:nvSpPr>
        <p:spPr>
          <a:xfrm>
            <a:off x="13117747" y="5511429"/>
            <a:ext cx="4572000" cy="2062103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3200"/>
              <a:t>고객 관리 </a:t>
            </a:r>
            <a:r>
              <a:rPr lang="en-US" altLang="ko-KR" sz="3200"/>
              <a:t>CRUD </a:t>
            </a:r>
            <a:r>
              <a:rPr lang="ko-KR" altLang="en-US" sz="3200"/>
              <a:t>기능 </a:t>
            </a:r>
            <a:endParaRPr lang="en-US" altLang="ko-KR" sz="3200"/>
          </a:p>
          <a:p>
            <a:endParaRPr lang="en-US" altLang="ko-KR" sz="3200"/>
          </a:p>
          <a:p>
            <a:endParaRPr lang="en-US" altLang="ko-KR" sz="3200"/>
          </a:p>
          <a:p>
            <a:r>
              <a:rPr lang="ko-KR" altLang="en-US" sz="3200"/>
              <a:t>이벤트 알림 기능</a:t>
            </a:r>
          </a:p>
        </p:txBody>
      </p:sp>
      <p:pic>
        <p:nvPicPr>
          <p:cNvPr id="20" name="그림 19" descr="폰트, 로고, 원, 등록 상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C229B00-0AD0-0FBA-509F-3D0956AA90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0" y="0"/>
            <a:ext cx="2057400" cy="2057400"/>
          </a:xfrm>
          <a:prstGeom prst="rect">
            <a:avLst/>
          </a:prstGeom>
        </p:spPr>
      </p:pic>
      <p:sp>
        <p:nvSpPr>
          <p:cNvPr id="26" name="Object 13">
            <a:extLst>
              <a:ext uri="{FF2B5EF4-FFF2-40B4-BE49-F238E27FC236}">
                <a16:creationId xmlns:a16="http://schemas.microsoft.com/office/drawing/2014/main" id="{B886DBB8-4A0C-135F-58F5-305804314135}"/>
              </a:ext>
            </a:extLst>
          </p:cNvPr>
          <p:cNvSpPr txBox="1">
            <a:spLocks/>
          </p:cNvSpPr>
          <p:nvPr/>
        </p:nvSpPr>
        <p:spPr>
          <a:xfrm>
            <a:off x="17135145" y="9472678"/>
            <a:ext cx="1076655" cy="4616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2400" b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5</a:t>
            </a:r>
            <a:endParaRPr lang="ko-KR" altLang="en-US" sz="2400" b="1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그림 10" descr="텍스트, 도표, 스크린샷, 평면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36A559B-4930-16E2-3F63-2A26DBEDF0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" t="3911"/>
          <a:stretch/>
        </p:blipFill>
        <p:spPr bwMode="auto">
          <a:xfrm>
            <a:off x="518538" y="3525634"/>
            <a:ext cx="9707124" cy="63927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7" name="그림 66" descr="상징, 원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1482838-6422-BEDF-5242-D5DCCED234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609" y="3162300"/>
            <a:ext cx="1562534" cy="152286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18833DD-026E-696D-0E85-98573D25B5C8}"/>
              </a:ext>
            </a:extLst>
          </p:cNvPr>
          <p:cNvSpPr txBox="1"/>
          <p:nvPr/>
        </p:nvSpPr>
        <p:spPr>
          <a:xfrm>
            <a:off x="10287000" y="1723439"/>
            <a:ext cx="6934200" cy="169277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4000" b="1"/>
              <a:t>HPA,</a:t>
            </a:r>
            <a:r>
              <a:rPr lang="ko-KR" altLang="en-US" sz="4000" b="1"/>
              <a:t> </a:t>
            </a:r>
            <a:r>
              <a:rPr lang="en-US" altLang="ko-KR" sz="4000" b="1"/>
              <a:t>KEDA</a:t>
            </a:r>
          </a:p>
          <a:p>
            <a:r>
              <a:rPr lang="en-US" altLang="ko-KR" sz="3200"/>
              <a:t>CPU </a:t>
            </a:r>
            <a:r>
              <a:rPr lang="ko-KR" altLang="en-US" sz="3200"/>
              <a:t>사용률과 메시지 큐 길이 기반 파드 스케일링</a:t>
            </a:r>
          </a:p>
        </p:txBody>
      </p:sp>
      <p:pic>
        <p:nvPicPr>
          <p:cNvPr id="36" name="그래픽 35">
            <a:extLst>
              <a:ext uri="{FF2B5EF4-FFF2-40B4-BE49-F238E27FC236}">
                <a16:creationId xmlns:a16="http://schemas.microsoft.com/office/drawing/2014/main" id="{B103FAAC-4075-035C-52FB-0CB17E1C7F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13418" y="3543300"/>
            <a:ext cx="7918420" cy="5260907"/>
          </a:xfrm>
          <a:prstGeom prst="rect">
            <a:avLst/>
          </a:prstGeom>
        </p:spPr>
      </p:pic>
      <p:sp>
        <p:nvSpPr>
          <p:cNvPr id="37" name="TextBox 6">
            <a:extLst>
              <a:ext uri="{FF2B5EF4-FFF2-40B4-BE49-F238E27FC236}">
                <a16:creationId xmlns:a16="http://schemas.microsoft.com/office/drawing/2014/main" id="{791920FB-DE2B-63B7-6223-58C941BFD388}"/>
              </a:ext>
            </a:extLst>
          </p:cNvPr>
          <p:cNvSpPr txBox="1"/>
          <p:nvPr/>
        </p:nvSpPr>
        <p:spPr>
          <a:xfrm>
            <a:off x="1123949" y="944123"/>
            <a:ext cx="327638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논문 정리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E1025C-8C0B-EE53-5E32-8ACEFEB9A229}"/>
              </a:ext>
            </a:extLst>
          </p:cNvPr>
          <p:cNvSpPr txBox="1"/>
          <p:nvPr/>
        </p:nvSpPr>
        <p:spPr>
          <a:xfrm>
            <a:off x="1638194" y="2010059"/>
            <a:ext cx="6934200" cy="64633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3600" b="1"/>
              <a:t>Kubernetes </a:t>
            </a:r>
            <a:r>
              <a:rPr lang="ko-KR" altLang="en-US" sz="3600" b="1"/>
              <a:t>오케스트레이션</a:t>
            </a:r>
            <a:endParaRPr lang="en-US" altLang="ko-KR" sz="3600" b="1"/>
          </a:p>
        </p:txBody>
      </p:sp>
      <p:pic>
        <p:nvPicPr>
          <p:cNvPr id="42" name="그림 41" descr="폰트, 로고, 원, 등록 상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67BC32C-B5C6-2EE7-B777-80953E671E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0" y="0"/>
            <a:ext cx="2057400" cy="2057400"/>
          </a:xfrm>
          <a:prstGeom prst="rect">
            <a:avLst/>
          </a:prstGeom>
        </p:spPr>
      </p:pic>
      <p:sp>
        <p:nvSpPr>
          <p:cNvPr id="49" name="Object 13">
            <a:extLst>
              <a:ext uri="{FF2B5EF4-FFF2-40B4-BE49-F238E27FC236}">
                <a16:creationId xmlns:a16="http://schemas.microsoft.com/office/drawing/2014/main" id="{801EF0CE-DAD9-1DD4-BEFD-37289D5797EB}"/>
              </a:ext>
            </a:extLst>
          </p:cNvPr>
          <p:cNvSpPr txBox="1">
            <a:spLocks/>
          </p:cNvSpPr>
          <p:nvPr/>
        </p:nvSpPr>
        <p:spPr>
          <a:xfrm>
            <a:off x="17135145" y="9472678"/>
            <a:ext cx="1076655" cy="4616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2400" b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6</a:t>
            </a:r>
            <a:endParaRPr lang="ko-KR" altLang="en-US" sz="2400" b="1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186C-43B3-896A-B681-0085BE9EC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F5F76C1-403E-4A13-08E8-16A0FC5D8074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F67D78D-158C-2016-82D6-4CF634351333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7EBD04F-5208-94D1-BC32-388C0F545E9F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1F9DC1F9-992A-AC90-C6F3-E48103A7C62E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5069426-D9DC-F0D6-2D2C-84680268D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321873"/>
              </p:ext>
            </p:extLst>
          </p:nvPr>
        </p:nvGraphicFramePr>
        <p:xfrm>
          <a:off x="304800" y="4401472"/>
          <a:ext cx="8610600" cy="47004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0833">
                  <a:extLst>
                    <a:ext uri="{9D8B030D-6E8A-4147-A177-3AD203B41FA5}">
                      <a16:colId xmlns:a16="http://schemas.microsoft.com/office/drawing/2014/main" val="2422351668"/>
                    </a:ext>
                  </a:extLst>
                </a:gridCol>
                <a:gridCol w="2559291">
                  <a:extLst>
                    <a:ext uri="{9D8B030D-6E8A-4147-A177-3AD203B41FA5}">
                      <a16:colId xmlns:a16="http://schemas.microsoft.com/office/drawing/2014/main" val="1335915219"/>
                    </a:ext>
                  </a:extLst>
                </a:gridCol>
                <a:gridCol w="3510476">
                  <a:extLst>
                    <a:ext uri="{9D8B030D-6E8A-4147-A177-3AD203B41FA5}">
                      <a16:colId xmlns:a16="http://schemas.microsoft.com/office/drawing/2014/main" val="4062001538"/>
                    </a:ext>
                  </a:extLst>
                </a:gridCol>
              </a:tblGrid>
              <a:tr h="747537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Tech Stack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Version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Etc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9269929"/>
                  </a:ext>
                </a:extLst>
              </a:tr>
              <a:tr h="631709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Spring Boot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3.2.4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>
                          <a:effectLst/>
                        </a:rPr>
                        <a:t>서비스 프레임워크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393998"/>
                  </a:ext>
                </a:extLst>
              </a:tr>
              <a:tr h="580433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Spring Cloud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2023.0.1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>
                          <a:effectLst/>
                        </a:rPr>
                        <a:t>애플리케이션 프레임워크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3465566"/>
                  </a:ext>
                </a:extLst>
              </a:tr>
              <a:tr h="551698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MongoDB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7.0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>
                          <a:effectLst/>
                        </a:rPr>
                        <a:t>정보 저장 데이터베이스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2557673"/>
                  </a:ext>
                </a:extLst>
              </a:tr>
              <a:tr h="534011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RabbitMQ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3.12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>
                          <a:effectLst/>
                        </a:rPr>
                        <a:t>이벤트 메시지 큐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9228998"/>
                  </a:ext>
                </a:extLst>
              </a:tr>
              <a:tr h="534011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Maven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Apache Maven 3.6.3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>
                          <a:effectLst/>
                        </a:rPr>
                        <a:t>프로젝트 빌드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1842942"/>
                  </a:ext>
                </a:extLst>
              </a:tr>
              <a:tr h="587072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Kubernetes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Kubeadm / v1.28.15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>
                          <a:effectLst/>
                        </a:rPr>
                        <a:t>클러스터 오케스트레이션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3769818"/>
                  </a:ext>
                </a:extLst>
              </a:tr>
              <a:tr h="534011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Linux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Ubuntu 22.04 LTS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>
                          <a:effectLst/>
                        </a:rPr>
                        <a:t>운영체제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48874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009C889-34E4-8509-5A10-706484ED9FED}"/>
              </a:ext>
            </a:extLst>
          </p:cNvPr>
          <p:cNvSpPr txBox="1"/>
          <p:nvPr/>
        </p:nvSpPr>
        <p:spPr>
          <a:xfrm>
            <a:off x="3339683" y="3647115"/>
            <a:ext cx="2540833" cy="584775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/>
              <a:t>개발 인프라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AC836-FBA9-7A40-6075-CE3C31FFC8C7}"/>
              </a:ext>
            </a:extLst>
          </p:cNvPr>
          <p:cNvSpPr txBox="1"/>
          <p:nvPr/>
        </p:nvSpPr>
        <p:spPr>
          <a:xfrm>
            <a:off x="12420600" y="620957"/>
            <a:ext cx="2743200" cy="646331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/>
              <a:t>테스트 결과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CA5D765-9727-8EE3-67E9-76BF292F8F65}"/>
              </a:ext>
            </a:extLst>
          </p:cNvPr>
          <p:cNvSpPr txBox="1"/>
          <p:nvPr/>
        </p:nvSpPr>
        <p:spPr>
          <a:xfrm>
            <a:off x="1123949" y="944123"/>
            <a:ext cx="327638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논문 정리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2CE292-8AD4-5BC6-301E-FE85B8B5AB0D}"/>
              </a:ext>
            </a:extLst>
          </p:cNvPr>
          <p:cNvSpPr txBox="1"/>
          <p:nvPr/>
        </p:nvSpPr>
        <p:spPr>
          <a:xfrm>
            <a:off x="609601" y="2066571"/>
            <a:ext cx="9448800" cy="64633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3600" b="1"/>
              <a:t>서비스 적용 및 성능 평가</a:t>
            </a:r>
          </a:p>
        </p:txBody>
      </p:sp>
      <p:pic>
        <p:nvPicPr>
          <p:cNvPr id="15" name="그림 14" descr="텍스트, 폰트, 번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58DEDE4-2DDB-9D84-D3C0-AC3C76B60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172" y="2087584"/>
            <a:ext cx="8250056" cy="1760516"/>
          </a:xfrm>
          <a:prstGeom prst="rect">
            <a:avLst/>
          </a:prstGeom>
        </p:spPr>
      </p:pic>
      <p:pic>
        <p:nvPicPr>
          <p:cNvPr id="16" name="그림 1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C94BC0C-9B52-09BA-6A85-7101F8909C1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63"/>
          <a:stretch/>
        </p:blipFill>
        <p:spPr bwMode="auto">
          <a:xfrm>
            <a:off x="9644474" y="5905500"/>
            <a:ext cx="8604890" cy="14227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13114391-6546-28C7-7F74-AE442B05EB75}"/>
              </a:ext>
            </a:extLst>
          </p:cNvPr>
          <p:cNvSpPr/>
          <p:nvPr/>
        </p:nvSpPr>
        <p:spPr>
          <a:xfrm>
            <a:off x="13258800" y="4007708"/>
            <a:ext cx="838200" cy="1600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 descr="폰트, 로고, 원, 등록 상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62FE1BE-B830-6FDA-4BA8-6207C2305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0" y="0"/>
            <a:ext cx="2057400" cy="2057400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96EA15E9-8F21-614B-FE16-28FC68AFA7E4}"/>
              </a:ext>
            </a:extLst>
          </p:cNvPr>
          <p:cNvSpPr txBox="1">
            <a:spLocks/>
          </p:cNvSpPr>
          <p:nvPr/>
        </p:nvSpPr>
        <p:spPr>
          <a:xfrm>
            <a:off x="17135145" y="9472678"/>
            <a:ext cx="1076655" cy="4616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2400" b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7</a:t>
            </a:r>
            <a:endParaRPr lang="ko-KR" altLang="en-US" sz="2400" b="1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396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6E488-8AC7-73CB-95A1-9FBE9F04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BBFE8D1-BC0C-C049-E2F6-D55823F75288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84D5303-F7B3-94A3-BA17-783DEFF6003B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47603E5-2EF9-DB84-5F3B-4457D46CBC21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DC3C3B56-A0F8-D2F7-88DD-EF1803B66C34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4C62841-F6A6-5A08-4AD9-EFB155469E22}"/>
              </a:ext>
            </a:extLst>
          </p:cNvPr>
          <p:cNvSpPr txBox="1"/>
          <p:nvPr/>
        </p:nvSpPr>
        <p:spPr>
          <a:xfrm>
            <a:off x="1123949" y="944123"/>
            <a:ext cx="6953251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2. 1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차 심사 후 피드백 적용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21190C-610D-093A-5D02-DEF0C5EEAB1E}"/>
              </a:ext>
            </a:extLst>
          </p:cNvPr>
          <p:cNvSpPr txBox="1"/>
          <p:nvPr/>
        </p:nvSpPr>
        <p:spPr>
          <a:xfrm>
            <a:off x="609601" y="2066571"/>
            <a:ext cx="9448800" cy="64633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3600" b="1"/>
              <a:t>1. </a:t>
            </a:r>
            <a:r>
              <a:rPr lang="ko-KR" altLang="en-US" sz="3600" b="1"/>
              <a:t>제목 변경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85F9FC0-75A4-DA58-73CA-C048901A9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35" y="3455401"/>
            <a:ext cx="7805165" cy="524401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AEB523D-1211-E728-8C8A-52BC570C0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3891579"/>
            <a:ext cx="7776054" cy="3581400"/>
          </a:xfrm>
          <a:prstGeom prst="rect">
            <a:avLst/>
          </a:prstGeom>
        </p:spPr>
      </p:pic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2D29C437-B74A-D08F-84AF-BCA8A9063C1C}"/>
              </a:ext>
            </a:extLst>
          </p:cNvPr>
          <p:cNvSpPr/>
          <p:nvPr/>
        </p:nvSpPr>
        <p:spPr>
          <a:xfrm rot="16200000">
            <a:off x="8458200" y="4858209"/>
            <a:ext cx="838200" cy="1600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13D015B-5D25-2383-EB3E-10DFEA6FD758}"/>
              </a:ext>
            </a:extLst>
          </p:cNvPr>
          <p:cNvCxnSpPr>
            <a:cxnSpLocks/>
          </p:cNvCxnSpPr>
          <p:nvPr/>
        </p:nvCxnSpPr>
        <p:spPr>
          <a:xfrm>
            <a:off x="5562600" y="4838700"/>
            <a:ext cx="1076326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그림 26" descr="폰트, 로고, 원, 등록 상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DE8F0DC-6956-A482-A7E5-9727C3005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0" y="0"/>
            <a:ext cx="2057400" cy="2057400"/>
          </a:xfrm>
          <a:prstGeom prst="rect">
            <a:avLst/>
          </a:prstGeom>
        </p:spPr>
      </p:pic>
      <p:sp>
        <p:nvSpPr>
          <p:cNvPr id="28" name="Object 13">
            <a:extLst>
              <a:ext uri="{FF2B5EF4-FFF2-40B4-BE49-F238E27FC236}">
                <a16:creationId xmlns:a16="http://schemas.microsoft.com/office/drawing/2014/main" id="{6E8BCFFE-BE46-62B5-4A48-E6F86D3299DB}"/>
              </a:ext>
            </a:extLst>
          </p:cNvPr>
          <p:cNvSpPr txBox="1">
            <a:spLocks/>
          </p:cNvSpPr>
          <p:nvPr/>
        </p:nvSpPr>
        <p:spPr>
          <a:xfrm>
            <a:off x="17135145" y="9472678"/>
            <a:ext cx="1076655" cy="4616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2400" b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8</a:t>
            </a:r>
            <a:endParaRPr lang="ko-KR" altLang="en-US" sz="2400" b="1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88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71F06-425C-3443-A7DB-75B36BB5D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C0034B1-FC96-544C-70B8-37B4F2F940C4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8587283-E11B-E678-E517-1D9922D4F2D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1CAB7EF-B25D-406F-7A4D-6B40191006D8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0AD190CF-8481-3F79-289B-D08C2C9F6EF3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8EF2EC4-3BB0-749C-5DE0-1B05A4E34D64}"/>
              </a:ext>
            </a:extLst>
          </p:cNvPr>
          <p:cNvSpPr txBox="1"/>
          <p:nvPr/>
        </p:nvSpPr>
        <p:spPr>
          <a:xfrm>
            <a:off x="1123949" y="944123"/>
            <a:ext cx="6953251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2. 1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차 심사 후 피드백 적용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81A15E-677C-9641-5765-C7118CFCDDF4}"/>
              </a:ext>
            </a:extLst>
          </p:cNvPr>
          <p:cNvSpPr txBox="1"/>
          <p:nvPr/>
        </p:nvSpPr>
        <p:spPr>
          <a:xfrm>
            <a:off x="609601" y="2066571"/>
            <a:ext cx="9448800" cy="64633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3600" b="1"/>
              <a:t>2. </a:t>
            </a:r>
            <a:r>
              <a:rPr lang="ko-KR" altLang="en-US" sz="3600" b="1"/>
              <a:t>초록 변경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40E109D-14B9-5CFA-94D3-1CCF4C3FB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0" b="15439"/>
          <a:stretch/>
        </p:blipFill>
        <p:spPr>
          <a:xfrm>
            <a:off x="1524000" y="2810997"/>
            <a:ext cx="5486399" cy="638727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F25A55A-85A2-6E3D-3A14-CC1DCC529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2066571"/>
            <a:ext cx="6934200" cy="7500937"/>
          </a:xfrm>
          <a:prstGeom prst="rect">
            <a:avLst/>
          </a:prstGeom>
        </p:spPr>
      </p:pic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80D20A47-A5BA-4F0D-9CDB-43BB338E04D9}"/>
              </a:ext>
            </a:extLst>
          </p:cNvPr>
          <p:cNvSpPr/>
          <p:nvPr/>
        </p:nvSpPr>
        <p:spPr>
          <a:xfrm rot="16200000">
            <a:off x="8305801" y="5322253"/>
            <a:ext cx="838200" cy="1600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E705F1A-64E4-7420-CB1D-751B9E9855E3}"/>
              </a:ext>
            </a:extLst>
          </p:cNvPr>
          <p:cNvCxnSpPr/>
          <p:nvPr/>
        </p:nvCxnSpPr>
        <p:spPr>
          <a:xfrm>
            <a:off x="2505074" y="6034859"/>
            <a:ext cx="4191000" cy="129540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543892D-D39B-9906-8DFE-73F3BEDC00FC}"/>
              </a:ext>
            </a:extLst>
          </p:cNvPr>
          <p:cNvCxnSpPr>
            <a:cxnSpLocks/>
          </p:cNvCxnSpPr>
          <p:nvPr/>
        </p:nvCxnSpPr>
        <p:spPr>
          <a:xfrm flipV="1">
            <a:off x="2190749" y="6122353"/>
            <a:ext cx="4400549" cy="1120411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AD4342D-5011-8738-644A-B4541DEC7F1C}"/>
              </a:ext>
            </a:extLst>
          </p:cNvPr>
          <p:cNvSpPr txBox="1"/>
          <p:nvPr/>
        </p:nvSpPr>
        <p:spPr>
          <a:xfrm>
            <a:off x="7772399" y="4434310"/>
            <a:ext cx="1828800" cy="954107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/>
              <a:t>탄력성 </a:t>
            </a:r>
            <a:r>
              <a:rPr lang="en-US" altLang="ko-KR" sz="2800"/>
              <a:t>X</a:t>
            </a:r>
          </a:p>
          <a:p>
            <a:pPr algn="ctr"/>
            <a:r>
              <a:rPr lang="ko-KR" altLang="en-US" sz="2800"/>
              <a:t>유연성 </a:t>
            </a:r>
            <a:r>
              <a:rPr lang="en-US" altLang="ko-KR" sz="2800"/>
              <a:t>X</a:t>
            </a:r>
            <a:endParaRPr lang="ko-KR" altLang="en-US" sz="2800"/>
          </a:p>
        </p:txBody>
      </p:sp>
      <p:sp>
        <p:nvSpPr>
          <p:cNvPr id="25" name="왼쪽 중괄호 24">
            <a:extLst>
              <a:ext uri="{FF2B5EF4-FFF2-40B4-BE49-F238E27FC236}">
                <a16:creationId xmlns:a16="http://schemas.microsoft.com/office/drawing/2014/main" id="{8777497D-763C-3664-DD7B-6BD1621303C3}"/>
              </a:ext>
            </a:extLst>
          </p:cNvPr>
          <p:cNvSpPr/>
          <p:nvPr/>
        </p:nvSpPr>
        <p:spPr>
          <a:xfrm>
            <a:off x="9454475" y="3185504"/>
            <a:ext cx="838199" cy="2497611"/>
          </a:xfrm>
          <a:prstGeom prst="leftBrace">
            <a:avLst>
              <a:gd name="adj1" fmla="val 8333"/>
              <a:gd name="adj2" fmla="val 49644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왼쪽 중괄호 25">
            <a:extLst>
              <a:ext uri="{FF2B5EF4-FFF2-40B4-BE49-F238E27FC236}">
                <a16:creationId xmlns:a16="http://schemas.microsoft.com/office/drawing/2014/main" id="{2E7146ED-0929-D34E-21CF-A214556CE8FB}"/>
              </a:ext>
            </a:extLst>
          </p:cNvPr>
          <p:cNvSpPr/>
          <p:nvPr/>
        </p:nvSpPr>
        <p:spPr>
          <a:xfrm>
            <a:off x="9448803" y="6108921"/>
            <a:ext cx="838199" cy="2087006"/>
          </a:xfrm>
          <a:prstGeom prst="leftBrace">
            <a:avLst>
              <a:gd name="adj1" fmla="val 8333"/>
              <a:gd name="adj2" fmla="val 49644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 descr="폰트, 로고, 원, 등록 상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79F63F9-B046-1C39-6698-265012791B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0" y="0"/>
            <a:ext cx="2057400" cy="2057400"/>
          </a:xfrm>
          <a:prstGeom prst="rect">
            <a:avLst/>
          </a:prstGeom>
        </p:spPr>
      </p:pic>
      <p:sp>
        <p:nvSpPr>
          <p:cNvPr id="28" name="Object 13">
            <a:extLst>
              <a:ext uri="{FF2B5EF4-FFF2-40B4-BE49-F238E27FC236}">
                <a16:creationId xmlns:a16="http://schemas.microsoft.com/office/drawing/2014/main" id="{1FC85147-C985-1ECD-8E60-3B3D92F9A433}"/>
              </a:ext>
            </a:extLst>
          </p:cNvPr>
          <p:cNvSpPr txBox="1">
            <a:spLocks/>
          </p:cNvSpPr>
          <p:nvPr/>
        </p:nvSpPr>
        <p:spPr>
          <a:xfrm>
            <a:off x="17135145" y="9472678"/>
            <a:ext cx="1076655" cy="4616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2400" b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9</a:t>
            </a:r>
            <a:endParaRPr lang="ko-KR" altLang="en-US" sz="2400" b="1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09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94240-7B0C-2029-8F48-B5511D52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318ED86-C58A-46C6-87BC-6262FE0A29FA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0AACEED-1986-3DDD-E5D9-81DEF0F14AEB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A9239B1-1042-155A-91E0-DBD66AED5792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E574A1DF-C5DA-53EC-DA3C-A2820278BA88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E1159C4-FED9-13AE-FBC7-988E974AB3D3}"/>
              </a:ext>
            </a:extLst>
          </p:cNvPr>
          <p:cNvSpPr txBox="1"/>
          <p:nvPr/>
        </p:nvSpPr>
        <p:spPr>
          <a:xfrm>
            <a:off x="1123949" y="944123"/>
            <a:ext cx="6953251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2. 1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차 심사 후 피드백 적용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612005-F20C-1275-5E53-DC562801C98C}"/>
              </a:ext>
            </a:extLst>
          </p:cNvPr>
          <p:cNvSpPr txBox="1"/>
          <p:nvPr/>
        </p:nvSpPr>
        <p:spPr>
          <a:xfrm>
            <a:off x="609601" y="2066571"/>
            <a:ext cx="9448800" cy="64633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3600" b="1"/>
              <a:t>3. </a:t>
            </a:r>
            <a:r>
              <a:rPr lang="ko-KR" altLang="en-US" sz="3600" b="1"/>
              <a:t>필요한 그림의 추가</a:t>
            </a:r>
          </a:p>
        </p:txBody>
      </p:sp>
      <p:pic>
        <p:nvPicPr>
          <p:cNvPr id="7" name="그림 6" descr="텍스트, 라인, 도표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1C18785-253A-1909-6E71-504332904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095759"/>
            <a:ext cx="8545384" cy="3595273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3B5205B-88C1-A792-26C5-DA25ED1EAA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9" y="2738032"/>
            <a:ext cx="5614393" cy="4953000"/>
          </a:xfrm>
          <a:prstGeom prst="rect">
            <a:avLst/>
          </a:prstGeom>
        </p:spPr>
      </p:pic>
      <p:sp>
        <p:nvSpPr>
          <p:cNvPr id="9" name="Text Box 1">
            <a:extLst>
              <a:ext uri="{FF2B5EF4-FFF2-40B4-BE49-F238E27FC236}">
                <a16:creationId xmlns:a16="http://schemas.microsoft.com/office/drawing/2014/main" id="{818D90AD-2A37-A57E-A032-7C7622715099}"/>
              </a:ext>
            </a:extLst>
          </p:cNvPr>
          <p:cNvSpPr txBox="1"/>
          <p:nvPr/>
        </p:nvSpPr>
        <p:spPr>
          <a:xfrm>
            <a:off x="10579595" y="8233983"/>
            <a:ext cx="5791200" cy="374654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latinLnBrk="1">
              <a:lnSpc>
                <a:spcPct val="107000"/>
              </a:lnSpc>
              <a:spcAft>
                <a:spcPts val="800"/>
              </a:spcAft>
            </a:pPr>
            <a:r>
              <a:rPr lang="en-US" sz="2400" b="0" kern="100">
                <a:effectLst/>
                <a:latin typeface="신명조"/>
                <a:ea typeface="맑은 고딕" panose="020B0503020000020004" pitchFamily="50" charset="-127"/>
                <a:cs typeface="Times New Roman" panose="02020603050405020304" pitchFamily="18" charset="0"/>
              </a:rPr>
              <a:t>[</a:t>
            </a:r>
            <a:r>
              <a:rPr lang="ko-KR" sz="2400" b="0" kern="100">
                <a:effectLst/>
                <a:latin typeface="맑은 고딕" panose="020B0503020000020004" pitchFamily="50" charset="-127"/>
                <a:ea typeface="신명조"/>
                <a:cs typeface="Times New Roman" panose="02020603050405020304" pitchFamily="18" charset="0"/>
              </a:rPr>
              <a:t>그림 </a:t>
            </a:r>
            <a:r>
              <a:rPr lang="en-US" sz="2400" b="0" kern="100">
                <a:effectLst/>
                <a:latin typeface="맑은 고딕" panose="020B0503020000020004" pitchFamily="50" charset="-127"/>
                <a:ea typeface="신명조"/>
                <a:cs typeface="Times New Roman" panose="02020603050405020304" pitchFamily="18" charset="0"/>
              </a:rPr>
              <a:t>14] </a:t>
            </a:r>
            <a:r>
              <a:rPr lang="ko-KR" sz="2400" b="0" kern="100">
                <a:effectLst/>
                <a:latin typeface="맑은 고딕" panose="020B0503020000020004" pitchFamily="50" charset="-127"/>
                <a:ea typeface="신명조"/>
                <a:cs typeface="Times New Roman" panose="02020603050405020304" pitchFamily="18" charset="0"/>
              </a:rPr>
              <a:t>서버 컴퓨터의 하드웨어 사양</a:t>
            </a:r>
            <a:endParaRPr lang="ko-KR" sz="2400" b="1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 Box 1">
            <a:extLst>
              <a:ext uri="{FF2B5EF4-FFF2-40B4-BE49-F238E27FC236}">
                <a16:creationId xmlns:a16="http://schemas.microsoft.com/office/drawing/2014/main" id="{C6BF81C5-3B33-BCC0-68C1-4CCBC9753839}"/>
              </a:ext>
            </a:extLst>
          </p:cNvPr>
          <p:cNvSpPr txBox="1"/>
          <p:nvPr/>
        </p:nvSpPr>
        <p:spPr>
          <a:xfrm>
            <a:off x="2286000" y="8221412"/>
            <a:ext cx="5269548" cy="374654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latinLnBrk="1">
              <a:lnSpc>
                <a:spcPct val="107000"/>
              </a:lnSpc>
              <a:spcAft>
                <a:spcPts val="800"/>
              </a:spcAft>
            </a:pPr>
            <a:r>
              <a:rPr lang="en-US" sz="2400" b="0" kern="100">
                <a:effectLst/>
                <a:latin typeface="신명조"/>
                <a:ea typeface="맑은 고딕" panose="020B0503020000020004" pitchFamily="50" charset="-127"/>
                <a:cs typeface="Times New Roman" panose="02020603050405020304" pitchFamily="18" charset="0"/>
              </a:rPr>
              <a:t>[</a:t>
            </a:r>
            <a:r>
              <a:rPr lang="ko-KR" sz="2400" b="0" kern="100">
                <a:effectLst/>
                <a:latin typeface="맑은 고딕" panose="020B0503020000020004" pitchFamily="50" charset="-127"/>
                <a:ea typeface="신명조"/>
                <a:cs typeface="Times New Roman" panose="02020603050405020304" pitchFamily="18" charset="0"/>
              </a:rPr>
              <a:t>그림</a:t>
            </a:r>
            <a:r>
              <a:rPr lang="en-US" sz="2400" b="0" kern="100">
                <a:effectLst/>
                <a:latin typeface="맑은 고딕" panose="020B0503020000020004" pitchFamily="50" charset="-127"/>
                <a:ea typeface="신명조"/>
                <a:cs typeface="Times New Roman" panose="02020603050405020304" pitchFamily="18" charset="0"/>
              </a:rPr>
              <a:t> 9] </a:t>
            </a:r>
            <a:r>
              <a:rPr lang="ko-KR" sz="2400" b="0" kern="100">
                <a:effectLst/>
                <a:latin typeface="맑은 고딕" panose="020B0503020000020004" pitchFamily="50" charset="-127"/>
                <a:ea typeface="신명조"/>
                <a:cs typeface="Times New Roman" panose="02020603050405020304" pitchFamily="18" charset="0"/>
              </a:rPr>
              <a:t>고객 등록 시퀀스 다이어그램</a:t>
            </a:r>
            <a:endParaRPr lang="ko-KR" sz="2400" b="1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3" name="그림 12" descr="폰트, 로고, 원, 등록 상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531D744-4C93-93B1-4B42-827FCBBC1A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0" y="0"/>
            <a:ext cx="2057400" cy="2057400"/>
          </a:xfrm>
          <a:prstGeom prst="rect">
            <a:avLst/>
          </a:prstGeom>
        </p:spPr>
      </p:pic>
      <p:sp>
        <p:nvSpPr>
          <p:cNvPr id="14" name="Object 13">
            <a:extLst>
              <a:ext uri="{FF2B5EF4-FFF2-40B4-BE49-F238E27FC236}">
                <a16:creationId xmlns:a16="http://schemas.microsoft.com/office/drawing/2014/main" id="{CC3EBD41-82AC-EF22-000B-25A421F23157}"/>
              </a:ext>
            </a:extLst>
          </p:cNvPr>
          <p:cNvSpPr txBox="1">
            <a:spLocks/>
          </p:cNvSpPr>
          <p:nvPr/>
        </p:nvSpPr>
        <p:spPr>
          <a:xfrm>
            <a:off x="17135145" y="9472678"/>
            <a:ext cx="1076655" cy="4616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2400" b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10</a:t>
            </a:r>
            <a:endParaRPr lang="ko-KR" altLang="en-US" sz="2400" b="1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859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42A9A-2001-A426-6563-429B0A398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10241D-0306-6B80-15BE-43C3190BDD02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99B940F-C424-FE16-CC9D-856EB0761645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80D145D-5ECF-4E97-C2F8-13B7001D6441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99435010-035A-9633-3EA5-BC725CD96C54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788E9F5-B4CA-64F9-8B47-3B0F10FD5A14}"/>
              </a:ext>
            </a:extLst>
          </p:cNvPr>
          <p:cNvSpPr txBox="1"/>
          <p:nvPr/>
        </p:nvSpPr>
        <p:spPr>
          <a:xfrm>
            <a:off x="1123949" y="944123"/>
            <a:ext cx="6953251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2. 1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차 심사 후 피드백 적용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D70F3-1A16-2762-AB51-A935831B6425}"/>
              </a:ext>
            </a:extLst>
          </p:cNvPr>
          <p:cNvSpPr txBox="1"/>
          <p:nvPr/>
        </p:nvSpPr>
        <p:spPr>
          <a:xfrm>
            <a:off x="609601" y="2066571"/>
            <a:ext cx="9448800" cy="64633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3600" b="1"/>
              <a:t>4. </a:t>
            </a:r>
            <a:r>
              <a:rPr lang="ko-KR" altLang="en-US" sz="3600" b="1"/>
              <a:t>테스트의 확대</a:t>
            </a:r>
          </a:p>
        </p:txBody>
      </p:sp>
      <p:pic>
        <p:nvPicPr>
          <p:cNvPr id="12" name="그림 11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6ED5DE3-8CD2-5E81-64FA-5485404807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63"/>
          <a:stretch/>
        </p:blipFill>
        <p:spPr bwMode="auto">
          <a:xfrm>
            <a:off x="6985904" y="7555453"/>
            <a:ext cx="10159096" cy="16797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그림 12" descr="텍스트, 스크린샷, 폰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68BF51E-66EA-A8A5-96E9-8AB30681D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98"/>
          <a:stretch/>
        </p:blipFill>
        <p:spPr>
          <a:xfrm>
            <a:off x="533401" y="3310103"/>
            <a:ext cx="11125200" cy="1326943"/>
          </a:xfrm>
          <a:prstGeom prst="rect">
            <a:avLst/>
          </a:prstGeom>
        </p:spPr>
      </p:pic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B9978811-0712-A116-F0E4-26E5C7D5D741}"/>
              </a:ext>
            </a:extLst>
          </p:cNvPr>
          <p:cNvSpPr/>
          <p:nvPr/>
        </p:nvSpPr>
        <p:spPr>
          <a:xfrm rot="19233169">
            <a:off x="5746891" y="5434245"/>
            <a:ext cx="838200" cy="1600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2E80CF-252A-0F32-33C6-FF2466C2D390}"/>
              </a:ext>
            </a:extLst>
          </p:cNvPr>
          <p:cNvSpPr txBox="1"/>
          <p:nvPr/>
        </p:nvSpPr>
        <p:spPr>
          <a:xfrm>
            <a:off x="7467600" y="5474244"/>
            <a:ext cx="5562600" cy="1169551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500"/>
              <a:t>1000</a:t>
            </a:r>
            <a:r>
              <a:rPr lang="ko-KR" altLang="en-US" sz="3500"/>
              <a:t> 명의 사용자 테스트</a:t>
            </a:r>
            <a:endParaRPr lang="en-US" altLang="ko-KR" sz="3500"/>
          </a:p>
          <a:p>
            <a:pPr algn="ctr"/>
            <a:r>
              <a:rPr lang="en-US" altLang="ko-KR" sz="3500"/>
              <a:t>1</a:t>
            </a:r>
            <a:r>
              <a:rPr lang="ko-KR" altLang="en-US" sz="3500"/>
              <a:t>초 간격 무한반복</a:t>
            </a:r>
          </a:p>
        </p:txBody>
      </p:sp>
      <p:pic>
        <p:nvPicPr>
          <p:cNvPr id="16" name="그림 15" descr="폰트, 로고, 원, 등록 상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2E0BDCB-7639-F802-42A9-53923761D3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0" y="0"/>
            <a:ext cx="2057400" cy="2057400"/>
          </a:xfrm>
          <a:prstGeom prst="rect">
            <a:avLst/>
          </a:prstGeom>
        </p:spPr>
      </p:pic>
      <p:sp>
        <p:nvSpPr>
          <p:cNvPr id="17" name="Object 13">
            <a:extLst>
              <a:ext uri="{FF2B5EF4-FFF2-40B4-BE49-F238E27FC236}">
                <a16:creationId xmlns:a16="http://schemas.microsoft.com/office/drawing/2014/main" id="{F42D10AF-439E-0EB9-718C-6AD78ADD746B}"/>
              </a:ext>
            </a:extLst>
          </p:cNvPr>
          <p:cNvSpPr txBox="1">
            <a:spLocks/>
          </p:cNvSpPr>
          <p:nvPr/>
        </p:nvSpPr>
        <p:spPr>
          <a:xfrm>
            <a:off x="17135145" y="9472678"/>
            <a:ext cx="1076655" cy="4616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2400" b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11</a:t>
            </a:r>
            <a:endParaRPr lang="ko-KR" altLang="en-US" sz="2400" b="1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264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D2EE7-A89D-B7F8-E59C-812F93CE8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516A71F-3B8F-896B-2591-CDD836275386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BA33191-20E2-6D6A-43D1-0B927190835C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783920-7B62-1E79-15A4-0EB3DE6F2278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8E12756D-B154-4FB7-76A4-E7B8D4412D22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748F73AA-24F2-5015-4E34-C414358F7709}"/>
              </a:ext>
            </a:extLst>
          </p:cNvPr>
          <p:cNvSpPr txBox="1"/>
          <p:nvPr/>
        </p:nvSpPr>
        <p:spPr>
          <a:xfrm>
            <a:off x="76200" y="896534"/>
            <a:ext cx="7391400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5.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결론 및 향후 계획</a:t>
            </a:r>
            <a:r>
              <a:rPr lang="en-US" altLang="ko-KR" sz="40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endParaRPr lang="en-US" sz="40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2B1D7-AE9D-E2B6-0A4E-004355D5FC84}"/>
              </a:ext>
            </a:extLst>
          </p:cNvPr>
          <p:cNvSpPr txBox="1"/>
          <p:nvPr/>
        </p:nvSpPr>
        <p:spPr>
          <a:xfrm>
            <a:off x="209549" y="1743708"/>
            <a:ext cx="17468852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endParaRPr lang="en-US" altLang="ko-KR" sz="40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ko-KR" sz="4000">
                <a:solidFill>
                  <a:srgbClr val="0070C0"/>
                </a:solidFill>
              </a:rPr>
              <a:t>Spring Cloud </a:t>
            </a:r>
            <a:r>
              <a:rPr lang="ko-KR" altLang="en-US" sz="4000"/>
              <a:t>기반의 마이크로서비스를 통해 결합도를 낮추고</a:t>
            </a:r>
            <a:r>
              <a:rPr lang="ko-KR" altLang="en-US" sz="4000">
                <a:solidFill>
                  <a:srgbClr val="FF0000"/>
                </a:solidFill>
              </a:rPr>
              <a:t> 확장성</a:t>
            </a:r>
            <a:r>
              <a:rPr lang="ko-KR" altLang="en-US" sz="4000"/>
              <a:t>을 확보했다</a:t>
            </a:r>
            <a:r>
              <a:rPr lang="en-US" altLang="ko-KR" sz="4000"/>
              <a:t>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altLang="ko-KR" sz="400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altLang="ko-KR" sz="40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ko-KR" sz="4000">
                <a:solidFill>
                  <a:srgbClr val="0070C0"/>
                </a:solidFill>
              </a:rPr>
              <a:t>Kubernetes</a:t>
            </a:r>
            <a:r>
              <a:rPr lang="ko-KR" altLang="en-US" sz="4000"/>
              <a:t>를 활용한 오케스트레이션과 오토스케일링 기술을 적용해 </a:t>
            </a:r>
            <a:r>
              <a:rPr lang="ko-KR" altLang="en-US" sz="4000">
                <a:solidFill>
                  <a:srgbClr val="FF0000"/>
                </a:solidFill>
              </a:rPr>
              <a:t>동적 할당</a:t>
            </a:r>
            <a:r>
              <a:rPr lang="ko-KR" altLang="en-US" sz="4000"/>
              <a:t>과 </a:t>
            </a:r>
            <a:r>
              <a:rPr lang="ko-KR" altLang="en-US" sz="4000">
                <a:solidFill>
                  <a:srgbClr val="FF0000"/>
                </a:solidFill>
              </a:rPr>
              <a:t>안정적인 운영</a:t>
            </a:r>
            <a:r>
              <a:rPr lang="ko-KR" altLang="en-US" sz="4000"/>
              <a:t>이 가능해졌다</a:t>
            </a:r>
            <a:r>
              <a:rPr lang="en-US" altLang="ko-KR" sz="4000"/>
              <a:t>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altLang="ko-KR" sz="400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altLang="ko-KR" sz="40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ko-KR" altLang="en-US" sz="4000"/>
              <a:t>본 논문은 향후 추가적인 서버의 도입과 모니터링 도구의 사용으로 </a:t>
            </a:r>
            <a:r>
              <a:rPr lang="ko-KR" altLang="en-US" sz="4000">
                <a:solidFill>
                  <a:srgbClr val="00B0F0"/>
                </a:solidFill>
              </a:rPr>
              <a:t>유사한 프로젝트에</a:t>
            </a:r>
            <a:r>
              <a:rPr lang="ko-KR" altLang="en-US" sz="4000"/>
              <a:t> 있어 </a:t>
            </a:r>
            <a:r>
              <a:rPr lang="ko-KR" altLang="en-US" sz="4000">
                <a:solidFill>
                  <a:srgbClr val="FF0000"/>
                </a:solidFill>
              </a:rPr>
              <a:t>발판과 솔루션이 </a:t>
            </a:r>
            <a:r>
              <a:rPr lang="ko-KR" altLang="en-US" sz="4000"/>
              <a:t>되고자 한다</a:t>
            </a:r>
            <a:endParaRPr lang="en-US" altLang="ko-KR" sz="400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altLang="ko-KR" sz="4400"/>
          </a:p>
        </p:txBody>
      </p:sp>
      <p:pic>
        <p:nvPicPr>
          <p:cNvPr id="6" name="그림 5" descr="폰트, 로고, 원, 등록 상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99E4CA5-CA1F-A617-9951-3E95B19EF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0" y="0"/>
            <a:ext cx="2057400" cy="2057400"/>
          </a:xfrm>
          <a:prstGeom prst="rect">
            <a:avLst/>
          </a:prstGeom>
        </p:spPr>
      </p:pic>
      <p:sp>
        <p:nvSpPr>
          <p:cNvPr id="7" name="Object 13">
            <a:extLst>
              <a:ext uri="{FF2B5EF4-FFF2-40B4-BE49-F238E27FC236}">
                <a16:creationId xmlns:a16="http://schemas.microsoft.com/office/drawing/2014/main" id="{9B2362D6-13AD-E9AF-9AEF-1AE13ABE4579}"/>
              </a:ext>
            </a:extLst>
          </p:cNvPr>
          <p:cNvSpPr txBox="1">
            <a:spLocks/>
          </p:cNvSpPr>
          <p:nvPr/>
        </p:nvSpPr>
        <p:spPr>
          <a:xfrm>
            <a:off x="17135145" y="9472678"/>
            <a:ext cx="1076655" cy="4616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2400" b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12</a:t>
            </a:r>
            <a:endParaRPr lang="ko-KR" altLang="en-US" sz="2400" b="1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988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bg1"/>
        </a:solidFill>
        <a:ln w="28575">
          <a:solidFill>
            <a:schemeClr val="tx1"/>
          </a:solidFill>
        </a:ln>
      </a:spPr>
      <a:bodyPr wrap="square" rtlCol="0">
        <a:spAutoFit/>
      </a:bodyPr>
      <a:lstStyle>
        <a:defPPr algn="ctr">
          <a:defRPr sz="24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3126</TotalTime>
  <Words>307</Words>
  <Application>Microsoft Office PowerPoint</Application>
  <PresentationFormat>사용자 지정</PresentationFormat>
  <Paragraphs>102</Paragraphs>
  <Slides>12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Calibri</vt:lpstr>
      <vt:lpstr>Glacial Indifference</vt:lpstr>
      <vt:lpstr>윤고딕</vt:lpstr>
      <vt:lpstr>Wingdings</vt:lpstr>
      <vt:lpstr>나눔고딕</vt:lpstr>
      <vt:lpstr>Arial</vt:lpstr>
      <vt:lpstr>신명조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비지니스 프로젝트 프레젠테이션</dc:title>
  <cp:lastModifiedBy>유동균</cp:lastModifiedBy>
  <cp:revision>15</cp:revision>
  <cp:lastPrinted>2025-05-15T02:50:12Z</cp:lastPrinted>
  <dcterms:created xsi:type="dcterms:W3CDTF">2006-08-16T00:00:00Z</dcterms:created>
  <dcterms:modified xsi:type="dcterms:W3CDTF">2025-05-23T17:22:27Z</dcterms:modified>
  <dc:identifier>DAGnarjZHOY</dc:identifier>
</cp:coreProperties>
</file>