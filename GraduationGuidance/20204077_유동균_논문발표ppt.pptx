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1" r:id="rId6"/>
    <p:sldId id="273" r:id="rId7"/>
    <p:sldId id="263" r:id="rId8"/>
    <p:sldId id="264" r:id="rId9"/>
    <p:sldId id="274" r:id="rId10"/>
    <p:sldId id="275" r:id="rId11"/>
    <p:sldId id="279" r:id="rId12"/>
    <p:sldId id="280" r:id="rId13"/>
    <p:sldId id="276" r:id="rId14"/>
    <p:sldId id="277" r:id="rId15"/>
    <p:sldId id="278" r:id="rId16"/>
  </p:sldIdLst>
  <p:sldSz cx="18288000" cy="10287000"/>
  <p:notesSz cx="6797675" cy="9926638"/>
  <p:embeddedFontLst>
    <p:embeddedFont>
      <p:font typeface="윤고딕" panose="020B0600000101010101" charset="-127"/>
      <p:regular r:id="rId18"/>
    </p:embeddedFont>
    <p:embeddedFont>
      <p:font typeface="윤고딕 Light" panose="020B0600000101010101" charset="-127"/>
      <p:regular r:id="rId19"/>
    </p:embeddedFont>
    <p:embeddedFont>
      <p:font typeface="Glacial Indifference" panose="020B0600000101010101" charset="0"/>
      <p:regular r:id="rId20"/>
    </p:embeddedFont>
    <p:embeddedFont>
      <p:font typeface="나눔고딕" pitchFamily="2" charset="-127"/>
      <p:regular r:id="rId21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4622" autoAdjust="0"/>
  </p:normalViewPr>
  <p:slideViewPr>
    <p:cSldViewPr>
      <p:cViewPr>
        <p:scale>
          <a:sx n="66" d="100"/>
          <a:sy n="66" d="100"/>
        </p:scale>
        <p:origin x="165" y="5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481EB-0074-453D-B3D7-B18CEF01B00F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5692A-4F0B-4366-B6BF-50C20E291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1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314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마이크로서비스로</a:t>
            </a:r>
            <a:r>
              <a:rPr lang="ko-KR" altLang="en-US"/>
              <a:t> 발전하는 플랜을 제시하는 논문의 형성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6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285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jpeg"/><Relationship Id="rId11" Type="http://schemas.openxmlformats.org/officeDocument/2006/relationships/image" Target="../media/image2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폰트, 로고, 원, 등록 상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40B031-A102-B0AA-95E9-C122483FE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76" y="144672"/>
            <a:ext cx="2057400" cy="20574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243676" y="2288058"/>
            <a:ext cx="16306800" cy="76302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ko-KR" altLang="en-US" sz="5400" b="1" err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쿠버네티스</a:t>
            </a:r>
            <a:r>
              <a:rPr lang="ko-KR" altLang="en-US" sz="54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기반 </a:t>
            </a:r>
            <a:r>
              <a:rPr lang="ko-KR" altLang="en-US" sz="5400" b="1" err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스프링클라우드</a:t>
            </a:r>
            <a:r>
              <a:rPr lang="ko-KR" altLang="en-US" sz="54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ko-KR" altLang="en-US" sz="5400" b="1" err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마이크로서비스</a:t>
            </a:r>
            <a:r>
              <a:rPr lang="ko-KR" altLang="en-US" sz="54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아키텍처의 설계 및 구현</a:t>
            </a:r>
            <a:br>
              <a:rPr lang="ko-KR" altLang="en-US" sz="48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</a:b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Architectural  Design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and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Implementation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of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Spring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Cloud-Based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Microservices on Kubernetes </a:t>
            </a:r>
            <a:endParaRPr lang="ko-KR" altLang="en-US" sz="4800" b="1">
              <a:solidFill>
                <a:srgbClr val="000000"/>
              </a:solidFill>
              <a:latin typeface="나눔고딕" charset="0"/>
              <a:ea typeface="나눔고딕" charset="0"/>
              <a:cs typeface="NanumGothic" charset="0"/>
            </a:endParaRPr>
          </a:p>
          <a:p>
            <a:pPr algn="ctr">
              <a:lnSpc>
                <a:spcPts val="11923"/>
              </a:lnSpc>
            </a:pPr>
            <a:endParaRPr lang="en-US" sz="10368" spc="-103">
              <a:solidFill>
                <a:srgbClr val="191919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41A1CC6-28EE-B6B9-DCD6-5291CA5B01A6}"/>
              </a:ext>
            </a:extLst>
          </p:cNvPr>
          <p:cNvSpPr txBox="1">
            <a:spLocks/>
          </p:cNvSpPr>
          <p:nvPr/>
        </p:nvSpPr>
        <p:spPr>
          <a:xfrm>
            <a:off x="1012658" y="8590408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학번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D0D633C-75F8-D0F0-251E-9DD710E453EA}"/>
              </a:ext>
            </a:extLst>
          </p:cNvPr>
          <p:cNvSpPr txBox="1">
            <a:spLocks/>
          </p:cNvSpPr>
          <p:nvPr/>
        </p:nvSpPr>
        <p:spPr>
          <a:xfrm>
            <a:off x="2753015" y="8616252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en-US" sz="2800" spc="-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20204077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F4D8A690-E5D9-CAC2-A42C-DF8F64B03257}"/>
              </a:ext>
            </a:extLst>
          </p:cNvPr>
          <p:cNvSpPr txBox="1">
            <a:spLocks/>
          </p:cNvSpPr>
          <p:nvPr/>
        </p:nvSpPr>
        <p:spPr>
          <a:xfrm>
            <a:off x="1012658" y="9055863"/>
            <a:ext cx="1533531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지도교수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6AC1BE-AB75-DAB7-5770-648B95BCB6F2}"/>
              </a:ext>
            </a:extLst>
          </p:cNvPr>
          <p:cNvSpPr txBox="1">
            <a:spLocks/>
          </p:cNvSpPr>
          <p:nvPr/>
        </p:nvSpPr>
        <p:spPr>
          <a:xfrm>
            <a:off x="2753015" y="9055863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9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이상정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9B43892C-5E08-FB94-39C9-B7FE0A6DD7EA}"/>
              </a:ext>
            </a:extLst>
          </p:cNvPr>
          <p:cNvSpPr txBox="1">
            <a:spLocks/>
          </p:cNvSpPr>
          <p:nvPr/>
        </p:nvSpPr>
        <p:spPr>
          <a:xfrm>
            <a:off x="1012658" y="8144377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성명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C3BFEFB1-46C3-DB4D-DEDE-257D8747C7EE}"/>
              </a:ext>
            </a:extLst>
          </p:cNvPr>
          <p:cNvSpPr txBox="1">
            <a:spLocks/>
          </p:cNvSpPr>
          <p:nvPr/>
        </p:nvSpPr>
        <p:spPr>
          <a:xfrm>
            <a:off x="2753015" y="8134528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유동균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23950" y="944123"/>
            <a:ext cx="2186274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목 차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8B327-1235-3C4F-B51A-AE0E3F9C5D96}"/>
              </a:ext>
            </a:extLst>
          </p:cNvPr>
          <p:cNvSpPr txBox="1"/>
          <p:nvPr/>
        </p:nvSpPr>
        <p:spPr>
          <a:xfrm>
            <a:off x="3724656" y="2496015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01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A12496-72F4-5D09-E70A-5F50B6503A51}"/>
              </a:ext>
            </a:extLst>
          </p:cNvPr>
          <p:cNvSpPr txBox="1"/>
          <p:nvPr/>
        </p:nvSpPr>
        <p:spPr>
          <a:xfrm>
            <a:off x="3733800" y="4011379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02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1CA1E9-0611-4B34-8015-C8B43774B787}"/>
              </a:ext>
            </a:extLst>
          </p:cNvPr>
          <p:cNvSpPr txBox="1"/>
          <p:nvPr/>
        </p:nvSpPr>
        <p:spPr>
          <a:xfrm>
            <a:off x="3733800" y="5608191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03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C79B0D-0404-A628-9FFD-4655E0327E0E}"/>
              </a:ext>
            </a:extLst>
          </p:cNvPr>
          <p:cNvSpPr txBox="1"/>
          <p:nvPr/>
        </p:nvSpPr>
        <p:spPr>
          <a:xfrm>
            <a:off x="3733800" y="7050238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04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6" name="Object 6">
            <a:extLst>
              <a:ext uri="{FF2B5EF4-FFF2-40B4-BE49-F238E27FC236}">
                <a16:creationId xmlns:a16="http://schemas.microsoft.com/office/drawing/2014/main" id="{21633320-9E08-D5A1-CBB5-F4722686E9E0}"/>
              </a:ext>
            </a:extLst>
          </p:cNvPr>
          <p:cNvSpPr txBox="1"/>
          <p:nvPr/>
        </p:nvSpPr>
        <p:spPr>
          <a:xfrm>
            <a:off x="6629400" y="2484757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서론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B55AE801-93CD-CC07-B5F6-6794A4D9D858}"/>
              </a:ext>
            </a:extLst>
          </p:cNvPr>
          <p:cNvSpPr txBox="1"/>
          <p:nvPr/>
        </p:nvSpPr>
        <p:spPr>
          <a:xfrm>
            <a:off x="6629400" y="4040845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이론적 배경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D726792D-A802-CF54-4667-B440509AA7DE}"/>
              </a:ext>
            </a:extLst>
          </p:cNvPr>
          <p:cNvSpPr txBox="1"/>
          <p:nvPr/>
        </p:nvSpPr>
        <p:spPr>
          <a:xfrm>
            <a:off x="6601968" y="5622841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설계 및 구현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C1D597E7-6989-B1FD-71B6-CB6F04D01ED6}"/>
              </a:ext>
            </a:extLst>
          </p:cNvPr>
          <p:cNvSpPr txBox="1"/>
          <p:nvPr/>
        </p:nvSpPr>
        <p:spPr>
          <a:xfrm>
            <a:off x="6601968" y="7053376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결론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06B9CC36-98F5-2F08-F9AC-BCF3AFDBAAF2}"/>
              </a:ext>
            </a:extLst>
          </p:cNvPr>
          <p:cNvSpPr txBox="1">
            <a:spLocks/>
          </p:cNvSpPr>
          <p:nvPr/>
        </p:nvSpPr>
        <p:spPr>
          <a:xfrm>
            <a:off x="1123950" y="1591332"/>
            <a:ext cx="15468600" cy="387516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>
                <a:latin typeface="맑은 고딕" charset="0"/>
                <a:ea typeface="맑은 고딕" charset="0"/>
              </a:rPr>
              <a:t>현대의 애플리케이션은 다양한 기능을 수용하며 지속적으로 확장되고 있음 </a:t>
            </a: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>
                <a:latin typeface="맑은 고딕" charset="0"/>
                <a:ea typeface="맑은 고딕" charset="0"/>
              </a:rPr>
              <a:t>구조가 복잡하고 동시에 처리하는 데이터의 양도 증가함</a:t>
            </a: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 err="1">
                <a:latin typeface="맑은 고딕" charset="0"/>
                <a:ea typeface="맑은 고딕" charset="0"/>
              </a:rPr>
              <a:t>모놀리식</a:t>
            </a:r>
            <a:r>
              <a:rPr lang="ko-KR" altLang="en-US" sz="3200">
                <a:latin typeface="맑은 고딕" charset="0"/>
                <a:ea typeface="맑은 고딕" charset="0"/>
              </a:rPr>
              <a:t> 아키텍처는 확장과 유지보수에 한계가 존재</a:t>
            </a: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>
                <a:latin typeface="맑은 고딕" charset="0"/>
                <a:ea typeface="맑은 고딕" charset="0"/>
              </a:rPr>
              <a:t>요구사항을 해결하기 위해 통합된 시스템 필요</a:t>
            </a:r>
            <a:endParaRPr lang="en-US" altLang="ko-KR" sz="3200">
              <a:latin typeface="맑은 고딕" charset="0"/>
              <a:ea typeface="맑은 고딕" charset="0"/>
            </a:endParaRPr>
          </a:p>
        </p:txBody>
      </p:sp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그림 21" descr="텍스트, 스크린샷, 도표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BA335CC-40C6-C59D-3498-2FDA35F93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7" b="5268"/>
          <a:stretch/>
        </p:blipFill>
        <p:spPr>
          <a:xfrm>
            <a:off x="8001000" y="5466496"/>
            <a:ext cx="8517066" cy="4400918"/>
          </a:xfrm>
          <a:prstGeom prst="rect">
            <a:avLst/>
          </a:prstGeom>
        </p:spPr>
      </p:pic>
      <p:pic>
        <p:nvPicPr>
          <p:cNvPr id="24" name="그림 23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DA1D047-9786-9B49-A348-BDD42AFE7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4" b="11228"/>
          <a:stretch/>
        </p:blipFill>
        <p:spPr>
          <a:xfrm>
            <a:off x="1295400" y="5466221"/>
            <a:ext cx="5864754" cy="44009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-290869" y="944123"/>
            <a:ext cx="3601093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이론적 배경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그림 16" descr="텍스트, 도표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59864C2-DE93-E385-79D6-7CF5A5B7B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073" y="2696413"/>
            <a:ext cx="8318926" cy="2903305"/>
          </a:xfrm>
          <a:prstGeom prst="rect">
            <a:avLst/>
          </a:prstGeom>
        </p:spPr>
      </p:pic>
      <p:sp>
        <p:nvSpPr>
          <p:cNvPr id="18" name="Object 6">
            <a:extLst>
              <a:ext uri="{FF2B5EF4-FFF2-40B4-BE49-F238E27FC236}">
                <a16:creationId xmlns:a16="http://schemas.microsoft.com/office/drawing/2014/main" id="{F3D16B1A-8FFE-02A6-F04C-79A4C1F69204}"/>
              </a:ext>
            </a:extLst>
          </p:cNvPr>
          <p:cNvSpPr txBox="1"/>
          <p:nvPr/>
        </p:nvSpPr>
        <p:spPr>
          <a:xfrm>
            <a:off x="838200" y="2030149"/>
            <a:ext cx="7696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Spring Cloud</a:t>
            </a:r>
          </a:p>
        </p:txBody>
      </p:sp>
      <p:pic>
        <p:nvPicPr>
          <p:cNvPr id="19" name="그림 18" descr="텍스트, 스크린샷, 원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E1118D1-24A9-D754-E193-C838197E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1" t="14932" r="2317" b="2274"/>
          <a:stretch/>
        </p:blipFill>
        <p:spPr>
          <a:xfrm>
            <a:off x="10515600" y="982259"/>
            <a:ext cx="6324600" cy="4466010"/>
          </a:xfrm>
          <a:prstGeom prst="rect">
            <a:avLst/>
          </a:prstGeom>
        </p:spPr>
      </p:pic>
      <p:sp>
        <p:nvSpPr>
          <p:cNvPr id="20" name="Object 6">
            <a:extLst>
              <a:ext uri="{FF2B5EF4-FFF2-40B4-BE49-F238E27FC236}">
                <a16:creationId xmlns:a16="http://schemas.microsoft.com/office/drawing/2014/main" id="{87257B65-40AD-FB0D-3A34-4F4302DCE5D8}"/>
              </a:ext>
            </a:extLst>
          </p:cNvPr>
          <p:cNvSpPr txBox="1"/>
          <p:nvPr/>
        </p:nvSpPr>
        <p:spPr>
          <a:xfrm>
            <a:off x="10744200" y="274373"/>
            <a:ext cx="7696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Cloud Native</a:t>
            </a:r>
          </a:p>
        </p:txBody>
      </p:sp>
      <p:sp>
        <p:nvSpPr>
          <p:cNvPr id="21" name="Object 6">
            <a:extLst>
              <a:ext uri="{FF2B5EF4-FFF2-40B4-BE49-F238E27FC236}">
                <a16:creationId xmlns:a16="http://schemas.microsoft.com/office/drawing/2014/main" id="{06226B32-5E29-5377-8D8A-0F8C2DADDA6B}"/>
              </a:ext>
            </a:extLst>
          </p:cNvPr>
          <p:cNvSpPr txBox="1"/>
          <p:nvPr/>
        </p:nvSpPr>
        <p:spPr>
          <a:xfrm>
            <a:off x="838200" y="5397892"/>
            <a:ext cx="6172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Docker</a:t>
            </a:r>
          </a:p>
        </p:txBody>
      </p:sp>
      <p:sp>
        <p:nvSpPr>
          <p:cNvPr id="24" name="Object 6">
            <a:extLst>
              <a:ext uri="{FF2B5EF4-FFF2-40B4-BE49-F238E27FC236}">
                <a16:creationId xmlns:a16="http://schemas.microsoft.com/office/drawing/2014/main" id="{5777440C-0C71-E3DF-A388-4F9C1239BC0B}"/>
              </a:ext>
            </a:extLst>
          </p:cNvPr>
          <p:cNvSpPr txBox="1"/>
          <p:nvPr/>
        </p:nvSpPr>
        <p:spPr>
          <a:xfrm>
            <a:off x="9621579" y="5220286"/>
            <a:ext cx="53340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 err="1">
                <a:latin typeface="윤고딕" panose="020B0600000101010101" charset="-127"/>
                <a:ea typeface="윤고딕" panose="020B0600000101010101" charset="-127"/>
              </a:rPr>
              <a:t>kubernetes</a:t>
            </a:r>
            <a:endParaRPr lang="en-US" sz="4000" b="1">
              <a:latin typeface="윤고딕" panose="020B0600000101010101" charset="-127"/>
              <a:ea typeface="윤고딕" panose="020B0600000101010101" charset="-127"/>
            </a:endParaRPr>
          </a:p>
        </p:txBody>
      </p:sp>
      <p:pic>
        <p:nvPicPr>
          <p:cNvPr id="28" name="그림 27" descr="텍스트, 스크린샷, 폰트, 브랜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3C94FC-B7A1-BFE6-F1CC-E1A2B526C6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17" t="15830" r="12969" b="4276"/>
          <a:stretch/>
        </p:blipFill>
        <p:spPr>
          <a:xfrm>
            <a:off x="9391280" y="5829300"/>
            <a:ext cx="7543801" cy="4179464"/>
          </a:xfrm>
          <a:prstGeom prst="rect">
            <a:avLst/>
          </a:prstGeom>
        </p:spPr>
      </p:pic>
      <p:pic>
        <p:nvPicPr>
          <p:cNvPr id="30" name="그림 29" descr="텍스트, 도표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54EBD92-F4CC-C463-5342-4A0BE268C6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0" t="5559" r="3658" b="2089"/>
          <a:stretch/>
        </p:blipFill>
        <p:spPr>
          <a:xfrm>
            <a:off x="825073" y="6070193"/>
            <a:ext cx="6922422" cy="39385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그림 10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BB7EA61-E68E-0BD3-5004-956667146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038" y="3485268"/>
            <a:ext cx="2477236" cy="24772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B7A54B-1C66-CA8C-AE6A-416905DAD864}"/>
              </a:ext>
            </a:extLst>
          </p:cNvPr>
          <p:cNvSpPr txBox="1"/>
          <p:nvPr/>
        </p:nvSpPr>
        <p:spPr>
          <a:xfrm>
            <a:off x="499671" y="2971286"/>
            <a:ext cx="2438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client</a:t>
            </a:r>
            <a:endParaRPr lang="ko-KR" altLang="en-US" sz="3200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D32BCC-78CD-79E6-A77B-2A51FFD4749C}"/>
              </a:ext>
            </a:extLst>
          </p:cNvPr>
          <p:cNvSpPr txBox="1"/>
          <p:nvPr/>
        </p:nvSpPr>
        <p:spPr>
          <a:xfrm>
            <a:off x="4267200" y="3909525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  <a:endParaRPr lang="ko-KR" altLang="en-US" sz="2800" b="1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1BAD04DE-0FE0-BA43-3B91-D6E1D03790EC}"/>
              </a:ext>
            </a:extLst>
          </p:cNvPr>
          <p:cNvSpPr/>
          <p:nvPr/>
        </p:nvSpPr>
        <p:spPr>
          <a:xfrm>
            <a:off x="3197637" y="4178628"/>
            <a:ext cx="838200" cy="30083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B71344AC-3767-7F25-9FAD-E5447CA65560}"/>
              </a:ext>
            </a:extLst>
          </p:cNvPr>
          <p:cNvSpPr/>
          <p:nvPr/>
        </p:nvSpPr>
        <p:spPr>
          <a:xfrm rot="10800000">
            <a:off x="3124201" y="4696332"/>
            <a:ext cx="838200" cy="30083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26C390-5114-365E-B5FF-5CB6CE964C01}"/>
              </a:ext>
            </a:extLst>
          </p:cNvPr>
          <p:cNvSpPr txBox="1"/>
          <p:nvPr/>
        </p:nvSpPr>
        <p:spPr>
          <a:xfrm>
            <a:off x="9575625" y="1852251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  <a:endParaRPr lang="ko-KR" altLang="en-US" sz="2800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C4CCE2-A50D-E1D4-A8F4-F4761074846B}"/>
              </a:ext>
            </a:extLst>
          </p:cNvPr>
          <p:cNvSpPr txBox="1"/>
          <p:nvPr/>
        </p:nvSpPr>
        <p:spPr>
          <a:xfrm>
            <a:off x="4146269" y="7086086"/>
            <a:ext cx="2832662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  <a:endParaRPr lang="ko-KR" altLang="en-US" sz="2800" b="1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E9A0C602-2382-0543-9DCE-E76E56BF9687}"/>
              </a:ext>
            </a:extLst>
          </p:cNvPr>
          <p:cNvSpPr/>
          <p:nvPr/>
        </p:nvSpPr>
        <p:spPr>
          <a:xfrm rot="5400000">
            <a:off x="5013925" y="5962264"/>
            <a:ext cx="1097349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B63D00BE-E3E5-18BF-9D84-44F19F8B281A}"/>
              </a:ext>
            </a:extLst>
          </p:cNvPr>
          <p:cNvSpPr/>
          <p:nvPr/>
        </p:nvSpPr>
        <p:spPr>
          <a:xfrm rot="19896895">
            <a:off x="7457503" y="3140906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62671681-47F4-9A7E-14B9-EC136E85DEE1}"/>
              </a:ext>
            </a:extLst>
          </p:cNvPr>
          <p:cNvSpPr/>
          <p:nvPr/>
        </p:nvSpPr>
        <p:spPr>
          <a:xfrm>
            <a:off x="7589856" y="4417033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6EC0842E-DEA2-BF54-9F17-A9B9308F0E53}"/>
              </a:ext>
            </a:extLst>
          </p:cNvPr>
          <p:cNvSpPr/>
          <p:nvPr/>
        </p:nvSpPr>
        <p:spPr>
          <a:xfrm rot="1799255">
            <a:off x="7436191" y="5748532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F2B963-C1BD-D3E4-7988-F122A8CF37C9}"/>
              </a:ext>
            </a:extLst>
          </p:cNvPr>
          <p:cNvSpPr txBox="1"/>
          <p:nvPr/>
        </p:nvSpPr>
        <p:spPr>
          <a:xfrm>
            <a:off x="9575625" y="4048726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  <a:endParaRPr lang="ko-KR" altLang="en-US" sz="2800" b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36964-15ED-827C-3B16-E364604C390B}"/>
              </a:ext>
            </a:extLst>
          </p:cNvPr>
          <p:cNvSpPr txBox="1"/>
          <p:nvPr/>
        </p:nvSpPr>
        <p:spPr>
          <a:xfrm>
            <a:off x="9575625" y="622551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  <a:endParaRPr lang="ko-KR" altLang="en-US" sz="2800" b="1"/>
          </a:p>
        </p:txBody>
      </p:sp>
      <p:pic>
        <p:nvPicPr>
          <p:cNvPr id="27" name="그림 26" descr="그래픽, 폰트, 블랙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1741CA-E53A-9D54-66F0-C1D7A6C4D0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19"/>
          <a:stretch/>
        </p:blipFill>
        <p:spPr>
          <a:xfrm>
            <a:off x="13544769" y="135252"/>
            <a:ext cx="3713898" cy="1121682"/>
          </a:xfrm>
          <a:prstGeom prst="rect">
            <a:avLst/>
          </a:prstGeom>
        </p:spPr>
      </p:pic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713FDD93-AA04-5476-DFEE-7B157C6A4A27}"/>
              </a:ext>
            </a:extLst>
          </p:cNvPr>
          <p:cNvSpPr/>
          <p:nvPr/>
        </p:nvSpPr>
        <p:spPr>
          <a:xfrm rot="8927887">
            <a:off x="12563702" y="1462220"/>
            <a:ext cx="1143000" cy="34820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09350510-CA05-A91B-2249-D95589D15C88}"/>
              </a:ext>
            </a:extLst>
          </p:cNvPr>
          <p:cNvSpPr/>
          <p:nvPr/>
        </p:nvSpPr>
        <p:spPr>
          <a:xfrm rot="19808731">
            <a:off x="12390944" y="960460"/>
            <a:ext cx="1143000" cy="34820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04EC02AE-C275-04C7-5B9E-0E9075A9A893}"/>
              </a:ext>
            </a:extLst>
          </p:cNvPr>
          <p:cNvSpPr/>
          <p:nvPr/>
        </p:nvSpPr>
        <p:spPr>
          <a:xfrm rot="10800000">
            <a:off x="12564587" y="6624207"/>
            <a:ext cx="11989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순서도: 처리 36">
            <a:extLst>
              <a:ext uri="{FF2B5EF4-FFF2-40B4-BE49-F238E27FC236}">
                <a16:creationId xmlns:a16="http://schemas.microsoft.com/office/drawing/2014/main" id="{AAB45BEA-D688-174F-5819-B6F6A9404982}"/>
              </a:ext>
            </a:extLst>
          </p:cNvPr>
          <p:cNvSpPr/>
          <p:nvPr/>
        </p:nvSpPr>
        <p:spPr>
          <a:xfrm rot="5400000">
            <a:off x="8463953" y="6545017"/>
            <a:ext cx="190809" cy="6110196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순서도: 처리 37">
            <a:extLst>
              <a:ext uri="{FF2B5EF4-FFF2-40B4-BE49-F238E27FC236}">
                <a16:creationId xmlns:a16="http://schemas.microsoft.com/office/drawing/2014/main" id="{18A75C98-DA1C-7478-2F40-8B79A5DEBD14}"/>
              </a:ext>
            </a:extLst>
          </p:cNvPr>
          <p:cNvSpPr/>
          <p:nvPr/>
        </p:nvSpPr>
        <p:spPr>
          <a:xfrm rot="5400000">
            <a:off x="12404565" y="8383849"/>
            <a:ext cx="184469" cy="2438400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순서도: 처리 38">
            <a:extLst>
              <a:ext uri="{FF2B5EF4-FFF2-40B4-BE49-F238E27FC236}">
                <a16:creationId xmlns:a16="http://schemas.microsoft.com/office/drawing/2014/main" id="{783A1EE7-466A-4CDD-691A-0334C908EB13}"/>
              </a:ext>
            </a:extLst>
          </p:cNvPr>
          <p:cNvSpPr/>
          <p:nvPr/>
        </p:nvSpPr>
        <p:spPr>
          <a:xfrm>
            <a:off x="13714228" y="2360083"/>
            <a:ext cx="194857" cy="7335201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6D2008A2-07B7-1F88-3989-A909171D17F3}"/>
              </a:ext>
            </a:extLst>
          </p:cNvPr>
          <p:cNvSpPr/>
          <p:nvPr/>
        </p:nvSpPr>
        <p:spPr>
          <a:xfrm rot="10800000">
            <a:off x="12564586" y="4374073"/>
            <a:ext cx="1149642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1457F5E8-5BD1-38F3-F6AB-F3F448E09658}"/>
              </a:ext>
            </a:extLst>
          </p:cNvPr>
          <p:cNvSpPr/>
          <p:nvPr/>
        </p:nvSpPr>
        <p:spPr>
          <a:xfrm rot="10800000">
            <a:off x="12570042" y="2256169"/>
            <a:ext cx="1144186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12E0F366-3932-86FB-3020-414C354E0BDC}"/>
              </a:ext>
            </a:extLst>
          </p:cNvPr>
          <p:cNvSpPr/>
          <p:nvPr/>
        </p:nvSpPr>
        <p:spPr>
          <a:xfrm rot="16200000">
            <a:off x="4848808" y="8769121"/>
            <a:ext cx="1427585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그림 43" descr="그래픽, 스크린샷, 그래픽 디자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35A0ED-EB31-BB0D-7A15-E2DB258A4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28775" y="2641703"/>
            <a:ext cx="1345886" cy="1810187"/>
          </a:xfrm>
          <a:prstGeom prst="rect">
            <a:avLst/>
          </a:prstGeom>
        </p:spPr>
      </p:pic>
      <p:pic>
        <p:nvPicPr>
          <p:cNvPr id="48" name="그림 47" descr="텍스트, 폰트, 디자인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C1E4910-B57E-5089-5DFD-0DB4051C4A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0673" y="5160802"/>
            <a:ext cx="2847975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32967-BE59-12D3-DAE1-6617A6DC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B9FD9C9-D547-A04B-8B64-256EFF3E8014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7096828-80E1-2507-28CD-B1A5F0AC8FB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1F26DDC-AB44-E43C-1D09-79E0070050F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BFD0E49C-E030-8287-97CB-76FC245E1EC6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5D7A2E5B-13E8-3B9C-EEDB-98A03FC2F547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4D00C-501F-6E4B-5D5A-AEC3EFD4AFCD}"/>
              </a:ext>
            </a:extLst>
          </p:cNvPr>
          <p:cNvSpPr txBox="1"/>
          <p:nvPr/>
        </p:nvSpPr>
        <p:spPr>
          <a:xfrm>
            <a:off x="685589" y="2360082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AF6B51-7E29-46C6-FF5C-B23904860137}"/>
              </a:ext>
            </a:extLst>
          </p:cNvPr>
          <p:cNvSpPr txBox="1"/>
          <p:nvPr/>
        </p:nvSpPr>
        <p:spPr>
          <a:xfrm>
            <a:off x="4190999" y="386622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5ADBC-E314-0D80-2EAB-FA1B0AF20EB6}"/>
              </a:ext>
            </a:extLst>
          </p:cNvPr>
          <p:cNvSpPr txBox="1"/>
          <p:nvPr/>
        </p:nvSpPr>
        <p:spPr>
          <a:xfrm>
            <a:off x="685589" y="6161642"/>
            <a:ext cx="2823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7E42C-D2B4-CE31-4FCC-70F22C01AF91}"/>
              </a:ext>
            </a:extLst>
          </p:cNvPr>
          <p:cNvSpPr txBox="1"/>
          <p:nvPr/>
        </p:nvSpPr>
        <p:spPr>
          <a:xfrm>
            <a:off x="4190999" y="5405110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A44B-5503-D222-18E6-3988435135B8}"/>
              </a:ext>
            </a:extLst>
          </p:cNvPr>
          <p:cNvSpPr txBox="1"/>
          <p:nvPr/>
        </p:nvSpPr>
        <p:spPr>
          <a:xfrm>
            <a:off x="4190999" y="4881890"/>
            <a:ext cx="2590800" cy="523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/>
              <a:t>CI/CD pipeline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7AF5C-6EFF-CFE7-0E75-322C0BF5F301}"/>
              </a:ext>
            </a:extLst>
          </p:cNvPr>
          <p:cNvSpPr txBox="1"/>
          <p:nvPr/>
        </p:nvSpPr>
        <p:spPr>
          <a:xfrm>
            <a:off x="685589" y="3806632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  <a:endParaRPr lang="ko-KR" altLang="en-US" sz="3200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545B91-0D03-709C-1C28-DBB3FA1EE883}"/>
              </a:ext>
            </a:extLst>
          </p:cNvPr>
          <p:cNvSpPr txBox="1"/>
          <p:nvPr/>
        </p:nvSpPr>
        <p:spPr>
          <a:xfrm>
            <a:off x="676728" y="7177305"/>
            <a:ext cx="2832661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  <a:endParaRPr lang="ko-KR" altLang="en-US" sz="3200" b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8334A9-3277-BBD8-3F0C-B505F4008ABC}"/>
              </a:ext>
            </a:extLst>
          </p:cNvPr>
          <p:cNvSpPr txBox="1"/>
          <p:nvPr/>
        </p:nvSpPr>
        <p:spPr>
          <a:xfrm>
            <a:off x="7640055" y="1813733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BCDBDB-53A0-B576-F24E-62BFFFB46109}"/>
              </a:ext>
            </a:extLst>
          </p:cNvPr>
          <p:cNvSpPr txBox="1"/>
          <p:nvPr/>
        </p:nvSpPr>
        <p:spPr>
          <a:xfrm>
            <a:off x="11049000" y="634587"/>
            <a:ext cx="62484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400"/>
              <a:t> </a:t>
            </a:r>
            <a:r>
              <a:rPr lang="en-US" altLang="ko-KR" sz="4000"/>
              <a:t>Customer </a:t>
            </a:r>
            <a:r>
              <a:rPr lang="ko-KR" altLang="en-US" sz="4000"/>
              <a:t>의 관리</a:t>
            </a:r>
            <a:r>
              <a:rPr lang="en-US" altLang="ko-KR" sz="4000"/>
              <a:t> </a:t>
            </a:r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DB</a:t>
            </a:r>
            <a:r>
              <a:rPr lang="ko-KR" altLang="en-US" sz="4000"/>
              <a:t>에 </a:t>
            </a:r>
            <a:r>
              <a:rPr lang="en-US" altLang="ko-KR" sz="4000"/>
              <a:t>Insert</a:t>
            </a:r>
            <a:r>
              <a:rPr lang="ko-KR" altLang="en-US" sz="4000"/>
              <a:t> </a:t>
            </a:r>
            <a:r>
              <a:rPr lang="en-US" altLang="ko-KR" sz="4000"/>
              <a:t>/</a:t>
            </a:r>
            <a:r>
              <a:rPr lang="ko-KR" altLang="en-US" sz="4000"/>
              <a:t> </a:t>
            </a:r>
            <a:r>
              <a:rPr lang="en-US" altLang="ko-KR" sz="4000"/>
              <a:t>Delete</a:t>
            </a:r>
          </a:p>
          <a:p>
            <a:r>
              <a:rPr lang="en-US" altLang="ko-KR" sz="4000"/>
              <a:t>  	</a:t>
            </a:r>
            <a:r>
              <a:rPr lang="en-US" altLang="ko-KR" sz="3200"/>
              <a:t>(MongoDB)</a:t>
            </a:r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Message</a:t>
            </a:r>
            <a:r>
              <a:rPr lang="ko-KR" altLang="en-US" sz="4000"/>
              <a:t> </a:t>
            </a:r>
            <a:r>
              <a:rPr lang="en-US" altLang="ko-KR" sz="4000"/>
              <a:t>Queue</a:t>
            </a:r>
            <a:r>
              <a:rPr lang="ko-KR" altLang="en-US" sz="4000"/>
              <a:t> 큐 생성</a:t>
            </a:r>
            <a:endParaRPr lang="en-US" altLang="ko-KR" sz="4000"/>
          </a:p>
          <a:p>
            <a:r>
              <a:rPr lang="en-US" altLang="ko-KR" sz="3200"/>
              <a:t>	(RabbitMQ)</a:t>
            </a:r>
          </a:p>
          <a:p>
            <a:r>
              <a:rPr lang="en-US" altLang="ko-KR" sz="4000"/>
              <a:t> 	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4AE484-6BAD-12AD-3C4D-3DC11FBE6C33}"/>
              </a:ext>
            </a:extLst>
          </p:cNvPr>
          <p:cNvSpPr txBox="1"/>
          <p:nvPr/>
        </p:nvSpPr>
        <p:spPr>
          <a:xfrm>
            <a:off x="7640055" y="6436603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F44707-BE72-5F07-1BBD-8CDC429EB518}"/>
              </a:ext>
            </a:extLst>
          </p:cNvPr>
          <p:cNvSpPr txBox="1"/>
          <p:nvPr/>
        </p:nvSpPr>
        <p:spPr>
          <a:xfrm>
            <a:off x="11049000" y="6308481"/>
            <a:ext cx="624840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Event, Message </a:t>
            </a:r>
            <a:r>
              <a:rPr lang="ko-KR" altLang="en-US" sz="4000"/>
              <a:t>의 생성</a:t>
            </a:r>
            <a:endParaRPr lang="en-US" altLang="ko-KR" sz="4000"/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/>
              <a:t>Message</a:t>
            </a:r>
            <a:r>
              <a:rPr lang="ko-KR" altLang="en-US" sz="3600"/>
              <a:t> </a:t>
            </a:r>
            <a:r>
              <a:rPr lang="en-US" altLang="ko-KR" sz="3600"/>
              <a:t>Queue</a:t>
            </a:r>
            <a:r>
              <a:rPr lang="ko-KR" altLang="en-US" sz="3600"/>
              <a:t>를 비동기 큐 주고받기 </a:t>
            </a:r>
            <a:endParaRPr lang="en-US" altLang="ko-KR" sz="4000"/>
          </a:p>
          <a:p>
            <a:r>
              <a:rPr lang="en-US" altLang="ko-KR" sz="3200"/>
              <a:t>	(RabbitMQ)	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D20E9-8D95-9470-F2D4-5FDC6898AF29}"/>
              </a:ext>
            </a:extLst>
          </p:cNvPr>
          <p:cNvSpPr txBox="1"/>
          <p:nvPr/>
        </p:nvSpPr>
        <p:spPr>
          <a:xfrm>
            <a:off x="7640055" y="2842878"/>
            <a:ext cx="2590800" cy="523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/>
              <a:t>MongoDB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AE1ECE-4470-515B-EBA5-D56AA4DA8F74}"/>
              </a:ext>
            </a:extLst>
          </p:cNvPr>
          <p:cNvSpPr txBox="1"/>
          <p:nvPr/>
        </p:nvSpPr>
        <p:spPr>
          <a:xfrm>
            <a:off x="7640055" y="3950873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96E4AA-66A6-2841-E1CB-5776FA5F40E7}"/>
              </a:ext>
            </a:extLst>
          </p:cNvPr>
          <p:cNvSpPr txBox="1"/>
          <p:nvPr/>
        </p:nvSpPr>
        <p:spPr>
          <a:xfrm>
            <a:off x="7640055" y="3366098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RabbitMQ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0FBC49-BE8D-350A-38F9-BA939F489158}"/>
              </a:ext>
            </a:extLst>
          </p:cNvPr>
          <p:cNvSpPr txBox="1"/>
          <p:nvPr/>
        </p:nvSpPr>
        <p:spPr>
          <a:xfrm>
            <a:off x="7640055" y="7452266"/>
            <a:ext cx="259499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RabbitMQ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E608E-B6E1-DC99-F487-07011CD3E758}"/>
              </a:ext>
            </a:extLst>
          </p:cNvPr>
          <p:cNvSpPr txBox="1"/>
          <p:nvPr/>
        </p:nvSpPr>
        <p:spPr>
          <a:xfrm>
            <a:off x="7640055" y="8037041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</a:p>
        </p:txBody>
      </p:sp>
    </p:spTree>
    <p:extLst>
      <p:ext uri="{BB962C8B-B14F-4D97-AF65-F5344CB8AC3E}">
        <p14:creationId xmlns:p14="http://schemas.microsoft.com/office/powerpoint/2010/main" val="1689334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143000" y="2669051"/>
            <a:ext cx="12192000" cy="48365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여기서 </a:t>
            </a:r>
            <a:r>
              <a:rPr lang="en-US" altLang="ko-KR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MongoDB</a:t>
            </a: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와 </a:t>
            </a:r>
            <a:r>
              <a:rPr lang="en-US" altLang="ko-KR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RabbitMQ</a:t>
            </a: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의 대시보드 사진 그리고</a:t>
            </a: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기능 결과 사진</a:t>
            </a: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0" y="944123"/>
            <a:ext cx="63246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40C9F71-4864-A3F2-16DA-5DAE049E73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6"/>
          <a:stretch/>
        </p:blipFill>
        <p:spPr>
          <a:xfrm>
            <a:off x="323423" y="191245"/>
            <a:ext cx="4477177" cy="872489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0275569-3760-1831-7298-BCA080202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191245"/>
            <a:ext cx="4477176" cy="1002995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A327D36-508A-B62A-780A-AC9AD87A7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43" y="183625"/>
            <a:ext cx="4477177" cy="48264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752E1B-0854-4A02-AF98-72944DF47883}"/>
              </a:ext>
            </a:extLst>
          </p:cNvPr>
          <p:cNvSpPr txBox="1"/>
          <p:nvPr/>
        </p:nvSpPr>
        <p:spPr>
          <a:xfrm>
            <a:off x="4215236" y="3789961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Control Plane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6E4325-54B4-E10F-41FC-31BDE790DF38}"/>
              </a:ext>
            </a:extLst>
          </p:cNvPr>
          <p:cNvSpPr txBox="1"/>
          <p:nvPr/>
        </p:nvSpPr>
        <p:spPr>
          <a:xfrm>
            <a:off x="4215236" y="4251626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Scheduler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0A1E06-FEE8-F78C-AAB8-B6AA3AF43F17}"/>
              </a:ext>
            </a:extLst>
          </p:cNvPr>
          <p:cNvSpPr txBox="1"/>
          <p:nvPr/>
        </p:nvSpPr>
        <p:spPr>
          <a:xfrm>
            <a:off x="4215236" y="4714948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API Server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535C1B-C93F-DFE2-9747-98EB77A21988}"/>
              </a:ext>
            </a:extLst>
          </p:cNvPr>
          <p:cNvSpPr txBox="1"/>
          <p:nvPr/>
        </p:nvSpPr>
        <p:spPr>
          <a:xfrm>
            <a:off x="4215236" y="5174956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Etcd</a:t>
            </a:r>
            <a:endParaRPr lang="en-US" altLang="ko-KR" sz="2400" b="1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5A15B-8D42-C185-F4C8-8F7B4BE303C5}"/>
              </a:ext>
            </a:extLst>
          </p:cNvPr>
          <p:cNvSpPr txBox="1"/>
          <p:nvPr/>
        </p:nvSpPr>
        <p:spPr>
          <a:xfrm>
            <a:off x="12180349" y="3093684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9A08BF-0099-0974-1832-BF8D0D4DC1E3}"/>
              </a:ext>
            </a:extLst>
          </p:cNvPr>
          <p:cNvSpPr txBox="1"/>
          <p:nvPr/>
        </p:nvSpPr>
        <p:spPr>
          <a:xfrm>
            <a:off x="12180349" y="3505541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Eureka-server</a:t>
            </a:r>
            <a:endParaRPr lang="ko-KR" altLang="en-US" sz="2000" b="1"/>
          </a:p>
        </p:txBody>
      </p:sp>
      <p:sp>
        <p:nvSpPr>
          <p:cNvPr id="49" name="순서도: 처리 48">
            <a:extLst>
              <a:ext uri="{FF2B5EF4-FFF2-40B4-BE49-F238E27FC236}">
                <a16:creationId xmlns:a16="http://schemas.microsoft.com/office/drawing/2014/main" id="{9B3D8C18-0E7B-78C8-2CD5-15DD7DF57704}"/>
              </a:ext>
            </a:extLst>
          </p:cNvPr>
          <p:cNvSpPr/>
          <p:nvPr/>
        </p:nvSpPr>
        <p:spPr>
          <a:xfrm>
            <a:off x="12071349" y="2089080"/>
            <a:ext cx="3503873" cy="2912664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D8F954-227A-88C1-C65F-92DBC9B61382}"/>
              </a:ext>
            </a:extLst>
          </p:cNvPr>
          <p:cNvSpPr txBox="1"/>
          <p:nvPr/>
        </p:nvSpPr>
        <p:spPr>
          <a:xfrm>
            <a:off x="11030723" y="1477988"/>
            <a:ext cx="2077113" cy="49244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Worker</a:t>
            </a:r>
            <a:r>
              <a:rPr lang="en-US" altLang="ko-KR" sz="2600" b="1"/>
              <a:t> node1</a:t>
            </a:r>
            <a:endParaRPr lang="ko-KR" altLang="en-US" sz="2600" b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8677C5-E989-0451-0F87-A1559C510FD6}"/>
              </a:ext>
            </a:extLst>
          </p:cNvPr>
          <p:cNvSpPr txBox="1"/>
          <p:nvPr/>
        </p:nvSpPr>
        <p:spPr>
          <a:xfrm>
            <a:off x="11030723" y="1951330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endParaRPr lang="ko-KR" altLang="en-US" sz="2400" b="1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413ECE-AD18-1248-8A88-0676404C2007}"/>
              </a:ext>
            </a:extLst>
          </p:cNvPr>
          <p:cNvSpPr txBox="1"/>
          <p:nvPr/>
        </p:nvSpPr>
        <p:spPr>
          <a:xfrm>
            <a:off x="11030723" y="2392041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r>
              <a:rPr lang="en-US" altLang="ko-KR" sz="2400" b="1"/>
              <a:t>-proxy</a:t>
            </a:r>
            <a:endParaRPr lang="ko-KR" altLang="en-US" sz="2400" b="1"/>
          </a:p>
        </p:txBody>
      </p:sp>
      <p:sp>
        <p:nvSpPr>
          <p:cNvPr id="50" name="순서도: 처리 49">
            <a:extLst>
              <a:ext uri="{FF2B5EF4-FFF2-40B4-BE49-F238E27FC236}">
                <a16:creationId xmlns:a16="http://schemas.microsoft.com/office/drawing/2014/main" id="{DEE77569-F050-C795-3A63-786CA1AF34A1}"/>
              </a:ext>
            </a:extLst>
          </p:cNvPr>
          <p:cNvSpPr/>
          <p:nvPr/>
        </p:nvSpPr>
        <p:spPr>
          <a:xfrm>
            <a:off x="12061162" y="6317267"/>
            <a:ext cx="3505199" cy="304843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81CE2E-374D-46FC-5D4A-D27B64C3631D}"/>
              </a:ext>
            </a:extLst>
          </p:cNvPr>
          <p:cNvSpPr txBox="1"/>
          <p:nvPr/>
        </p:nvSpPr>
        <p:spPr>
          <a:xfrm>
            <a:off x="12180349" y="3941316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Pod2</a:t>
            </a:r>
            <a:endParaRPr lang="ko-KR" altLang="en-US" sz="2000" b="1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230549-9714-652A-0CF5-65B93A9A9160}"/>
              </a:ext>
            </a:extLst>
          </p:cNvPr>
          <p:cNvSpPr txBox="1"/>
          <p:nvPr/>
        </p:nvSpPr>
        <p:spPr>
          <a:xfrm>
            <a:off x="12180349" y="4353173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Config-server</a:t>
            </a:r>
            <a:endParaRPr lang="ko-KR" altLang="en-US" sz="2000" b="1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BDD6F2-0ED9-26EA-D998-E13E90A7ED11}"/>
              </a:ext>
            </a:extLst>
          </p:cNvPr>
          <p:cNvSpPr txBox="1"/>
          <p:nvPr/>
        </p:nvSpPr>
        <p:spPr>
          <a:xfrm>
            <a:off x="12168506" y="7399538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8D431D-6B9F-1026-50B4-4F12D22FE853}"/>
              </a:ext>
            </a:extLst>
          </p:cNvPr>
          <p:cNvSpPr txBox="1"/>
          <p:nvPr/>
        </p:nvSpPr>
        <p:spPr>
          <a:xfrm>
            <a:off x="12168506" y="7811395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Edge-server</a:t>
            </a:r>
            <a:endParaRPr lang="ko-KR" altLang="en-US" sz="2000" b="1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4984F0-0D91-B183-9F88-BA87D1658473}"/>
              </a:ext>
            </a:extLst>
          </p:cNvPr>
          <p:cNvSpPr txBox="1"/>
          <p:nvPr/>
        </p:nvSpPr>
        <p:spPr>
          <a:xfrm>
            <a:off x="12168506" y="8273739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B36E0D-98F0-2659-6E57-6FFBC2EDA685}"/>
              </a:ext>
            </a:extLst>
          </p:cNvPr>
          <p:cNvSpPr txBox="1"/>
          <p:nvPr/>
        </p:nvSpPr>
        <p:spPr>
          <a:xfrm>
            <a:off x="12168506" y="8685596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Event-server</a:t>
            </a:r>
            <a:endParaRPr lang="ko-KR" altLang="en-US" sz="2000" b="1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4D7886D-DBDE-B53F-3DEA-65C4B5BCF506}"/>
              </a:ext>
            </a:extLst>
          </p:cNvPr>
          <p:cNvSpPr txBox="1"/>
          <p:nvPr/>
        </p:nvSpPr>
        <p:spPr>
          <a:xfrm>
            <a:off x="13899487" y="3105431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Pod3</a:t>
            </a:r>
            <a:endParaRPr lang="ko-KR" altLang="en-US" sz="2000" b="1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D1C065-0723-8463-D208-E7F5F95187FE}"/>
              </a:ext>
            </a:extLst>
          </p:cNvPr>
          <p:cNvSpPr txBox="1"/>
          <p:nvPr/>
        </p:nvSpPr>
        <p:spPr>
          <a:xfrm>
            <a:off x="13899487" y="3517288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User-service</a:t>
            </a:r>
            <a:endParaRPr lang="ko-KR" altLang="en-US" sz="2000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0DB5C7-E936-9D1F-AE10-9874A5F1FFB2}"/>
              </a:ext>
            </a:extLst>
          </p:cNvPr>
          <p:cNvSpPr txBox="1"/>
          <p:nvPr/>
        </p:nvSpPr>
        <p:spPr>
          <a:xfrm>
            <a:off x="10997053" y="5728272"/>
            <a:ext cx="2077113" cy="49244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Worker</a:t>
            </a:r>
            <a:r>
              <a:rPr lang="en-US" altLang="ko-KR" sz="2600" b="1"/>
              <a:t> node2</a:t>
            </a:r>
            <a:endParaRPr lang="ko-KR" altLang="en-US" sz="2600" b="1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75EA7B-9995-6DED-6171-830AB9E5D092}"/>
              </a:ext>
            </a:extLst>
          </p:cNvPr>
          <p:cNvSpPr txBox="1"/>
          <p:nvPr/>
        </p:nvSpPr>
        <p:spPr>
          <a:xfrm>
            <a:off x="10997053" y="6201614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endParaRPr lang="ko-KR" altLang="en-US" sz="2400" b="1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74C651-0EB9-8B37-62D2-F6E0E8F9EC66}"/>
              </a:ext>
            </a:extLst>
          </p:cNvPr>
          <p:cNvSpPr txBox="1"/>
          <p:nvPr/>
        </p:nvSpPr>
        <p:spPr>
          <a:xfrm>
            <a:off x="10997053" y="6642325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r>
              <a:rPr lang="en-US" altLang="ko-KR" sz="2400" b="1"/>
              <a:t>-proxy</a:t>
            </a:r>
            <a:endParaRPr lang="ko-KR" altLang="en-US" sz="2400" b="1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7E94-2BFE-E2A1-CFBC-3B7A32F65BED}"/>
              </a:ext>
            </a:extLst>
          </p:cNvPr>
          <p:cNvSpPr txBox="1"/>
          <p:nvPr/>
        </p:nvSpPr>
        <p:spPr>
          <a:xfrm>
            <a:off x="13851863" y="7399538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9FA24A-9FF8-E90F-5FFD-B4048C01D674}"/>
              </a:ext>
            </a:extLst>
          </p:cNvPr>
          <p:cNvSpPr txBox="1"/>
          <p:nvPr/>
        </p:nvSpPr>
        <p:spPr>
          <a:xfrm>
            <a:off x="13851863" y="7811395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RabbitMQ</a:t>
            </a:r>
            <a:endParaRPr lang="ko-KR" altLang="en-US" sz="2000" b="1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FB2A20-F086-1472-FFBE-D4DD625D6E6D}"/>
              </a:ext>
            </a:extLst>
          </p:cNvPr>
          <p:cNvSpPr txBox="1"/>
          <p:nvPr/>
        </p:nvSpPr>
        <p:spPr>
          <a:xfrm>
            <a:off x="13895512" y="3938397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Pod4</a:t>
            </a:r>
            <a:endParaRPr lang="ko-KR" altLang="en-US" sz="2000" b="1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D94DE0-D79B-ED6D-3948-A0080712942B}"/>
              </a:ext>
            </a:extLst>
          </p:cNvPr>
          <p:cNvSpPr txBox="1"/>
          <p:nvPr/>
        </p:nvSpPr>
        <p:spPr>
          <a:xfrm>
            <a:off x="13895512" y="4350254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err="1"/>
              <a:t>MongDB</a:t>
            </a:r>
            <a:endParaRPr lang="ko-KR" altLang="en-US" sz="2000" b="1"/>
          </a:p>
        </p:txBody>
      </p:sp>
      <p:pic>
        <p:nvPicPr>
          <p:cNvPr id="67" name="그림 66" descr="상징, 원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482838-6422-BEDF-5242-D5DCCED234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220" y="2415537"/>
            <a:ext cx="1562534" cy="1522860"/>
          </a:xfrm>
          <a:prstGeom prst="rect">
            <a:avLst/>
          </a:prstGeom>
        </p:spPr>
      </p:pic>
      <p:pic>
        <p:nvPicPr>
          <p:cNvPr id="85" name="그림 84" descr="상징, 그래픽, 폰트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1AB777A-4157-86A7-1650-DFA73185E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1" t="22615" r="53730" b="21360"/>
          <a:stretch/>
        </p:blipFill>
        <p:spPr>
          <a:xfrm>
            <a:off x="9165077" y="1864025"/>
            <a:ext cx="1226397" cy="1522860"/>
          </a:xfrm>
          <a:prstGeom prst="rect">
            <a:avLst/>
          </a:prstGeom>
        </p:spPr>
      </p:pic>
      <p:sp>
        <p:nvSpPr>
          <p:cNvPr id="87" name="화살표: 오른쪽 86">
            <a:extLst>
              <a:ext uri="{FF2B5EF4-FFF2-40B4-BE49-F238E27FC236}">
                <a16:creationId xmlns:a16="http://schemas.microsoft.com/office/drawing/2014/main" id="{708E2BBF-358C-BEF7-440C-D844D92FB396}"/>
              </a:ext>
            </a:extLst>
          </p:cNvPr>
          <p:cNvSpPr/>
          <p:nvPr/>
        </p:nvSpPr>
        <p:spPr>
          <a:xfrm rot="19659743">
            <a:off x="6756910" y="3580410"/>
            <a:ext cx="1545283" cy="424740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8" name="그림 87" descr="상징, 그래픽, 폰트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80B485B-446C-6952-4C88-EE0C25D94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" t="22615" r="52133" b="21360"/>
          <a:stretch/>
        </p:blipFill>
        <p:spPr>
          <a:xfrm>
            <a:off x="9266728" y="5050574"/>
            <a:ext cx="1192728" cy="1522860"/>
          </a:xfrm>
          <a:prstGeom prst="rect">
            <a:avLst/>
          </a:prstGeom>
        </p:spPr>
      </p:pic>
      <p:sp>
        <p:nvSpPr>
          <p:cNvPr id="89" name="화살표: 오른쪽 88">
            <a:extLst>
              <a:ext uri="{FF2B5EF4-FFF2-40B4-BE49-F238E27FC236}">
                <a16:creationId xmlns:a16="http://schemas.microsoft.com/office/drawing/2014/main" id="{4173D518-A434-F406-D895-C32A946AE927}"/>
              </a:ext>
            </a:extLst>
          </p:cNvPr>
          <p:cNvSpPr/>
          <p:nvPr/>
        </p:nvSpPr>
        <p:spPr>
          <a:xfrm rot="1838747">
            <a:off x="6779523" y="5273869"/>
            <a:ext cx="1545283" cy="424740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bject 6">
            <a:extLst>
              <a:ext uri="{FF2B5EF4-FFF2-40B4-BE49-F238E27FC236}">
                <a16:creationId xmlns:a16="http://schemas.microsoft.com/office/drawing/2014/main" id="{6BA7BA6E-D4A8-1FD0-5C99-2B5993E96391}"/>
              </a:ext>
            </a:extLst>
          </p:cNvPr>
          <p:cNvSpPr txBox="1"/>
          <p:nvPr/>
        </p:nvSpPr>
        <p:spPr>
          <a:xfrm>
            <a:off x="6207344" y="5929321"/>
            <a:ext cx="2790586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 err="1">
                <a:latin typeface="윤고딕" panose="020B0600000101010101" charset="-127"/>
                <a:ea typeface="윤고딕" panose="020B0600000101010101" charset="-127"/>
              </a:rPr>
              <a:t>RoadBalancing</a:t>
            </a:r>
            <a:endParaRPr lang="en-US" sz="2600" b="1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94" name="Object 6">
            <a:extLst>
              <a:ext uri="{FF2B5EF4-FFF2-40B4-BE49-F238E27FC236}">
                <a16:creationId xmlns:a16="http://schemas.microsoft.com/office/drawing/2014/main" id="{14F9244B-6D88-6382-9DCB-A9A20BBDAFEE}"/>
              </a:ext>
            </a:extLst>
          </p:cNvPr>
          <p:cNvSpPr txBox="1"/>
          <p:nvPr/>
        </p:nvSpPr>
        <p:spPr>
          <a:xfrm>
            <a:off x="8710590" y="3139523"/>
            <a:ext cx="2320133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>
                <a:latin typeface="윤고딕" panose="020B0600000101010101" charset="-127"/>
                <a:ea typeface="윤고딕" panose="020B0600000101010101" charset="-127"/>
              </a:rPr>
              <a:t>Auto Scaling</a:t>
            </a:r>
          </a:p>
        </p:txBody>
      </p:sp>
      <p:sp>
        <p:nvSpPr>
          <p:cNvPr id="95" name="Object 6">
            <a:extLst>
              <a:ext uri="{FF2B5EF4-FFF2-40B4-BE49-F238E27FC236}">
                <a16:creationId xmlns:a16="http://schemas.microsoft.com/office/drawing/2014/main" id="{29DAB205-836D-CCAE-4125-211FF2D18846}"/>
              </a:ext>
            </a:extLst>
          </p:cNvPr>
          <p:cNvSpPr txBox="1"/>
          <p:nvPr/>
        </p:nvSpPr>
        <p:spPr>
          <a:xfrm>
            <a:off x="8710590" y="6449237"/>
            <a:ext cx="2320133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>
                <a:latin typeface="윤고딕" panose="020B0600000101010101" charset="-127"/>
                <a:ea typeface="윤고딕" panose="020B0600000101010101" charset="-127"/>
              </a:rPr>
              <a:t>Auto Scaling</a:t>
            </a:r>
          </a:p>
        </p:txBody>
      </p:sp>
      <p:sp>
        <p:nvSpPr>
          <p:cNvPr id="96" name="TextBox 8">
            <a:extLst>
              <a:ext uri="{FF2B5EF4-FFF2-40B4-BE49-F238E27FC236}">
                <a16:creationId xmlns:a16="http://schemas.microsoft.com/office/drawing/2014/main" id="{2BE080D5-7880-AB44-C4E1-CBA2CA05A6F9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E5E22-2C9C-DDC6-8ADC-299E5919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C1A00DE-E498-39E0-E000-5719DE95D64C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0AE8836-1FB7-6CC7-F983-554BFAA70F5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B35C5DD-9608-EF11-CB17-21B359F04237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63B450F0-8965-A323-97FC-A293E0F835BF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9F2BA6-26AB-23A0-0495-5A8F87D47ACC}"/>
              </a:ext>
            </a:extLst>
          </p:cNvPr>
          <p:cNvSpPr txBox="1"/>
          <p:nvPr/>
        </p:nvSpPr>
        <p:spPr>
          <a:xfrm>
            <a:off x="0" y="944123"/>
            <a:ext cx="63246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6" name="그림 5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A1EEED-A0D8-476C-92DE-D4182AFD9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1" r="8642" b="7020"/>
          <a:stretch/>
        </p:blipFill>
        <p:spPr>
          <a:xfrm>
            <a:off x="9220200" y="3982932"/>
            <a:ext cx="8102011" cy="5522645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DB7EFF82-ED16-D7E4-729A-B6924C90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999" y="4229100"/>
            <a:ext cx="7696969" cy="5113777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4190CD23-86EA-5848-A218-BB4E11BA589F}"/>
              </a:ext>
            </a:extLst>
          </p:cNvPr>
          <p:cNvSpPr txBox="1"/>
          <p:nvPr/>
        </p:nvSpPr>
        <p:spPr>
          <a:xfrm>
            <a:off x="9143999" y="2706463"/>
            <a:ext cx="8534402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KEDA(Kubernetes Event-Driven Autoscaling)</a:t>
            </a:r>
          </a:p>
          <a:p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이벤트 </a:t>
            </a:r>
            <a:r>
              <a:rPr lang="ko-KR" alt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메시지 큐 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길이를 기반으로 </a:t>
            </a:r>
            <a:r>
              <a:rPr lang="ko-KR" altLang="en-US" sz="2800" b="1" err="1">
                <a:latin typeface="윤고딕" panose="020B0600000101010101" charset="-127"/>
                <a:ea typeface="윤고딕" panose="020B0600000101010101" charset="-127"/>
              </a:rPr>
              <a:t>파드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 수를 자동 확장</a:t>
            </a:r>
            <a:endParaRPr lang="en-US" sz="2800" b="1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25322CD3-59D2-AEC0-10F9-5EDD4503D25F}"/>
              </a:ext>
            </a:extLst>
          </p:cNvPr>
          <p:cNvSpPr txBox="1"/>
          <p:nvPr/>
        </p:nvSpPr>
        <p:spPr>
          <a:xfrm>
            <a:off x="152400" y="2692934"/>
            <a:ext cx="8458200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HPA(Horizontal Pod </a:t>
            </a:r>
            <a:r>
              <a:rPr lang="en-US" sz="2800" b="1" err="1">
                <a:latin typeface="윤고딕" panose="020B0600000101010101" charset="-127"/>
                <a:ea typeface="윤고딕" panose="020B0600000101010101" charset="-127"/>
              </a:rPr>
              <a:t>Autoscaler</a:t>
            </a:r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)</a:t>
            </a:r>
          </a:p>
          <a:p>
            <a:r>
              <a:rPr 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CPU </a:t>
            </a:r>
            <a:r>
              <a:rPr lang="ko-KR" alt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사용률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에 따라 </a:t>
            </a:r>
            <a:r>
              <a:rPr lang="ko-KR" altLang="en-US" sz="2800" b="1" err="1">
                <a:latin typeface="윤고딕" panose="020B0600000101010101" charset="-127"/>
                <a:ea typeface="윤고딕" panose="020B0600000101010101" charset="-127"/>
              </a:rPr>
              <a:t>파드를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 자동을 확장 시켜주는 기능</a:t>
            </a:r>
            <a:endParaRPr lang="en-US" sz="2800" b="1">
              <a:latin typeface="윤고딕" panose="020B0600000101010101" charset="-127"/>
              <a:ea typeface="윤고딕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33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E2A1-EDBF-7772-C89F-FBA47FC11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3C38D1-C750-141B-3F6F-9DEC2BFCBE0F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AAACB55-8EF2-7816-070F-C2C67AFB390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E44621E-5804-CA73-106D-A849170B03A9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E3D37EB9-5CB4-6C44-366E-27D8EC28803A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755E46-8A4B-2CC4-41CE-DEF3783ABD58}"/>
              </a:ext>
            </a:extLst>
          </p:cNvPr>
          <p:cNvSpPr txBox="1"/>
          <p:nvPr/>
        </p:nvSpPr>
        <p:spPr>
          <a:xfrm>
            <a:off x="0" y="944123"/>
            <a:ext cx="32004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결론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3E757C-0629-E78E-5D4A-FA9EEA6003EC}"/>
              </a:ext>
            </a:extLst>
          </p:cNvPr>
          <p:cNvSpPr txBox="1"/>
          <p:nvPr/>
        </p:nvSpPr>
        <p:spPr>
          <a:xfrm>
            <a:off x="1295400" y="2623500"/>
            <a:ext cx="5040000" cy="43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6A547-3370-94B5-D699-F8EFE4ECBE12}"/>
              </a:ext>
            </a:extLst>
          </p:cNvPr>
          <p:cNvSpPr txBox="1"/>
          <p:nvPr/>
        </p:nvSpPr>
        <p:spPr>
          <a:xfrm>
            <a:off x="2187151" y="2556391"/>
            <a:ext cx="3581400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000"/>
              <a:t>Control Plane (Master Node)</a:t>
            </a:r>
            <a:endParaRPr lang="ko-KR" altLang="en-US" sz="2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713B43-4285-834F-9009-BF0F288C4BC2}"/>
              </a:ext>
            </a:extLst>
          </p:cNvPr>
          <p:cNvSpPr txBox="1"/>
          <p:nvPr/>
        </p:nvSpPr>
        <p:spPr>
          <a:xfrm>
            <a:off x="1598333" y="2970069"/>
            <a:ext cx="4351574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ko-KR" altLang="en-US" sz="20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FBDBB5-2C6B-B9DA-BC18-B6E48F1E258B}"/>
              </a:ext>
            </a:extLst>
          </p:cNvPr>
          <p:cNvSpPr txBox="1"/>
          <p:nvPr/>
        </p:nvSpPr>
        <p:spPr>
          <a:xfrm>
            <a:off x="1638194" y="3870903"/>
            <a:ext cx="4358851" cy="142998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1B84-AD9E-9DEF-961B-D588AB0B8031}"/>
              </a:ext>
            </a:extLst>
          </p:cNvPr>
          <p:cNvSpPr txBox="1"/>
          <p:nvPr/>
        </p:nvSpPr>
        <p:spPr>
          <a:xfrm>
            <a:off x="1666223" y="5643361"/>
            <a:ext cx="1980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9E7BA9-7C84-B2F3-2EDB-DBF2AD5BBF38}"/>
              </a:ext>
            </a:extLst>
          </p:cNvPr>
          <p:cNvSpPr txBox="1"/>
          <p:nvPr/>
        </p:nvSpPr>
        <p:spPr>
          <a:xfrm>
            <a:off x="3034808" y="4337936"/>
            <a:ext cx="1485900" cy="83099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>
                <a:latin typeface="+mn-ea"/>
              </a:rPr>
              <a:t>API Server</a:t>
            </a:r>
            <a:endParaRPr lang="ko-KR" altLang="en-US" sz="240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1F59E7-E85B-073B-DE70-FFF2C99C7F2F}"/>
              </a:ext>
            </a:extLst>
          </p:cNvPr>
          <p:cNvSpPr txBox="1"/>
          <p:nvPr/>
        </p:nvSpPr>
        <p:spPr>
          <a:xfrm>
            <a:off x="1920646" y="5998695"/>
            <a:ext cx="1447800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+mn-ea"/>
              </a:rPr>
              <a:t>Scheduler</a:t>
            </a:r>
            <a:endParaRPr lang="ko-KR" altLang="en-US" sz="200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B61D21-17C1-26CB-F75E-51A0611887EF}"/>
              </a:ext>
            </a:extLst>
          </p:cNvPr>
          <p:cNvSpPr txBox="1"/>
          <p:nvPr/>
        </p:nvSpPr>
        <p:spPr>
          <a:xfrm>
            <a:off x="3977851" y="8311367"/>
            <a:ext cx="1972056" cy="106428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F33116-711E-C21D-7D1C-5A70A1897464}"/>
              </a:ext>
            </a:extLst>
          </p:cNvPr>
          <p:cNvSpPr txBox="1"/>
          <p:nvPr/>
        </p:nvSpPr>
        <p:spPr>
          <a:xfrm>
            <a:off x="12954000" y="5080829"/>
            <a:ext cx="4320000" cy="216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C39F71-3044-AA32-2256-0E7C8D2A3201}"/>
              </a:ext>
            </a:extLst>
          </p:cNvPr>
          <p:cNvSpPr txBox="1"/>
          <p:nvPr/>
        </p:nvSpPr>
        <p:spPr>
          <a:xfrm>
            <a:off x="12500399" y="2630332"/>
            <a:ext cx="1608371" cy="24759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A55D5-3985-3A08-E319-2AB36397CB42}"/>
              </a:ext>
            </a:extLst>
          </p:cNvPr>
          <p:cNvSpPr txBox="1"/>
          <p:nvPr/>
        </p:nvSpPr>
        <p:spPr>
          <a:xfrm>
            <a:off x="4017045" y="5643361"/>
            <a:ext cx="1980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35FF68-62D8-2454-3AC3-085E97EA6E65}"/>
              </a:ext>
            </a:extLst>
          </p:cNvPr>
          <p:cNvSpPr txBox="1"/>
          <p:nvPr/>
        </p:nvSpPr>
        <p:spPr>
          <a:xfrm>
            <a:off x="4283145" y="5887877"/>
            <a:ext cx="144780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+mn-ea"/>
              </a:rPr>
              <a:t>Controller Manager</a:t>
            </a:r>
            <a:endParaRPr lang="ko-KR" altLang="en-US" sz="2000">
              <a:latin typeface="+mn-ea"/>
            </a:endParaRPr>
          </a:p>
        </p:txBody>
      </p:sp>
      <p:pic>
        <p:nvPicPr>
          <p:cNvPr id="28" name="그림 27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5F7F3C9-6495-7299-D27B-05915EC8D5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67" t="6550" r="9340" b="2529"/>
          <a:stretch/>
        </p:blipFill>
        <p:spPr>
          <a:xfrm>
            <a:off x="1666223" y="2988887"/>
            <a:ext cx="629629" cy="714750"/>
          </a:xfrm>
          <a:prstGeom prst="rect">
            <a:avLst/>
          </a:prstGeom>
          <a:ln w="38100">
            <a:noFill/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A55A75D-E377-763B-9876-D1E30D089CC8}"/>
              </a:ext>
            </a:extLst>
          </p:cNvPr>
          <p:cNvSpPr txBox="1"/>
          <p:nvPr/>
        </p:nvSpPr>
        <p:spPr>
          <a:xfrm>
            <a:off x="3034808" y="3086206"/>
            <a:ext cx="1485900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>
                <a:latin typeface="+mn-ea"/>
              </a:rPr>
              <a:t>Etcd</a:t>
            </a:r>
            <a:endParaRPr lang="ko-KR" altLang="en-US" sz="2400"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67F29F-74F5-A97A-7AB0-EE43759106DD}"/>
              </a:ext>
            </a:extLst>
          </p:cNvPr>
          <p:cNvSpPr txBox="1"/>
          <p:nvPr/>
        </p:nvSpPr>
        <p:spPr>
          <a:xfrm>
            <a:off x="7337377" y="2630332"/>
            <a:ext cx="3060000" cy="180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87FB11BE-C870-1650-E4F1-D23E4B4BDD9B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6858000" y="3530332"/>
            <a:ext cx="47937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B2813173-E611-12D9-AB82-ABC6535AE2B9}"/>
              </a:ext>
            </a:extLst>
          </p:cNvPr>
          <p:cNvCxnSpPr/>
          <p:nvPr/>
        </p:nvCxnSpPr>
        <p:spPr>
          <a:xfrm flipH="1">
            <a:off x="6858000" y="6023827"/>
            <a:ext cx="47937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9CE9D752-5C43-B3E4-0AAE-0D43D0B92645}"/>
              </a:ext>
            </a:extLst>
          </p:cNvPr>
          <p:cNvCxnSpPr>
            <a:cxnSpLocks/>
          </p:cNvCxnSpPr>
          <p:nvPr/>
        </p:nvCxnSpPr>
        <p:spPr>
          <a:xfrm flipV="1">
            <a:off x="6874081" y="3547871"/>
            <a:ext cx="0" cy="7900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009BCC64-EDB5-DB9F-8361-319C295D065C}"/>
              </a:ext>
            </a:extLst>
          </p:cNvPr>
          <p:cNvCxnSpPr>
            <a:cxnSpLocks/>
          </p:cNvCxnSpPr>
          <p:nvPr/>
        </p:nvCxnSpPr>
        <p:spPr>
          <a:xfrm flipV="1">
            <a:off x="6874081" y="4966704"/>
            <a:ext cx="0" cy="106222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28E92D3-335F-4DB2-7B6C-D510E7544C22}"/>
              </a:ext>
            </a:extLst>
          </p:cNvPr>
          <p:cNvCxnSpPr>
            <a:cxnSpLocks/>
          </p:cNvCxnSpPr>
          <p:nvPr/>
        </p:nvCxnSpPr>
        <p:spPr>
          <a:xfrm flipH="1">
            <a:off x="6089326" y="4337936"/>
            <a:ext cx="78475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759124D-97CE-024F-5C05-5169CD29954C}"/>
              </a:ext>
            </a:extLst>
          </p:cNvPr>
          <p:cNvCxnSpPr>
            <a:cxnSpLocks/>
          </p:cNvCxnSpPr>
          <p:nvPr/>
        </p:nvCxnSpPr>
        <p:spPr>
          <a:xfrm flipH="1">
            <a:off x="6089326" y="4966704"/>
            <a:ext cx="78475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2A442EF-B8DC-36E9-F9B7-A1559260FCE6}"/>
              </a:ext>
            </a:extLst>
          </p:cNvPr>
          <p:cNvSpPr txBox="1"/>
          <p:nvPr/>
        </p:nvSpPr>
        <p:spPr>
          <a:xfrm>
            <a:off x="7532326" y="3203788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84FD01-0FB7-4092-ED9A-ED5BF198DE92}"/>
              </a:ext>
            </a:extLst>
          </p:cNvPr>
          <p:cNvSpPr txBox="1"/>
          <p:nvPr/>
        </p:nvSpPr>
        <p:spPr>
          <a:xfrm>
            <a:off x="9003057" y="3190220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7913AF-436D-E663-BA9B-3180B3303783}"/>
              </a:ext>
            </a:extLst>
          </p:cNvPr>
          <p:cNvSpPr txBox="1"/>
          <p:nvPr/>
        </p:nvSpPr>
        <p:spPr>
          <a:xfrm>
            <a:off x="7469496" y="3568024"/>
            <a:ext cx="1054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err="1">
                <a:latin typeface="+mn-ea"/>
              </a:rPr>
              <a:t>Kubelet</a:t>
            </a:r>
            <a:endParaRPr lang="ko-KR" altLang="en-US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D1ACA1-2923-B327-E15D-AD7AA11C8023}"/>
              </a:ext>
            </a:extLst>
          </p:cNvPr>
          <p:cNvSpPr txBox="1"/>
          <p:nvPr/>
        </p:nvSpPr>
        <p:spPr>
          <a:xfrm>
            <a:off x="8924146" y="3379122"/>
            <a:ext cx="1054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latin typeface="+mn-ea"/>
              </a:rPr>
              <a:t>Kube</a:t>
            </a:r>
          </a:p>
          <a:p>
            <a:pPr algn="ctr"/>
            <a:r>
              <a:rPr lang="en-US" altLang="ko-KR">
                <a:latin typeface="+mn-ea"/>
              </a:rPr>
              <a:t>proxy</a:t>
            </a:r>
            <a:endParaRPr lang="ko-KR" altLang="en-US">
              <a:latin typeface="+mn-ea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0897A0-A7D3-16E0-451E-752773197D4E}"/>
              </a:ext>
            </a:extLst>
          </p:cNvPr>
          <p:cNvSpPr txBox="1"/>
          <p:nvPr/>
        </p:nvSpPr>
        <p:spPr>
          <a:xfrm>
            <a:off x="7327683" y="5143800"/>
            <a:ext cx="3060000" cy="180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C073C9-787C-B1E0-065C-527C85D1B158}"/>
              </a:ext>
            </a:extLst>
          </p:cNvPr>
          <p:cNvSpPr txBox="1"/>
          <p:nvPr/>
        </p:nvSpPr>
        <p:spPr>
          <a:xfrm>
            <a:off x="7545789" y="5701820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FCB418-3E15-CE97-F035-0F9618342510}"/>
              </a:ext>
            </a:extLst>
          </p:cNvPr>
          <p:cNvSpPr txBox="1"/>
          <p:nvPr/>
        </p:nvSpPr>
        <p:spPr>
          <a:xfrm>
            <a:off x="9016520" y="5688252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3A6B25-0FC7-E06F-4C7F-C08D15AADEDC}"/>
              </a:ext>
            </a:extLst>
          </p:cNvPr>
          <p:cNvSpPr txBox="1"/>
          <p:nvPr/>
        </p:nvSpPr>
        <p:spPr>
          <a:xfrm>
            <a:off x="7482959" y="6066056"/>
            <a:ext cx="1054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err="1">
                <a:latin typeface="+mn-ea"/>
              </a:rPr>
              <a:t>Kubelet</a:t>
            </a:r>
            <a:endParaRPr lang="ko-KR" altLang="en-US"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5BB799-0424-7652-639B-BFEDFDEDD060}"/>
              </a:ext>
            </a:extLst>
          </p:cNvPr>
          <p:cNvSpPr txBox="1"/>
          <p:nvPr/>
        </p:nvSpPr>
        <p:spPr>
          <a:xfrm>
            <a:off x="8937609" y="5877154"/>
            <a:ext cx="1054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latin typeface="+mn-ea"/>
              </a:rPr>
              <a:t>Kube</a:t>
            </a:r>
          </a:p>
          <a:p>
            <a:pPr algn="ctr"/>
            <a:r>
              <a:rPr lang="en-US" altLang="ko-KR">
                <a:latin typeface="+mn-ea"/>
              </a:rPr>
              <a:t>proxy</a:t>
            </a:r>
            <a:endParaRPr lang="ko-KR" altLang="en-US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644E4815-73C1-9989-9B11-A8EE7569165D}"/>
              </a:ext>
            </a:extLst>
          </p:cNvPr>
          <p:cNvCxnSpPr>
            <a:cxnSpLocks/>
          </p:cNvCxnSpPr>
          <p:nvPr/>
        </p:nvCxnSpPr>
        <p:spPr>
          <a:xfrm flipV="1">
            <a:off x="5410200" y="3530332"/>
            <a:ext cx="0" cy="4572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041AD1B0-0D28-8C31-81F0-1D13679619AF}"/>
              </a:ext>
            </a:extLst>
          </p:cNvPr>
          <p:cNvCxnSpPr>
            <a:cxnSpLocks/>
          </p:cNvCxnSpPr>
          <p:nvPr/>
        </p:nvCxnSpPr>
        <p:spPr>
          <a:xfrm>
            <a:off x="3034808" y="5212214"/>
            <a:ext cx="0" cy="5712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2B7AF6E-685F-1D38-A998-73BEC3B71A70}"/>
              </a:ext>
            </a:extLst>
          </p:cNvPr>
          <p:cNvCxnSpPr>
            <a:cxnSpLocks/>
          </p:cNvCxnSpPr>
          <p:nvPr/>
        </p:nvCxnSpPr>
        <p:spPr>
          <a:xfrm>
            <a:off x="5410200" y="5212214"/>
            <a:ext cx="0" cy="5712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C64B45FB-5C8A-5925-21D7-C3A54D21E7F6}"/>
              </a:ext>
            </a:extLst>
          </p:cNvPr>
          <p:cNvSpPr txBox="1"/>
          <p:nvPr/>
        </p:nvSpPr>
        <p:spPr>
          <a:xfrm>
            <a:off x="7469496" y="2721477"/>
            <a:ext cx="2741304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000"/>
              <a:t>Worker Node1</a:t>
            </a:r>
            <a:endParaRPr lang="ko-KR" altLang="en-US" sz="20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3E2C8A-C06C-B963-E098-EFF3070DEC3B}"/>
              </a:ext>
            </a:extLst>
          </p:cNvPr>
          <p:cNvSpPr txBox="1"/>
          <p:nvPr/>
        </p:nvSpPr>
        <p:spPr>
          <a:xfrm>
            <a:off x="7523519" y="5238810"/>
            <a:ext cx="2741304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000"/>
              <a:t>Worker Node2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559995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4568-0ED5-87F3-4511-581A6E03D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09EE0DA-B9B7-C223-73F5-D93C31087BB1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85FC633-4072-A966-E504-450F03A28FB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1E5EBF2-8719-972D-ACE3-AA826BE76E13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8648B730-D60B-A943-709E-6271FD0CD5BA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BC3AC2D8-8C21-FABD-E7F0-AAC51EA19761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그림 10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7E79238-20D5-7E9B-8AD7-C024228C2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038" y="3485268"/>
            <a:ext cx="2477236" cy="24772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F517E6-1431-7AEE-D05A-7D25657D749F}"/>
              </a:ext>
            </a:extLst>
          </p:cNvPr>
          <p:cNvSpPr txBox="1"/>
          <p:nvPr/>
        </p:nvSpPr>
        <p:spPr>
          <a:xfrm>
            <a:off x="499671" y="2971286"/>
            <a:ext cx="2438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client</a:t>
            </a:r>
            <a:endParaRPr lang="ko-KR" altLang="en-US" sz="3200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8F84A9-58A8-2FA3-4324-60633E5FCD42}"/>
              </a:ext>
            </a:extLst>
          </p:cNvPr>
          <p:cNvSpPr txBox="1"/>
          <p:nvPr/>
        </p:nvSpPr>
        <p:spPr>
          <a:xfrm>
            <a:off x="4267200" y="3909525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  <a:endParaRPr lang="ko-KR" altLang="en-US" sz="2800" b="1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0CE77F-C387-B6F0-6768-C5864B860F85}"/>
              </a:ext>
            </a:extLst>
          </p:cNvPr>
          <p:cNvSpPr txBox="1"/>
          <p:nvPr/>
        </p:nvSpPr>
        <p:spPr>
          <a:xfrm>
            <a:off x="9110470" y="2208506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  <a:endParaRPr lang="ko-KR" altLang="en-US" sz="2800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D60CB8-3758-EBBA-1BC7-4C48496C3E71}"/>
              </a:ext>
            </a:extLst>
          </p:cNvPr>
          <p:cNvSpPr txBox="1"/>
          <p:nvPr/>
        </p:nvSpPr>
        <p:spPr>
          <a:xfrm>
            <a:off x="4267200" y="6491561"/>
            <a:ext cx="2832662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  <a:endParaRPr lang="ko-KR" altLang="en-US" sz="2800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1B4C73-8ACA-338A-6CE6-A9B8F5BCD407}"/>
              </a:ext>
            </a:extLst>
          </p:cNvPr>
          <p:cNvSpPr txBox="1"/>
          <p:nvPr/>
        </p:nvSpPr>
        <p:spPr>
          <a:xfrm>
            <a:off x="9110470" y="4026481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  <a:endParaRPr lang="ko-KR" altLang="en-US" sz="2800" b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F0A466-6BD5-432A-8D69-BDC0BB5B7B53}"/>
              </a:ext>
            </a:extLst>
          </p:cNvPr>
          <p:cNvSpPr txBox="1"/>
          <p:nvPr/>
        </p:nvSpPr>
        <p:spPr>
          <a:xfrm>
            <a:off x="9125709" y="587643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  <a:endParaRPr lang="ko-KR" altLang="en-US" sz="2800" b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4B92024-3BED-07C7-5F3F-996887FD6CFA}"/>
              </a:ext>
            </a:extLst>
          </p:cNvPr>
          <p:cNvCxnSpPr>
            <a:cxnSpLocks/>
          </p:cNvCxnSpPr>
          <p:nvPr/>
        </p:nvCxnSpPr>
        <p:spPr>
          <a:xfrm flipH="1">
            <a:off x="3124199" y="4840906"/>
            <a:ext cx="792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16B0200E-2CB1-894D-AA4B-717471987657}"/>
              </a:ext>
            </a:extLst>
          </p:cNvPr>
          <p:cNvCxnSpPr>
            <a:cxnSpLocks/>
          </p:cNvCxnSpPr>
          <p:nvPr/>
        </p:nvCxnSpPr>
        <p:spPr>
          <a:xfrm>
            <a:off x="3124199" y="4417033"/>
            <a:ext cx="792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72CED2CF-67DA-2D55-2D83-32E31E284C99}"/>
              </a:ext>
            </a:extLst>
          </p:cNvPr>
          <p:cNvCxnSpPr>
            <a:cxnSpLocks/>
          </p:cNvCxnSpPr>
          <p:nvPr/>
        </p:nvCxnSpPr>
        <p:spPr>
          <a:xfrm flipV="1">
            <a:off x="7392915" y="2971121"/>
            <a:ext cx="1080000" cy="648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C67DBB0-E9AC-82C5-7B91-3AEC4F008DB7}"/>
              </a:ext>
            </a:extLst>
          </p:cNvPr>
          <p:cNvCxnSpPr>
            <a:cxnSpLocks/>
          </p:cNvCxnSpPr>
          <p:nvPr/>
        </p:nvCxnSpPr>
        <p:spPr>
          <a:xfrm flipV="1">
            <a:off x="7354235" y="4534313"/>
            <a:ext cx="1260000" cy="73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20F0531-A6C3-1161-4112-2FBEF0AD6291}"/>
              </a:ext>
            </a:extLst>
          </p:cNvPr>
          <p:cNvCxnSpPr>
            <a:cxnSpLocks/>
          </p:cNvCxnSpPr>
          <p:nvPr/>
        </p:nvCxnSpPr>
        <p:spPr>
          <a:xfrm>
            <a:off x="7399531" y="5510678"/>
            <a:ext cx="1080000" cy="648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EE843747-DDAF-26D6-E333-58C06539F0BF}"/>
              </a:ext>
            </a:extLst>
          </p:cNvPr>
          <p:cNvCxnSpPr>
            <a:cxnSpLocks/>
          </p:cNvCxnSpPr>
          <p:nvPr/>
        </p:nvCxnSpPr>
        <p:spPr>
          <a:xfrm>
            <a:off x="5562600" y="5510678"/>
            <a:ext cx="0" cy="7758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BAA3924-B4AA-5BEB-00C4-E90440149C8A}"/>
              </a:ext>
            </a:extLst>
          </p:cNvPr>
          <p:cNvCxnSpPr>
            <a:cxnSpLocks/>
          </p:cNvCxnSpPr>
          <p:nvPr/>
        </p:nvCxnSpPr>
        <p:spPr>
          <a:xfrm>
            <a:off x="5562600" y="7581900"/>
            <a:ext cx="0" cy="6477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397F166-9B16-2422-C2FF-71DDB6B6417C}"/>
              </a:ext>
            </a:extLst>
          </p:cNvPr>
          <p:cNvCxnSpPr>
            <a:cxnSpLocks/>
          </p:cNvCxnSpPr>
          <p:nvPr/>
        </p:nvCxnSpPr>
        <p:spPr>
          <a:xfrm flipV="1">
            <a:off x="5562600" y="8229600"/>
            <a:ext cx="6934200" cy="7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2F29F2A2-E692-61F7-1C78-CD00959EFF6A}"/>
              </a:ext>
            </a:extLst>
          </p:cNvPr>
          <p:cNvCxnSpPr>
            <a:cxnSpLocks/>
          </p:cNvCxnSpPr>
          <p:nvPr/>
        </p:nvCxnSpPr>
        <p:spPr>
          <a:xfrm>
            <a:off x="12496800" y="2665090"/>
            <a:ext cx="0" cy="557213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93BE54CE-D0D1-258B-1B72-44B3A156EDB4}"/>
              </a:ext>
            </a:extLst>
          </p:cNvPr>
          <p:cNvCxnSpPr/>
          <p:nvPr/>
        </p:nvCxnSpPr>
        <p:spPr>
          <a:xfrm flipH="1">
            <a:off x="11887200" y="2686995"/>
            <a:ext cx="609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9BE9876-F46F-3A5A-6487-133AF075E643}"/>
              </a:ext>
            </a:extLst>
          </p:cNvPr>
          <p:cNvCxnSpPr/>
          <p:nvPr/>
        </p:nvCxnSpPr>
        <p:spPr>
          <a:xfrm flipH="1">
            <a:off x="11887200" y="4534312"/>
            <a:ext cx="609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6E71DBDD-DADA-3E35-C132-5F686D941384}"/>
              </a:ext>
            </a:extLst>
          </p:cNvPr>
          <p:cNvCxnSpPr/>
          <p:nvPr/>
        </p:nvCxnSpPr>
        <p:spPr>
          <a:xfrm flipH="1">
            <a:off x="11887200" y="6398399"/>
            <a:ext cx="609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165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43699-386E-8934-C0A2-96B756F8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79526B3-A0E2-8818-5FFC-A35C3C67F8A6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1E5CDA9-50D7-1BC9-F70D-94C7E152D3ED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E202DC0-77EF-0338-10B0-EB4B1D721EC4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9E2BC892-F0A8-E51A-45F8-5A330523E7B1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918B6B2-D912-EC3E-2CA9-FD09E4660358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6443F0-8C75-12AC-A884-DB13F9344BA2}"/>
              </a:ext>
            </a:extLst>
          </p:cNvPr>
          <p:cNvSpPr txBox="1"/>
          <p:nvPr/>
        </p:nvSpPr>
        <p:spPr>
          <a:xfrm>
            <a:off x="4495800" y="2933700"/>
            <a:ext cx="1440000" cy="14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A6452A-F99A-5BE1-5042-CD57C54D36CC}"/>
              </a:ext>
            </a:extLst>
          </p:cNvPr>
          <p:cNvSpPr txBox="1"/>
          <p:nvPr/>
        </p:nvSpPr>
        <p:spPr>
          <a:xfrm>
            <a:off x="1447800" y="2933700"/>
            <a:ext cx="2016000" cy="396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B10951-28E8-8013-DC0A-86419985B12A}"/>
              </a:ext>
            </a:extLst>
          </p:cNvPr>
          <p:cNvSpPr txBox="1"/>
          <p:nvPr/>
        </p:nvSpPr>
        <p:spPr>
          <a:xfrm>
            <a:off x="1600199" y="3230117"/>
            <a:ext cx="1728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02CA39-FB17-ADE8-F18E-45C4A1257061}"/>
              </a:ext>
            </a:extLst>
          </p:cNvPr>
          <p:cNvSpPr txBox="1"/>
          <p:nvPr/>
        </p:nvSpPr>
        <p:spPr>
          <a:xfrm>
            <a:off x="1808206" y="3562860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Exchange</a:t>
            </a:r>
            <a:endParaRPr lang="ko-KR" alt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F4CB2E-9914-1A5C-85CC-5CC22CE27CC3}"/>
              </a:ext>
            </a:extLst>
          </p:cNvPr>
          <p:cNvSpPr txBox="1"/>
          <p:nvPr/>
        </p:nvSpPr>
        <p:spPr>
          <a:xfrm>
            <a:off x="1600199" y="5436884"/>
            <a:ext cx="1728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FE0E3D-D07B-D6E3-8866-0A7D10579EA2}"/>
              </a:ext>
            </a:extLst>
          </p:cNvPr>
          <p:cNvSpPr txBox="1"/>
          <p:nvPr/>
        </p:nvSpPr>
        <p:spPr>
          <a:xfrm>
            <a:off x="1808206" y="5776829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Queue</a:t>
            </a:r>
            <a:endParaRPr lang="ko-KR" altLang="en-US" sz="200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9A21950-CEF0-CF7C-DCDE-1E90ED8D3064}"/>
              </a:ext>
            </a:extLst>
          </p:cNvPr>
          <p:cNvCxnSpPr/>
          <p:nvPr/>
        </p:nvCxnSpPr>
        <p:spPr>
          <a:xfrm>
            <a:off x="2057400" y="4500308"/>
            <a:ext cx="0" cy="82678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CC6045-10BF-7BA6-0A74-48D5DA9C0AB3}"/>
              </a:ext>
            </a:extLst>
          </p:cNvPr>
          <p:cNvSpPr txBox="1"/>
          <p:nvPr/>
        </p:nvSpPr>
        <p:spPr>
          <a:xfrm>
            <a:off x="2030377" y="4696260"/>
            <a:ext cx="1295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Binding</a:t>
            </a:r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21375-8A88-5162-A5D8-B80F4E752A02}"/>
              </a:ext>
            </a:extLst>
          </p:cNvPr>
          <p:cNvSpPr txBox="1"/>
          <p:nvPr/>
        </p:nvSpPr>
        <p:spPr>
          <a:xfrm>
            <a:off x="4568206" y="3453645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Producer</a:t>
            </a:r>
            <a:endParaRPr lang="ko-KR" altLang="en-US" sz="20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2F04BC-2F08-F85F-5941-F39128C73E6E}"/>
              </a:ext>
            </a:extLst>
          </p:cNvPr>
          <p:cNvSpPr txBox="1"/>
          <p:nvPr/>
        </p:nvSpPr>
        <p:spPr>
          <a:xfrm>
            <a:off x="4568206" y="5346904"/>
            <a:ext cx="1440000" cy="14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2C9055-2E3A-95CB-F9C5-BD527A91CB65}"/>
              </a:ext>
            </a:extLst>
          </p:cNvPr>
          <p:cNvSpPr txBox="1"/>
          <p:nvPr/>
        </p:nvSpPr>
        <p:spPr>
          <a:xfrm>
            <a:off x="4625372" y="5866849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Consumer</a:t>
            </a:r>
            <a:endParaRPr lang="ko-KR" altLang="en-US" sz="2000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911349-4E25-D503-3735-C15695947F6E}"/>
              </a:ext>
            </a:extLst>
          </p:cNvPr>
          <p:cNvCxnSpPr>
            <a:cxnSpLocks/>
          </p:cNvCxnSpPr>
          <p:nvPr/>
        </p:nvCxnSpPr>
        <p:spPr>
          <a:xfrm flipV="1">
            <a:off x="3553005" y="6176939"/>
            <a:ext cx="936000" cy="2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F233D4DE-C262-C48C-01C4-49D079D25670}"/>
              </a:ext>
            </a:extLst>
          </p:cNvPr>
          <p:cNvCxnSpPr>
            <a:cxnSpLocks/>
          </p:cNvCxnSpPr>
          <p:nvPr/>
        </p:nvCxnSpPr>
        <p:spPr>
          <a:xfrm flipH="1" flipV="1">
            <a:off x="3511822" y="3762915"/>
            <a:ext cx="936000" cy="72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D072474-31EA-B1BB-C0D3-164B3205FB32}"/>
              </a:ext>
            </a:extLst>
          </p:cNvPr>
          <p:cNvSpPr txBox="1"/>
          <p:nvPr/>
        </p:nvSpPr>
        <p:spPr>
          <a:xfrm>
            <a:off x="3360726" y="3331517"/>
            <a:ext cx="1295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Publish</a:t>
            </a:r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0DA1D9-3AE2-579D-7517-7AB128B06794}"/>
              </a:ext>
            </a:extLst>
          </p:cNvPr>
          <p:cNvSpPr txBox="1"/>
          <p:nvPr/>
        </p:nvSpPr>
        <p:spPr>
          <a:xfrm>
            <a:off x="3344183" y="5726630"/>
            <a:ext cx="1295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Consumes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609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3345B-0F29-B2D5-E89D-1073AEF66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7D7A7F1-000E-2410-561E-E6BA4D330A27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9B45AB6-77C1-7017-CBCA-DFB1269D6A4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68FAD1C-686B-8F70-0A77-C8C50879E12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AB72FB55-8D0E-E79F-3F3F-E33FB2A03514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21B93F5-DA78-2302-F22D-59BEF5445267}"/>
              </a:ext>
            </a:extLst>
          </p:cNvPr>
          <p:cNvSpPr txBox="1"/>
          <p:nvPr/>
        </p:nvSpPr>
        <p:spPr>
          <a:xfrm>
            <a:off x="2362200" y="2554761"/>
            <a:ext cx="9067800" cy="938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976C5FA-F76D-DF43-3A0C-9455449F90DF}"/>
              </a:ext>
            </a:extLst>
          </p:cNvPr>
          <p:cNvSpPr txBox="1"/>
          <p:nvPr/>
        </p:nvSpPr>
        <p:spPr>
          <a:xfrm>
            <a:off x="0" y="944123"/>
            <a:ext cx="32004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Reference</a:t>
            </a: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텍스트 상자 2">
            <a:extLst>
              <a:ext uri="{FF2B5EF4-FFF2-40B4-BE49-F238E27FC236}">
                <a16:creationId xmlns:a16="http://schemas.microsoft.com/office/drawing/2014/main" id="{17468DDA-84EE-7A93-3DB5-B2C04D0C653D}"/>
              </a:ext>
            </a:extLst>
          </p:cNvPr>
          <p:cNvSpPr txBox="1">
            <a:spLocks/>
          </p:cNvSpPr>
          <p:nvPr/>
        </p:nvSpPr>
        <p:spPr>
          <a:xfrm>
            <a:off x="1638194" y="2171700"/>
            <a:ext cx="15468600" cy="190539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endParaRPr lang="en-US" altLang="ko-KR" sz="32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852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A11B60C-FF72-77FC-A37F-666CBD4F63A9}"/>
              </a:ext>
            </a:extLst>
          </p:cNvPr>
          <p:cNvCxnSpPr>
            <a:cxnSpLocks/>
          </p:cNvCxnSpPr>
          <p:nvPr/>
        </p:nvCxnSpPr>
        <p:spPr>
          <a:xfrm flipV="1">
            <a:off x="3200400" y="2019300"/>
            <a:ext cx="0" cy="432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1DA9ECC8-4578-1309-BF10-E20850D5EE57}"/>
              </a:ext>
            </a:extLst>
          </p:cNvPr>
          <p:cNvCxnSpPr>
            <a:cxnSpLocks/>
          </p:cNvCxnSpPr>
          <p:nvPr/>
        </p:nvCxnSpPr>
        <p:spPr>
          <a:xfrm>
            <a:off x="3200400" y="6362700"/>
            <a:ext cx="6480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84AAB0E-532A-5929-35E4-CB0656C55DD9}"/>
              </a:ext>
            </a:extLst>
          </p:cNvPr>
          <p:cNvCxnSpPr/>
          <p:nvPr/>
        </p:nvCxnSpPr>
        <p:spPr>
          <a:xfrm>
            <a:off x="5257800" y="2247900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EEDE279-A9FD-356E-8977-4487FE393C1F}"/>
              </a:ext>
            </a:extLst>
          </p:cNvPr>
          <p:cNvCxnSpPr/>
          <p:nvPr/>
        </p:nvCxnSpPr>
        <p:spPr>
          <a:xfrm>
            <a:off x="7467600" y="2247900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1A2547F-695C-DBEF-5DDE-61ABE9CB39C6}"/>
              </a:ext>
            </a:extLst>
          </p:cNvPr>
          <p:cNvSpPr txBox="1"/>
          <p:nvPr/>
        </p:nvSpPr>
        <p:spPr>
          <a:xfrm>
            <a:off x="5602200" y="6517501"/>
            <a:ext cx="167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/>
              <a:t>종속성 수준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FBEB1F-FAA1-798F-3636-8CA6EB765F35}"/>
              </a:ext>
            </a:extLst>
          </p:cNvPr>
          <p:cNvSpPr txBox="1"/>
          <p:nvPr/>
        </p:nvSpPr>
        <p:spPr>
          <a:xfrm>
            <a:off x="2107101" y="2239617"/>
            <a:ext cx="109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/>
              <a:t>개발 방법론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8303A20-971F-F57C-B251-F927BFF3E227}"/>
              </a:ext>
            </a:extLst>
          </p:cNvPr>
          <p:cNvCxnSpPr>
            <a:cxnSpLocks/>
          </p:cNvCxnSpPr>
          <p:nvPr/>
        </p:nvCxnSpPr>
        <p:spPr>
          <a:xfrm flipH="1">
            <a:off x="3200400" y="3467100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769F2D1-BB0F-3F29-06E6-5D579DA4F84C}"/>
              </a:ext>
            </a:extLst>
          </p:cNvPr>
          <p:cNvCxnSpPr>
            <a:cxnSpLocks/>
          </p:cNvCxnSpPr>
          <p:nvPr/>
        </p:nvCxnSpPr>
        <p:spPr>
          <a:xfrm flipH="1">
            <a:off x="3200400" y="4838700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AFE1DD2-4796-325C-F654-419E3D60AC29}"/>
              </a:ext>
            </a:extLst>
          </p:cNvPr>
          <p:cNvSpPr txBox="1"/>
          <p:nvPr/>
        </p:nvSpPr>
        <p:spPr>
          <a:xfrm>
            <a:off x="1828800" y="3593272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Application  </a:t>
            </a:r>
            <a:r>
              <a:rPr lang="ko-KR" altLang="en-US" sz="2000"/>
              <a:t>구조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C63DE-4821-5239-DADE-9404F95144F1}"/>
              </a:ext>
            </a:extLst>
          </p:cNvPr>
          <p:cNvSpPr txBox="1"/>
          <p:nvPr/>
        </p:nvSpPr>
        <p:spPr>
          <a:xfrm>
            <a:off x="1805612" y="4991100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Infra</a:t>
            </a:r>
          </a:p>
          <a:p>
            <a:pPr algn="ctr"/>
            <a:r>
              <a:rPr lang="ko-KR" altLang="en-US" sz="2000"/>
              <a:t>구조</a:t>
            </a:r>
          </a:p>
        </p:txBody>
      </p:sp>
      <p:pic>
        <p:nvPicPr>
          <p:cNvPr id="20" name="그림 1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72B5AAD-2325-2136-7ED1-0C2F45DB99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2281336"/>
            <a:ext cx="668110" cy="668110"/>
          </a:xfrm>
          <a:prstGeom prst="rect">
            <a:avLst/>
          </a:prstGeom>
        </p:spPr>
      </p:pic>
      <p:pic>
        <p:nvPicPr>
          <p:cNvPr id="22" name="그림 21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43E572-5E1A-5E6D-878C-0416DDC69F5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42" b="6496"/>
          <a:stretch/>
        </p:blipFill>
        <p:spPr>
          <a:xfrm>
            <a:off x="3642451" y="2243701"/>
            <a:ext cx="956719" cy="815723"/>
          </a:xfrm>
          <a:prstGeom prst="rect">
            <a:avLst/>
          </a:prstGeom>
        </p:spPr>
      </p:pic>
      <p:pic>
        <p:nvPicPr>
          <p:cNvPr id="26" name="그림 25" descr="상징, 원, 클립아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EA63319-C737-984E-D3A3-76EDA1DB7CE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320" b="939"/>
          <a:stretch/>
        </p:blipFill>
        <p:spPr>
          <a:xfrm>
            <a:off x="7893071" y="2135358"/>
            <a:ext cx="1004637" cy="98223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64EA9F5-FB59-BDAD-1058-7D87784A32E4}"/>
              </a:ext>
            </a:extLst>
          </p:cNvPr>
          <p:cNvSpPr txBox="1"/>
          <p:nvPr/>
        </p:nvSpPr>
        <p:spPr>
          <a:xfrm>
            <a:off x="3349716" y="302055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Waterfall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9B107D-189D-5664-9AE7-67B4B1ECD8DB}"/>
              </a:ext>
            </a:extLst>
          </p:cNvPr>
          <p:cNvSpPr txBox="1"/>
          <p:nvPr/>
        </p:nvSpPr>
        <p:spPr>
          <a:xfrm>
            <a:off x="5544735" y="302055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Agile</a:t>
            </a:r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1DA053-D697-FA40-122C-C25F8F5F6BBB}"/>
              </a:ext>
            </a:extLst>
          </p:cNvPr>
          <p:cNvSpPr txBox="1"/>
          <p:nvPr/>
        </p:nvSpPr>
        <p:spPr>
          <a:xfrm>
            <a:off x="7693346" y="302055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DevOps, CI/CD</a:t>
            </a:r>
            <a:endParaRPr lang="ko-KR" altLang="en-US"/>
          </a:p>
        </p:txBody>
      </p:sp>
      <p:pic>
        <p:nvPicPr>
          <p:cNvPr id="31" name="그림 30" descr="스케치, 직사각형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03B8221-4C12-E4E8-9523-610DA9AA69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65" b="9204"/>
          <a:stretch/>
        </p:blipFill>
        <p:spPr>
          <a:xfrm>
            <a:off x="7882520" y="5032454"/>
            <a:ext cx="1071562" cy="90974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C209E93-F22E-4142-ACA3-E55B6839D6C7}"/>
              </a:ext>
            </a:extLst>
          </p:cNvPr>
          <p:cNvSpPr txBox="1"/>
          <p:nvPr/>
        </p:nvSpPr>
        <p:spPr>
          <a:xfrm>
            <a:off x="7621339" y="5886814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Container</a:t>
            </a:r>
            <a:endParaRPr lang="ko-KR" altLang="en-US"/>
          </a:p>
        </p:txBody>
      </p:sp>
      <p:pic>
        <p:nvPicPr>
          <p:cNvPr id="34" name="그림 33" descr="폰트, 스크린샷, 원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FCEAD52-F280-EBED-ACBF-2E108344F10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4" r="6782" b="3168"/>
          <a:stretch/>
        </p:blipFill>
        <p:spPr>
          <a:xfrm>
            <a:off x="3687159" y="4924536"/>
            <a:ext cx="919037" cy="1047528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F6588CB-1186-3C52-1B19-33BAF0EAF5BE}"/>
              </a:ext>
            </a:extLst>
          </p:cNvPr>
          <p:cNvSpPr txBox="1"/>
          <p:nvPr/>
        </p:nvSpPr>
        <p:spPr>
          <a:xfrm>
            <a:off x="3323848" y="594219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Physical Server</a:t>
            </a:r>
            <a:endParaRPr lang="ko-KR" altLang="en-US"/>
          </a:p>
        </p:txBody>
      </p:sp>
      <p:pic>
        <p:nvPicPr>
          <p:cNvPr id="37" name="그림 36" descr="스크린샷, 직사각형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CB2309D-29BD-2E8B-1DE4-BD442599A87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239" y="5032455"/>
            <a:ext cx="910756" cy="87987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6156D1A-5034-E0C0-82BC-745B785CDE1F}"/>
              </a:ext>
            </a:extLst>
          </p:cNvPr>
          <p:cNvSpPr txBox="1"/>
          <p:nvPr/>
        </p:nvSpPr>
        <p:spPr>
          <a:xfrm>
            <a:off x="5556893" y="591233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Virtual Server</a:t>
            </a:r>
            <a:endParaRPr lang="ko-KR" altLang="en-US"/>
          </a:p>
        </p:txBody>
      </p:sp>
      <p:pic>
        <p:nvPicPr>
          <p:cNvPr id="40" name="그림 39" descr="원, 그래픽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BB2F8E4-F819-B71E-84A8-2CD645D2FCE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021" y="3591163"/>
            <a:ext cx="846736" cy="864342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F815CAB-8EFA-D6E1-CE4A-10E760E7AFB4}"/>
              </a:ext>
            </a:extLst>
          </p:cNvPr>
          <p:cNvSpPr txBox="1"/>
          <p:nvPr/>
        </p:nvSpPr>
        <p:spPr>
          <a:xfrm>
            <a:off x="7598427" y="443206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Microservice</a:t>
            </a:r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D21655-D311-D84A-9C64-0FE719871208}"/>
              </a:ext>
            </a:extLst>
          </p:cNvPr>
          <p:cNvSpPr txBox="1"/>
          <p:nvPr/>
        </p:nvSpPr>
        <p:spPr>
          <a:xfrm>
            <a:off x="7583206" y="1740441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Cloud Native</a:t>
            </a:r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A9F89C-1AB6-75A1-5668-E81F2310CF2C}"/>
              </a:ext>
            </a:extLst>
          </p:cNvPr>
          <p:cNvSpPr txBox="1"/>
          <p:nvPr/>
        </p:nvSpPr>
        <p:spPr>
          <a:xfrm>
            <a:off x="5488487" y="175300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Web</a:t>
            </a:r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6795DB-AB04-97C3-C351-E07153A1101C}"/>
              </a:ext>
            </a:extLst>
          </p:cNvPr>
          <p:cNvSpPr txBox="1"/>
          <p:nvPr/>
        </p:nvSpPr>
        <p:spPr>
          <a:xfrm>
            <a:off x="3301721" y="1778642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Legacy</a:t>
            </a:r>
            <a:endParaRPr lang="ko-KR" alt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78ADFF35-D413-5146-1495-71E7C57B11EF}"/>
              </a:ext>
            </a:extLst>
          </p:cNvPr>
          <p:cNvGrpSpPr/>
          <p:nvPr/>
        </p:nvGrpSpPr>
        <p:grpSpPr>
          <a:xfrm>
            <a:off x="3570681" y="3505642"/>
            <a:ext cx="1093703" cy="987740"/>
            <a:chOff x="9801287" y="4760635"/>
            <a:chExt cx="2529583" cy="2449437"/>
          </a:xfrm>
        </p:grpSpPr>
        <p:pic>
          <p:nvPicPr>
            <p:cNvPr id="50" name="그림 49" descr="스크린샷, 텍스트, 스케치, 폰트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D1B11229-9462-748C-DADB-5A7640C9B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1287" y="4760635"/>
              <a:ext cx="2143125" cy="2143125"/>
            </a:xfrm>
            <a:prstGeom prst="rect">
              <a:avLst/>
            </a:prstGeom>
          </p:spPr>
        </p:pic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57ED99EE-2677-2C1A-1B90-E3F20F40E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232" t="8823" r="4598" b="8564"/>
            <a:stretch/>
          </p:blipFill>
          <p:spPr>
            <a:xfrm>
              <a:off x="10984604" y="5905036"/>
              <a:ext cx="1346266" cy="1305036"/>
            </a:xfrm>
            <a:prstGeom prst="rect">
              <a:avLst/>
            </a:prstGeom>
          </p:spPr>
        </p:pic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DFDF0156-975F-34DC-1164-5A4EB6E9EE4D}"/>
              </a:ext>
            </a:extLst>
          </p:cNvPr>
          <p:cNvSpPr txBox="1"/>
          <p:nvPr/>
        </p:nvSpPr>
        <p:spPr>
          <a:xfrm>
            <a:off x="3334561" y="4455505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Monolithic</a:t>
            </a:r>
            <a:endParaRPr lang="ko-KR" altLang="en-US"/>
          </a:p>
        </p:txBody>
      </p:sp>
      <p:pic>
        <p:nvPicPr>
          <p:cNvPr id="56" name="그림 55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B0164F1-4262-F4D9-7808-72C4A9414DD1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67" t="6550" r="9340" b="2529"/>
          <a:stretch/>
        </p:blipFill>
        <p:spPr>
          <a:xfrm>
            <a:off x="5765786" y="3574430"/>
            <a:ext cx="629629" cy="714750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58A5B285-0F69-6E0D-276F-28C1158950D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232" t="8823" r="4598" b="8564"/>
          <a:stretch/>
        </p:blipFill>
        <p:spPr>
          <a:xfrm>
            <a:off x="6181245" y="3982174"/>
            <a:ext cx="582078" cy="526258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C155D630-5718-1FFC-6E57-3243EEC405FD}"/>
              </a:ext>
            </a:extLst>
          </p:cNvPr>
          <p:cNvSpPr txBox="1"/>
          <p:nvPr/>
        </p:nvSpPr>
        <p:spPr>
          <a:xfrm>
            <a:off x="5483831" y="4452885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Multi media</a:t>
            </a:r>
            <a:endParaRPr lang="ko-KR" altLang="en-US"/>
          </a:p>
        </p:txBody>
      </p:sp>
      <p:pic>
        <p:nvPicPr>
          <p:cNvPr id="61" name="그림 60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CA89EDE-F9D4-4B8E-BF1B-DAD96D6F0BB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5266" y="1277350"/>
            <a:ext cx="4300855" cy="290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5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A1103B45-2203-6E85-2303-B8C92B1CAFD6}"/>
              </a:ext>
            </a:extLst>
          </p:cNvPr>
          <p:cNvCxnSpPr>
            <a:cxnSpLocks/>
          </p:cNvCxnSpPr>
          <p:nvPr/>
        </p:nvCxnSpPr>
        <p:spPr>
          <a:xfrm flipV="1">
            <a:off x="3202969" y="2024115"/>
            <a:ext cx="0" cy="432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C64774-D0A8-4132-EA9B-E8EEF69D9FE7}"/>
              </a:ext>
            </a:extLst>
          </p:cNvPr>
          <p:cNvCxnSpPr>
            <a:cxnSpLocks/>
          </p:cNvCxnSpPr>
          <p:nvPr/>
        </p:nvCxnSpPr>
        <p:spPr>
          <a:xfrm>
            <a:off x="3202969" y="6367515"/>
            <a:ext cx="6480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F693D347-B58F-7944-FD7B-45D7441B0EE7}"/>
              </a:ext>
            </a:extLst>
          </p:cNvPr>
          <p:cNvCxnSpPr/>
          <p:nvPr/>
        </p:nvCxnSpPr>
        <p:spPr>
          <a:xfrm>
            <a:off x="5260369" y="2252715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5168D59-0ED3-3F2A-0ED4-356697566B05}"/>
              </a:ext>
            </a:extLst>
          </p:cNvPr>
          <p:cNvCxnSpPr/>
          <p:nvPr/>
        </p:nvCxnSpPr>
        <p:spPr>
          <a:xfrm>
            <a:off x="7470169" y="2252715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7077D33-70F8-D09E-03BD-10B028989906}"/>
              </a:ext>
            </a:extLst>
          </p:cNvPr>
          <p:cNvSpPr txBox="1"/>
          <p:nvPr/>
        </p:nvSpPr>
        <p:spPr>
          <a:xfrm>
            <a:off x="5604769" y="6522316"/>
            <a:ext cx="167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/>
              <a:t>종속성 수준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2A9023-CA83-FBD1-ADAA-945EF0C2A7C4}"/>
              </a:ext>
            </a:extLst>
          </p:cNvPr>
          <p:cNvSpPr txBox="1"/>
          <p:nvPr/>
        </p:nvSpPr>
        <p:spPr>
          <a:xfrm>
            <a:off x="2109670" y="2244432"/>
            <a:ext cx="109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/>
              <a:t>개발 방법론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29FFC1-A772-9DEA-64C7-27867FA03237}"/>
              </a:ext>
            </a:extLst>
          </p:cNvPr>
          <p:cNvCxnSpPr>
            <a:cxnSpLocks/>
          </p:cNvCxnSpPr>
          <p:nvPr/>
        </p:nvCxnSpPr>
        <p:spPr>
          <a:xfrm flipH="1">
            <a:off x="3202969" y="3471915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FFBED1C-9819-7528-3AFA-1AC39A608231}"/>
              </a:ext>
            </a:extLst>
          </p:cNvPr>
          <p:cNvCxnSpPr>
            <a:cxnSpLocks/>
          </p:cNvCxnSpPr>
          <p:nvPr/>
        </p:nvCxnSpPr>
        <p:spPr>
          <a:xfrm flipH="1">
            <a:off x="3202969" y="4843515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795FBA8-13F1-ED45-B785-DAEB431DCE98}"/>
              </a:ext>
            </a:extLst>
          </p:cNvPr>
          <p:cNvSpPr txBox="1"/>
          <p:nvPr/>
        </p:nvSpPr>
        <p:spPr>
          <a:xfrm>
            <a:off x="1831369" y="3598087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Application  </a:t>
            </a:r>
            <a:r>
              <a:rPr lang="ko-KR" altLang="en-US" sz="2000"/>
              <a:t>구조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513D57-3EFC-A61E-0837-A6F4694946D7}"/>
              </a:ext>
            </a:extLst>
          </p:cNvPr>
          <p:cNvSpPr txBox="1"/>
          <p:nvPr/>
        </p:nvSpPr>
        <p:spPr>
          <a:xfrm>
            <a:off x="1808181" y="4995915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Infra</a:t>
            </a:r>
          </a:p>
          <a:p>
            <a:pPr algn="ctr"/>
            <a:r>
              <a:rPr lang="ko-KR" altLang="en-US" sz="2000"/>
              <a:t>구조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1A3240-CC15-C657-32F3-70D527648652}"/>
              </a:ext>
            </a:extLst>
          </p:cNvPr>
          <p:cNvSpPr txBox="1"/>
          <p:nvPr/>
        </p:nvSpPr>
        <p:spPr>
          <a:xfrm>
            <a:off x="3368849" y="258942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Waterfall</a:t>
            </a:r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003527-6252-4BCF-8C06-06DE67E96975}"/>
              </a:ext>
            </a:extLst>
          </p:cNvPr>
          <p:cNvSpPr txBox="1"/>
          <p:nvPr/>
        </p:nvSpPr>
        <p:spPr>
          <a:xfrm>
            <a:off x="5532057" y="257691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Agile</a:t>
            </a:r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9817D3-E63A-400D-7C90-57E2F1C7A0ED}"/>
              </a:ext>
            </a:extLst>
          </p:cNvPr>
          <p:cNvSpPr txBox="1"/>
          <p:nvPr/>
        </p:nvSpPr>
        <p:spPr>
          <a:xfrm>
            <a:off x="7636050" y="257691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DevOps, CI/CD</a:t>
            </a:r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34A538-2E54-C18D-2674-75A138B460A9}"/>
              </a:ext>
            </a:extLst>
          </p:cNvPr>
          <p:cNvSpPr txBox="1"/>
          <p:nvPr/>
        </p:nvSpPr>
        <p:spPr>
          <a:xfrm>
            <a:off x="7636050" y="5385081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Container</a:t>
            </a:r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A326CA-E8FA-FA25-8D6D-81286923FC2C}"/>
              </a:ext>
            </a:extLst>
          </p:cNvPr>
          <p:cNvSpPr txBox="1"/>
          <p:nvPr/>
        </p:nvSpPr>
        <p:spPr>
          <a:xfrm>
            <a:off x="3412224" y="537451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Physical Server</a:t>
            </a:r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8762F4-C3B4-2AA7-CD59-B6354395E33D}"/>
              </a:ext>
            </a:extLst>
          </p:cNvPr>
          <p:cNvSpPr txBox="1"/>
          <p:nvPr/>
        </p:nvSpPr>
        <p:spPr>
          <a:xfrm>
            <a:off x="5535177" y="538105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Virtual Server</a:t>
            </a:r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8BBC48-7974-2B0B-C093-11A09225AB8D}"/>
              </a:ext>
            </a:extLst>
          </p:cNvPr>
          <p:cNvSpPr txBox="1"/>
          <p:nvPr/>
        </p:nvSpPr>
        <p:spPr>
          <a:xfrm>
            <a:off x="7619485" y="403754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Microservice</a:t>
            </a:r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DAE44B-22AD-44D8-B873-49D1BB0ECE2D}"/>
              </a:ext>
            </a:extLst>
          </p:cNvPr>
          <p:cNvSpPr txBox="1"/>
          <p:nvPr/>
        </p:nvSpPr>
        <p:spPr>
          <a:xfrm>
            <a:off x="7585775" y="1745256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Cloud Native</a:t>
            </a:r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F1FBA-0868-23A7-91B9-E3B680B37079}"/>
              </a:ext>
            </a:extLst>
          </p:cNvPr>
          <p:cNvSpPr txBox="1"/>
          <p:nvPr/>
        </p:nvSpPr>
        <p:spPr>
          <a:xfrm>
            <a:off x="5491056" y="175781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Web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7C3A0D-7B20-C90C-725D-06A6B1C2D1FC}"/>
              </a:ext>
            </a:extLst>
          </p:cNvPr>
          <p:cNvSpPr txBox="1"/>
          <p:nvPr/>
        </p:nvSpPr>
        <p:spPr>
          <a:xfrm>
            <a:off x="3304290" y="1783457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Legacy</a:t>
            </a:r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307D18-42D2-0E77-6F50-6FEE09839789}"/>
              </a:ext>
            </a:extLst>
          </p:cNvPr>
          <p:cNvSpPr txBox="1"/>
          <p:nvPr/>
        </p:nvSpPr>
        <p:spPr>
          <a:xfrm>
            <a:off x="3352285" y="400291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Monolithic</a:t>
            </a:r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B76767-A548-6086-CFF1-D41DF89E7F3D}"/>
              </a:ext>
            </a:extLst>
          </p:cNvPr>
          <p:cNvSpPr txBox="1"/>
          <p:nvPr/>
        </p:nvSpPr>
        <p:spPr>
          <a:xfrm>
            <a:off x="5514591" y="4020746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Multimedia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079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1810</TotalTime>
  <Words>429</Words>
  <Application>Microsoft Office PowerPoint</Application>
  <PresentationFormat>사용자 지정</PresentationFormat>
  <Paragraphs>190</Paragraphs>
  <Slides>15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4" baseType="lpstr">
      <vt:lpstr>Wingdings</vt:lpstr>
      <vt:lpstr>Glacial Indifference</vt:lpstr>
      <vt:lpstr>Arial</vt:lpstr>
      <vt:lpstr>맑은 고딕</vt:lpstr>
      <vt:lpstr>윤고딕</vt:lpstr>
      <vt:lpstr>나눔고딕</vt:lpstr>
      <vt:lpstr>Calibri</vt:lpstr>
      <vt:lpstr>윤고딕 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심플한 비지니스 프로젝트 프레젠테이션</dc:title>
  <cp:lastModifiedBy>유동균</cp:lastModifiedBy>
  <cp:revision>6</cp:revision>
  <cp:lastPrinted>2025-05-15T02:50:12Z</cp:lastPrinted>
  <dcterms:created xsi:type="dcterms:W3CDTF">2006-08-16T00:00:00Z</dcterms:created>
  <dcterms:modified xsi:type="dcterms:W3CDTF">2025-05-16T16:33:32Z</dcterms:modified>
  <dc:identifier>DAGnarjZHOY</dc:identifier>
</cp:coreProperties>
</file>