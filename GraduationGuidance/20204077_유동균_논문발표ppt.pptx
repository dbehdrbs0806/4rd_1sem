
<file path=[Content_Types].xml><?xml version="1.0" encoding="utf-8"?>
<Types xmlns="http://schemas.openxmlformats.org/package/2006/content-types">
  <Default Extension="fntdata" ContentType="application/x-fontdata"/>
  <Default Extension="jfif" ContentType="image/jpeg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9" r:id="rId4"/>
    <p:sldId id="295" r:id="rId5"/>
    <p:sldId id="260" r:id="rId6"/>
    <p:sldId id="284" r:id="rId7"/>
    <p:sldId id="283" r:id="rId8"/>
    <p:sldId id="285" r:id="rId9"/>
    <p:sldId id="286" r:id="rId10"/>
    <p:sldId id="261" r:id="rId11"/>
    <p:sldId id="273" r:id="rId12"/>
    <p:sldId id="263" r:id="rId13"/>
    <p:sldId id="287" r:id="rId14"/>
    <p:sldId id="288" r:id="rId15"/>
    <p:sldId id="264" r:id="rId16"/>
    <p:sldId id="274" r:id="rId17"/>
    <p:sldId id="290" r:id="rId18"/>
    <p:sldId id="292" r:id="rId19"/>
    <p:sldId id="293" r:id="rId20"/>
  </p:sldIdLst>
  <p:sldSz cx="18288000" cy="10287000"/>
  <p:notesSz cx="6797675" cy="9926638"/>
  <p:embeddedFontLst>
    <p:embeddedFont>
      <p:font typeface="윤고딕" panose="020B0600000101010101" charset="-127"/>
      <p:regular r:id="rId22"/>
    </p:embeddedFont>
    <p:embeddedFont>
      <p:font typeface="Glacial Indifference" panose="020B0600000101010101" charset="0"/>
      <p:regular r:id="rId23"/>
    </p:embeddedFont>
    <p:embeddedFont>
      <p:font typeface="나눔고딕" pitchFamily="2" charset="-127"/>
      <p:regular r:id="rId24"/>
      <p:bold r:id="rId25"/>
    </p:embeddedFont>
    <p:embeddedFont>
      <p:font typeface="맑은 고딕" panose="020B0503020000020004" pitchFamily="50" charset="-127"/>
      <p:regular r:id="rId26"/>
      <p:bold r:id="rId2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0" autoAdjust="0"/>
    <p:restoredTop sz="95022" autoAdjust="0"/>
  </p:normalViewPr>
  <p:slideViewPr>
    <p:cSldViewPr>
      <p:cViewPr>
        <p:scale>
          <a:sx n="66" d="100"/>
          <a:sy n="66" d="100"/>
        </p:scale>
        <p:origin x="-2274" y="561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2.fntdata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1.fntdata"/><Relationship Id="rId27" Type="http://schemas.openxmlformats.org/officeDocument/2006/relationships/font" Target="fonts/font6.fnt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40481EB-0074-453D-B3D7-B18CEF01B00F}" type="datetimeFigureOut">
              <a:rPr lang="ko-KR" altLang="en-US" smtClean="0"/>
              <a:t>2025-05-22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C55692A-4F0B-4366-B6BF-50C20E291F9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850125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55692A-4F0B-4366-B6BF-50C20E291F9E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173149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err="1"/>
              <a:t>마이크로서비스로</a:t>
            </a:r>
            <a:r>
              <a:rPr lang="ko-KR" altLang="en-US"/>
              <a:t> 발전하는 플랜을 제시하는 논문의 형성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55692A-4F0B-4366-B6BF-50C20E291F9E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976314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7321DD-2E07-060A-1D98-693D6B0773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D42D48E-806D-183D-1051-B4E9B2B223C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77077FE-C373-BE8D-0C18-C21BCA8749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err="1"/>
              <a:t>마이크로서비스로</a:t>
            </a:r>
            <a:r>
              <a:rPr lang="ko-KR" altLang="en-US"/>
              <a:t> 발전하는 플랜을 제시하는 논문의 형성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65CA7F5-CC3E-13C3-9E92-50CBCA5D32F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55692A-4F0B-4366-B6BF-50C20E291F9E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3052999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55692A-4F0B-4366-B6BF-50C20E291F9E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5428513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9D4532-4944-FB1C-B450-C04FDE772D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4DE9CE8-9EA0-619F-9725-C651AF9089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9ACBE23-5B11-B6F4-32B6-B65A08859A9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BD03E26-7933-2EF8-8F85-E693472D864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55692A-4F0B-4366-B6BF-50C20E291F9E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476393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fif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6.svg"/><Relationship Id="rId4" Type="http://schemas.openxmlformats.org/officeDocument/2006/relationships/image" Target="../media/image25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2.sv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 descr="폰트, 로고, 원, 등록 상표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F340B031-A102-B0AA-95E9-C122483FE20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976" y="144672"/>
            <a:ext cx="2057400" cy="2057400"/>
          </a:xfrm>
          <a:prstGeom prst="rect">
            <a:avLst/>
          </a:prstGeom>
        </p:spPr>
      </p:pic>
      <p:grpSp>
        <p:nvGrpSpPr>
          <p:cNvPr id="2" name="Group 2"/>
          <p:cNvGrpSpPr/>
          <p:nvPr/>
        </p:nvGrpSpPr>
        <p:grpSpPr>
          <a:xfrm>
            <a:off x="-290868" y="10008764"/>
            <a:ext cx="18869735" cy="120011"/>
            <a:chOff x="0" y="0"/>
            <a:chExt cx="4969807" cy="3160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969807" cy="31608"/>
            </a:xfrm>
            <a:custGeom>
              <a:avLst/>
              <a:gdLst/>
              <a:ahLst/>
              <a:cxnLst/>
              <a:rect l="l" t="t" r="r" b="b"/>
              <a:pathLst>
                <a:path w="4969807" h="31608">
                  <a:moveTo>
                    <a:pt x="0" y="0"/>
                  </a:moveTo>
                  <a:lnTo>
                    <a:pt x="4969807" y="0"/>
                  </a:lnTo>
                  <a:lnTo>
                    <a:pt x="4969807" y="31608"/>
                  </a:lnTo>
                  <a:lnTo>
                    <a:pt x="0" y="31608"/>
                  </a:lnTo>
                  <a:close/>
                </a:path>
              </a:pathLst>
            </a:custGeom>
            <a:solidFill>
              <a:srgbClr val="191919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4969807" cy="792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1243676" y="2288058"/>
            <a:ext cx="16306800" cy="763029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1923"/>
              </a:lnSpc>
            </a:pPr>
            <a:r>
              <a:rPr lang="ko-KR" altLang="en-US" sz="5400" b="1" err="1">
                <a:solidFill>
                  <a:srgbClr val="000000"/>
                </a:solidFill>
                <a:latin typeface="나눔고딕" charset="0"/>
                <a:ea typeface="나눔고딕" charset="0"/>
                <a:cs typeface="NanumGothic" charset="0"/>
              </a:rPr>
              <a:t>쿠버네티스</a:t>
            </a:r>
            <a:r>
              <a:rPr lang="ko-KR" altLang="en-US" sz="5400" b="1">
                <a:solidFill>
                  <a:srgbClr val="000000"/>
                </a:solidFill>
                <a:latin typeface="나눔고딕" charset="0"/>
                <a:ea typeface="나눔고딕" charset="0"/>
                <a:cs typeface="NanumGothic" charset="0"/>
              </a:rPr>
              <a:t> 기반 </a:t>
            </a:r>
            <a:r>
              <a:rPr lang="ko-KR" altLang="en-US" sz="5400" b="1" err="1">
                <a:solidFill>
                  <a:srgbClr val="000000"/>
                </a:solidFill>
                <a:latin typeface="나눔고딕" charset="0"/>
                <a:ea typeface="나눔고딕" charset="0"/>
                <a:cs typeface="NanumGothic" charset="0"/>
              </a:rPr>
              <a:t>스프링클라우드</a:t>
            </a:r>
            <a:r>
              <a:rPr lang="ko-KR" altLang="en-US" sz="5400" b="1">
                <a:solidFill>
                  <a:srgbClr val="000000"/>
                </a:solidFill>
                <a:latin typeface="나눔고딕" charset="0"/>
                <a:ea typeface="나눔고딕" charset="0"/>
                <a:cs typeface="NanumGothic" charset="0"/>
              </a:rPr>
              <a:t> </a:t>
            </a:r>
            <a:r>
              <a:rPr lang="ko-KR" altLang="en-US" sz="5400" b="1" err="1">
                <a:solidFill>
                  <a:srgbClr val="000000"/>
                </a:solidFill>
                <a:latin typeface="나눔고딕" charset="0"/>
                <a:ea typeface="나눔고딕" charset="0"/>
                <a:cs typeface="NanumGothic" charset="0"/>
              </a:rPr>
              <a:t>마이크로서비스</a:t>
            </a:r>
            <a:r>
              <a:rPr lang="ko-KR" altLang="en-US" sz="5400" b="1">
                <a:solidFill>
                  <a:srgbClr val="000000"/>
                </a:solidFill>
                <a:latin typeface="나눔고딕" charset="0"/>
                <a:ea typeface="나눔고딕" charset="0"/>
                <a:cs typeface="NanumGothic" charset="0"/>
              </a:rPr>
              <a:t> 아키텍처의 설계 및 구현</a:t>
            </a:r>
            <a:br>
              <a:rPr lang="ko-KR" altLang="en-US" sz="4800" b="1">
                <a:solidFill>
                  <a:srgbClr val="000000"/>
                </a:solidFill>
                <a:latin typeface="나눔고딕" charset="0"/>
                <a:ea typeface="나눔고딕" charset="0"/>
                <a:cs typeface="NanumGothic" charset="0"/>
              </a:rPr>
            </a:br>
            <a:r>
              <a:rPr lang="en-US" altLang="ko-KR" sz="4000" b="1">
                <a:solidFill>
                  <a:srgbClr val="000000"/>
                </a:solidFill>
                <a:latin typeface="나눔고딕" charset="0"/>
                <a:ea typeface="나눔고딕" charset="0"/>
                <a:cs typeface="NanumGothic" charset="0"/>
              </a:rPr>
              <a:t>Architectural  Design</a:t>
            </a:r>
            <a:r>
              <a:rPr lang="ko-KR" altLang="en-US" sz="4000" b="1">
                <a:solidFill>
                  <a:srgbClr val="000000"/>
                </a:solidFill>
                <a:latin typeface="나눔고딕" charset="0"/>
                <a:ea typeface="나눔고딕" charset="0"/>
                <a:cs typeface="NanumGothic" charset="0"/>
              </a:rPr>
              <a:t> </a:t>
            </a:r>
            <a:r>
              <a:rPr lang="en-US" altLang="ko-KR" sz="4000" b="1">
                <a:solidFill>
                  <a:srgbClr val="000000"/>
                </a:solidFill>
                <a:latin typeface="나눔고딕" charset="0"/>
                <a:ea typeface="나눔고딕" charset="0"/>
                <a:cs typeface="NanumGothic" charset="0"/>
              </a:rPr>
              <a:t>and</a:t>
            </a:r>
            <a:r>
              <a:rPr lang="ko-KR" altLang="en-US" sz="4000" b="1">
                <a:solidFill>
                  <a:srgbClr val="000000"/>
                </a:solidFill>
                <a:latin typeface="나눔고딕" charset="0"/>
                <a:ea typeface="나눔고딕" charset="0"/>
                <a:cs typeface="NanumGothic" charset="0"/>
              </a:rPr>
              <a:t> </a:t>
            </a:r>
            <a:r>
              <a:rPr lang="en-US" altLang="ko-KR" sz="4000" b="1">
                <a:solidFill>
                  <a:srgbClr val="000000"/>
                </a:solidFill>
                <a:latin typeface="나눔고딕" charset="0"/>
                <a:ea typeface="나눔고딕" charset="0"/>
                <a:cs typeface="NanumGothic" charset="0"/>
              </a:rPr>
              <a:t>Implementation</a:t>
            </a:r>
            <a:r>
              <a:rPr lang="ko-KR" altLang="en-US" sz="4000" b="1">
                <a:solidFill>
                  <a:srgbClr val="000000"/>
                </a:solidFill>
                <a:latin typeface="나눔고딕" charset="0"/>
                <a:ea typeface="나눔고딕" charset="0"/>
                <a:cs typeface="NanumGothic" charset="0"/>
              </a:rPr>
              <a:t> </a:t>
            </a:r>
            <a:r>
              <a:rPr lang="en-US" altLang="ko-KR" sz="4000" b="1">
                <a:solidFill>
                  <a:srgbClr val="000000"/>
                </a:solidFill>
                <a:latin typeface="나눔고딕" charset="0"/>
                <a:ea typeface="나눔고딕" charset="0"/>
                <a:cs typeface="NanumGothic" charset="0"/>
              </a:rPr>
              <a:t>of</a:t>
            </a:r>
            <a:r>
              <a:rPr lang="ko-KR" altLang="en-US" sz="4000" b="1">
                <a:solidFill>
                  <a:srgbClr val="000000"/>
                </a:solidFill>
                <a:latin typeface="나눔고딕" charset="0"/>
                <a:ea typeface="나눔고딕" charset="0"/>
                <a:cs typeface="NanumGothic" charset="0"/>
              </a:rPr>
              <a:t> </a:t>
            </a:r>
            <a:r>
              <a:rPr lang="en-US" altLang="ko-KR" sz="4000" b="1">
                <a:solidFill>
                  <a:srgbClr val="000000"/>
                </a:solidFill>
                <a:latin typeface="나눔고딕" charset="0"/>
                <a:ea typeface="나눔고딕" charset="0"/>
                <a:cs typeface="NanumGothic" charset="0"/>
              </a:rPr>
              <a:t>Spring</a:t>
            </a:r>
            <a:r>
              <a:rPr lang="ko-KR" altLang="en-US" sz="4000" b="1">
                <a:solidFill>
                  <a:srgbClr val="000000"/>
                </a:solidFill>
                <a:latin typeface="나눔고딕" charset="0"/>
                <a:ea typeface="나눔고딕" charset="0"/>
                <a:cs typeface="NanumGothic" charset="0"/>
              </a:rPr>
              <a:t> </a:t>
            </a:r>
            <a:r>
              <a:rPr lang="en-US" altLang="ko-KR" sz="4000" b="1">
                <a:solidFill>
                  <a:srgbClr val="000000"/>
                </a:solidFill>
                <a:latin typeface="나눔고딕" charset="0"/>
                <a:ea typeface="나눔고딕" charset="0"/>
                <a:cs typeface="NanumGothic" charset="0"/>
              </a:rPr>
              <a:t>Cloud-Based</a:t>
            </a:r>
            <a:r>
              <a:rPr lang="ko-KR" altLang="en-US" sz="4000" b="1">
                <a:solidFill>
                  <a:srgbClr val="000000"/>
                </a:solidFill>
                <a:latin typeface="나눔고딕" charset="0"/>
                <a:ea typeface="나눔고딕" charset="0"/>
                <a:cs typeface="NanumGothic" charset="0"/>
              </a:rPr>
              <a:t> </a:t>
            </a:r>
            <a:r>
              <a:rPr lang="en-US" altLang="ko-KR" sz="4000" b="1">
                <a:solidFill>
                  <a:srgbClr val="000000"/>
                </a:solidFill>
                <a:latin typeface="나눔고딕" charset="0"/>
                <a:ea typeface="나눔고딕" charset="0"/>
                <a:cs typeface="NanumGothic" charset="0"/>
              </a:rPr>
              <a:t>Microservices on Kubernetes </a:t>
            </a:r>
            <a:endParaRPr lang="ko-KR" altLang="en-US" sz="4800" b="1">
              <a:solidFill>
                <a:srgbClr val="000000"/>
              </a:solidFill>
              <a:latin typeface="나눔고딕" charset="0"/>
              <a:ea typeface="나눔고딕" charset="0"/>
              <a:cs typeface="NanumGothic" charset="0"/>
            </a:endParaRPr>
          </a:p>
          <a:p>
            <a:pPr algn="ctr">
              <a:lnSpc>
                <a:spcPts val="11923"/>
              </a:lnSpc>
            </a:pPr>
            <a:endParaRPr lang="en-US" sz="10368" spc="-103">
              <a:solidFill>
                <a:srgbClr val="191919"/>
              </a:solidFill>
              <a:latin typeface="Glacial Indifference"/>
              <a:ea typeface="Glacial Indifference"/>
              <a:cs typeface="Glacial Indifference"/>
              <a:sym typeface="Glacial Indifference"/>
            </a:endParaRPr>
          </a:p>
        </p:txBody>
      </p:sp>
      <p:sp>
        <p:nvSpPr>
          <p:cNvPr id="12" name="Object 12">
            <a:extLst>
              <a:ext uri="{FF2B5EF4-FFF2-40B4-BE49-F238E27FC236}">
                <a16:creationId xmlns:a16="http://schemas.microsoft.com/office/drawing/2014/main" id="{941A1CC6-28EE-B6B9-DCD6-5291CA5B01A6}"/>
              </a:ext>
            </a:extLst>
          </p:cNvPr>
          <p:cNvSpPr txBox="1">
            <a:spLocks/>
          </p:cNvSpPr>
          <p:nvPr/>
        </p:nvSpPr>
        <p:spPr>
          <a:xfrm>
            <a:off x="1012658" y="8590408"/>
            <a:ext cx="1908460" cy="52322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ctr">
            <a:spAutoFit/>
          </a:bodyPr>
          <a:lstStyle/>
          <a:p>
            <a:pPr marL="0" indent="0" latinLnBrk="0">
              <a:buFontTx/>
              <a:buNone/>
            </a:pPr>
            <a:r>
              <a:rPr lang="ko-KR" altLang="en-US" sz="2800" spc="-19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NanumGothic" charset="0"/>
              </a:rPr>
              <a:t>학번</a:t>
            </a:r>
            <a:endParaRPr lang="ko-KR" altLang="en-US" sz="2800">
              <a:solidFill>
                <a:srgbClr val="000000"/>
              </a:solidFill>
              <a:latin typeface="나눔고딕" panose="020D0604000000000000" pitchFamily="50" charset="-127"/>
              <a:ea typeface="나눔고딕" panose="020D0604000000000000" pitchFamily="50" charset="-127"/>
              <a:cs typeface="NanumGothic" charset="0"/>
            </a:endParaRPr>
          </a:p>
        </p:txBody>
      </p:sp>
      <p:sp>
        <p:nvSpPr>
          <p:cNvPr id="13" name="Object 13">
            <a:extLst>
              <a:ext uri="{FF2B5EF4-FFF2-40B4-BE49-F238E27FC236}">
                <a16:creationId xmlns:a16="http://schemas.microsoft.com/office/drawing/2014/main" id="{CD0D633C-75F8-D0F0-251E-9DD710E453EA}"/>
              </a:ext>
            </a:extLst>
          </p:cNvPr>
          <p:cNvSpPr txBox="1">
            <a:spLocks/>
          </p:cNvSpPr>
          <p:nvPr/>
        </p:nvSpPr>
        <p:spPr>
          <a:xfrm>
            <a:off x="2753015" y="8616252"/>
            <a:ext cx="6593205" cy="52322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ctr">
            <a:spAutoFit/>
          </a:bodyPr>
          <a:lstStyle/>
          <a:p>
            <a:pPr marL="0" indent="0" latinLnBrk="0">
              <a:buFontTx/>
              <a:buNone/>
            </a:pPr>
            <a:r>
              <a:rPr lang="en-US" sz="2800" spc="-9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NanumGothic" charset="0"/>
              </a:rPr>
              <a:t>20204077</a:t>
            </a:r>
            <a:endParaRPr lang="ko-KR" altLang="en-US" sz="2800">
              <a:solidFill>
                <a:srgbClr val="000000"/>
              </a:solidFill>
              <a:latin typeface="나눔고딕" panose="020D0604000000000000" pitchFamily="50" charset="-127"/>
              <a:ea typeface="나눔고딕" panose="020D0604000000000000" pitchFamily="50" charset="-127"/>
              <a:cs typeface="NanumGothic" charset="0"/>
            </a:endParaRPr>
          </a:p>
        </p:txBody>
      </p:sp>
      <p:sp>
        <p:nvSpPr>
          <p:cNvPr id="14" name="Object 14">
            <a:extLst>
              <a:ext uri="{FF2B5EF4-FFF2-40B4-BE49-F238E27FC236}">
                <a16:creationId xmlns:a16="http://schemas.microsoft.com/office/drawing/2014/main" id="{F4D8A690-E5D9-CAC2-A42C-DF8F64B03257}"/>
              </a:ext>
            </a:extLst>
          </p:cNvPr>
          <p:cNvSpPr txBox="1">
            <a:spLocks/>
          </p:cNvSpPr>
          <p:nvPr/>
        </p:nvSpPr>
        <p:spPr>
          <a:xfrm>
            <a:off x="1012658" y="9055863"/>
            <a:ext cx="1533531" cy="52322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ctr">
            <a:spAutoFit/>
          </a:bodyPr>
          <a:lstStyle/>
          <a:p>
            <a:pPr marL="0" indent="0" latinLnBrk="0">
              <a:buFontTx/>
              <a:buNone/>
            </a:pPr>
            <a:r>
              <a:rPr lang="ko-KR" altLang="en-US" sz="2800" spc="-19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NanumGothic" charset="0"/>
              </a:rPr>
              <a:t>지도교수</a:t>
            </a:r>
            <a:endParaRPr lang="ko-KR" altLang="en-US" sz="2800">
              <a:solidFill>
                <a:srgbClr val="000000"/>
              </a:solidFill>
              <a:latin typeface="나눔고딕" panose="020D0604000000000000" pitchFamily="50" charset="-127"/>
              <a:ea typeface="나눔고딕" panose="020D0604000000000000" pitchFamily="50" charset="-127"/>
              <a:cs typeface="NanumGothic" charset="0"/>
            </a:endParaRPr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E76AC1BE-AB75-DAB7-5770-648B95BCB6F2}"/>
              </a:ext>
            </a:extLst>
          </p:cNvPr>
          <p:cNvSpPr txBox="1">
            <a:spLocks/>
          </p:cNvSpPr>
          <p:nvPr/>
        </p:nvSpPr>
        <p:spPr>
          <a:xfrm>
            <a:off x="2753015" y="9055863"/>
            <a:ext cx="6593205" cy="52322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ctr">
            <a:spAutoFit/>
          </a:bodyPr>
          <a:lstStyle/>
          <a:p>
            <a:pPr marL="0" indent="0" latinLnBrk="0">
              <a:buFontTx/>
              <a:buNone/>
            </a:pPr>
            <a:r>
              <a:rPr lang="ko-KR" altLang="en-US" sz="2800" spc="-90" err="1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NanumGothic" charset="0"/>
              </a:rPr>
              <a:t>이상정</a:t>
            </a:r>
            <a:endParaRPr lang="ko-KR" altLang="en-US" sz="2800">
              <a:solidFill>
                <a:srgbClr val="000000"/>
              </a:solidFill>
              <a:latin typeface="나눔고딕" panose="020D0604000000000000" pitchFamily="50" charset="-127"/>
              <a:ea typeface="나눔고딕" panose="020D0604000000000000" pitchFamily="50" charset="-127"/>
              <a:cs typeface="NanumGothic" charset="0"/>
            </a:endParaRPr>
          </a:p>
        </p:txBody>
      </p:sp>
      <p:sp>
        <p:nvSpPr>
          <p:cNvPr id="16" name="Object 12">
            <a:extLst>
              <a:ext uri="{FF2B5EF4-FFF2-40B4-BE49-F238E27FC236}">
                <a16:creationId xmlns:a16="http://schemas.microsoft.com/office/drawing/2014/main" id="{9B43892C-5E08-FB94-39C9-B7FE0A6DD7EA}"/>
              </a:ext>
            </a:extLst>
          </p:cNvPr>
          <p:cNvSpPr txBox="1">
            <a:spLocks/>
          </p:cNvSpPr>
          <p:nvPr/>
        </p:nvSpPr>
        <p:spPr>
          <a:xfrm>
            <a:off x="1012658" y="8144377"/>
            <a:ext cx="1908460" cy="52322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ctr">
            <a:spAutoFit/>
          </a:bodyPr>
          <a:lstStyle/>
          <a:p>
            <a:pPr marL="0" indent="0" latinLnBrk="0">
              <a:buFontTx/>
              <a:buNone/>
            </a:pPr>
            <a:r>
              <a:rPr lang="ko-KR" altLang="en-US" sz="2800" spc="-19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NanumGothic" charset="0"/>
              </a:rPr>
              <a:t>성명</a:t>
            </a:r>
            <a:endParaRPr lang="ko-KR" altLang="en-US" sz="2800">
              <a:solidFill>
                <a:srgbClr val="000000"/>
              </a:solidFill>
              <a:latin typeface="나눔고딕" panose="020D0604000000000000" pitchFamily="50" charset="-127"/>
              <a:ea typeface="나눔고딕" panose="020D0604000000000000" pitchFamily="50" charset="-127"/>
              <a:cs typeface="NanumGothic" charset="0"/>
            </a:endParaRPr>
          </a:p>
        </p:txBody>
      </p:sp>
      <p:sp>
        <p:nvSpPr>
          <p:cNvPr id="17" name="Object 13">
            <a:extLst>
              <a:ext uri="{FF2B5EF4-FFF2-40B4-BE49-F238E27FC236}">
                <a16:creationId xmlns:a16="http://schemas.microsoft.com/office/drawing/2014/main" id="{C3BFEFB1-46C3-DB4D-DEDE-257D8747C7EE}"/>
              </a:ext>
            </a:extLst>
          </p:cNvPr>
          <p:cNvSpPr txBox="1">
            <a:spLocks/>
          </p:cNvSpPr>
          <p:nvPr/>
        </p:nvSpPr>
        <p:spPr>
          <a:xfrm>
            <a:off x="2753015" y="8134528"/>
            <a:ext cx="6593205" cy="52322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ctr">
            <a:spAutoFit/>
          </a:bodyPr>
          <a:lstStyle/>
          <a:p>
            <a:pPr marL="0" indent="0" latinLnBrk="0">
              <a:buFontTx/>
              <a:buNone/>
            </a:pPr>
            <a:r>
              <a:rPr lang="ko-KR" altLang="en-US" sz="280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NanumGothic" charset="0"/>
              </a:rPr>
              <a:t>유동균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290868" y="10008764"/>
            <a:ext cx="18869735" cy="120011"/>
            <a:chOff x="0" y="0"/>
            <a:chExt cx="4969807" cy="3160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969807" cy="31608"/>
            </a:xfrm>
            <a:custGeom>
              <a:avLst/>
              <a:gdLst/>
              <a:ahLst/>
              <a:cxnLst/>
              <a:rect l="l" t="t" r="r" b="b"/>
              <a:pathLst>
                <a:path w="4969807" h="31608">
                  <a:moveTo>
                    <a:pt x="0" y="0"/>
                  </a:moveTo>
                  <a:lnTo>
                    <a:pt x="4969807" y="0"/>
                  </a:lnTo>
                  <a:lnTo>
                    <a:pt x="4969807" y="31608"/>
                  </a:lnTo>
                  <a:lnTo>
                    <a:pt x="0" y="31608"/>
                  </a:lnTo>
                  <a:close/>
                </a:path>
              </a:pathLst>
            </a:custGeom>
            <a:solidFill>
              <a:srgbClr val="191919"/>
            </a:solidFill>
            <a:ln w="19050" cap="sq">
              <a:solidFill>
                <a:srgbClr val="191919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4969807" cy="792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1123950" y="944123"/>
            <a:ext cx="2186274" cy="79739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6589"/>
              </a:lnSpc>
              <a:spcBef>
                <a:spcPct val="0"/>
              </a:spcBef>
            </a:pPr>
            <a:r>
              <a:rPr lang="en-US" sz="4800" b="1" spc="-65">
                <a:solidFill>
                  <a:srgbClr val="191919"/>
                </a:solidFill>
                <a:latin typeface="윤고딕"/>
                <a:ea typeface="윤고딕"/>
                <a:cs typeface="윤고딕"/>
                <a:sym typeface="윤고딕"/>
              </a:rPr>
              <a:t>목 차</a:t>
            </a:r>
          </a:p>
        </p:txBody>
      </p:sp>
      <p:sp>
        <p:nvSpPr>
          <p:cNvPr id="20" name="AutoShape 20"/>
          <p:cNvSpPr/>
          <p:nvPr/>
        </p:nvSpPr>
        <p:spPr>
          <a:xfrm>
            <a:off x="0" y="828675"/>
            <a:ext cx="3276389" cy="0"/>
          </a:xfrm>
          <a:prstGeom prst="line">
            <a:avLst/>
          </a:prstGeom>
          <a:ln w="38100" cap="flat">
            <a:solidFill>
              <a:srgbClr val="19191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F18B327-1235-3C4F-B51A-AE0E3F9C5D96}"/>
              </a:ext>
            </a:extLst>
          </p:cNvPr>
          <p:cNvSpPr txBox="1"/>
          <p:nvPr/>
        </p:nvSpPr>
        <p:spPr>
          <a:xfrm>
            <a:off x="3724656" y="2496015"/>
            <a:ext cx="264287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6000" kern="0" spc="200">
                <a:solidFill>
                  <a:srgbClr val="000000"/>
                </a:solidFill>
                <a:latin typeface="윤고딕" panose="020B0600000101010101" charset="-127"/>
                <a:ea typeface="윤고딕" panose="020B0600000101010101" charset="-127"/>
              </a:rPr>
              <a:t>01</a:t>
            </a:r>
            <a:endParaRPr lang="ko-KR" altLang="en-US" sz="6000" kern="0" spc="200">
              <a:solidFill>
                <a:srgbClr val="000000"/>
              </a:solidFill>
              <a:latin typeface="윤고딕" panose="020B0600000101010101" charset="-127"/>
              <a:ea typeface="윤고딕" panose="020B0600000101010101" charset="-12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CA12496-72F4-5D09-E70A-5F50B6503A51}"/>
              </a:ext>
            </a:extLst>
          </p:cNvPr>
          <p:cNvSpPr txBox="1"/>
          <p:nvPr/>
        </p:nvSpPr>
        <p:spPr>
          <a:xfrm>
            <a:off x="3733800" y="4011379"/>
            <a:ext cx="264287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6000" kern="0" spc="200">
                <a:solidFill>
                  <a:srgbClr val="000000"/>
                </a:solidFill>
                <a:latin typeface="윤고딕" panose="020B0600000101010101" charset="-127"/>
                <a:ea typeface="윤고딕" panose="020B0600000101010101" charset="-127"/>
              </a:rPr>
              <a:t>02</a:t>
            </a:r>
            <a:endParaRPr lang="ko-KR" altLang="en-US" sz="6000" kern="0" spc="200">
              <a:solidFill>
                <a:srgbClr val="000000"/>
              </a:solidFill>
              <a:latin typeface="윤고딕" panose="020B0600000101010101" charset="-127"/>
              <a:ea typeface="윤고딕" panose="020B0600000101010101" charset="-127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71CA1E9-0611-4B34-8015-C8B43774B787}"/>
              </a:ext>
            </a:extLst>
          </p:cNvPr>
          <p:cNvSpPr txBox="1"/>
          <p:nvPr/>
        </p:nvSpPr>
        <p:spPr>
          <a:xfrm>
            <a:off x="3733800" y="5608191"/>
            <a:ext cx="264287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6000" kern="0" spc="200">
                <a:solidFill>
                  <a:srgbClr val="000000"/>
                </a:solidFill>
                <a:latin typeface="윤고딕" panose="020B0600000101010101" charset="-127"/>
                <a:ea typeface="윤고딕" panose="020B0600000101010101" charset="-127"/>
              </a:rPr>
              <a:t>03</a:t>
            </a:r>
            <a:endParaRPr lang="ko-KR" altLang="en-US" sz="6000" kern="0" spc="200">
              <a:solidFill>
                <a:srgbClr val="000000"/>
              </a:solidFill>
              <a:latin typeface="윤고딕" panose="020B0600000101010101" charset="-127"/>
              <a:ea typeface="윤고딕" panose="020B0600000101010101" charset="-127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5C79B0D-0404-A628-9FFD-4655E0327E0E}"/>
              </a:ext>
            </a:extLst>
          </p:cNvPr>
          <p:cNvSpPr txBox="1"/>
          <p:nvPr/>
        </p:nvSpPr>
        <p:spPr>
          <a:xfrm>
            <a:off x="3733800" y="7050238"/>
            <a:ext cx="264287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6000" kern="0" spc="200">
                <a:solidFill>
                  <a:srgbClr val="000000"/>
                </a:solidFill>
                <a:latin typeface="윤고딕" panose="020B0600000101010101" charset="-127"/>
                <a:ea typeface="윤고딕" panose="020B0600000101010101" charset="-127"/>
              </a:rPr>
              <a:t>04</a:t>
            </a:r>
            <a:endParaRPr lang="ko-KR" altLang="en-US" sz="6000" kern="0" spc="200">
              <a:solidFill>
                <a:srgbClr val="000000"/>
              </a:solidFill>
              <a:latin typeface="윤고딕" panose="020B0600000101010101" charset="-127"/>
              <a:ea typeface="윤고딕" panose="020B0600000101010101" charset="-127"/>
            </a:endParaRPr>
          </a:p>
        </p:txBody>
      </p:sp>
      <p:sp>
        <p:nvSpPr>
          <p:cNvPr id="26" name="Object 6">
            <a:extLst>
              <a:ext uri="{FF2B5EF4-FFF2-40B4-BE49-F238E27FC236}">
                <a16:creationId xmlns:a16="http://schemas.microsoft.com/office/drawing/2014/main" id="{21633320-9E08-D5A1-CBB5-F4722686E9E0}"/>
              </a:ext>
            </a:extLst>
          </p:cNvPr>
          <p:cNvSpPr txBox="1"/>
          <p:nvPr/>
        </p:nvSpPr>
        <p:spPr>
          <a:xfrm>
            <a:off x="6629400" y="2484757"/>
            <a:ext cx="8655050" cy="9233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ko-KR" altLang="en-US" sz="5400">
                <a:latin typeface="윤고딕" panose="020B0600000101010101" charset="-127"/>
                <a:ea typeface="윤고딕" panose="020B0600000101010101" charset="-127"/>
              </a:rPr>
              <a:t>서론</a:t>
            </a:r>
            <a:endParaRPr lang="en-US" sz="5400">
              <a:latin typeface="윤고딕" panose="020B0600000101010101" charset="-127"/>
              <a:ea typeface="윤고딕" panose="020B0600000101010101" charset="-127"/>
            </a:endParaRPr>
          </a:p>
        </p:txBody>
      </p:sp>
      <p:sp>
        <p:nvSpPr>
          <p:cNvPr id="27" name="Object 6">
            <a:extLst>
              <a:ext uri="{FF2B5EF4-FFF2-40B4-BE49-F238E27FC236}">
                <a16:creationId xmlns:a16="http://schemas.microsoft.com/office/drawing/2014/main" id="{B55AE801-93CD-CC07-B5F6-6794A4D9D858}"/>
              </a:ext>
            </a:extLst>
          </p:cNvPr>
          <p:cNvSpPr txBox="1"/>
          <p:nvPr/>
        </p:nvSpPr>
        <p:spPr>
          <a:xfrm>
            <a:off x="6629400" y="4040845"/>
            <a:ext cx="8655050" cy="9233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ko-KR" altLang="en-US" sz="5400">
                <a:latin typeface="윤고딕" panose="020B0600000101010101" charset="-127"/>
                <a:ea typeface="윤고딕" panose="020B0600000101010101" charset="-127"/>
              </a:rPr>
              <a:t>이론적 배경</a:t>
            </a:r>
            <a:endParaRPr lang="en-US" sz="5400">
              <a:latin typeface="윤고딕" panose="020B0600000101010101" charset="-127"/>
              <a:ea typeface="윤고딕" panose="020B0600000101010101" charset="-127"/>
            </a:endParaRPr>
          </a:p>
        </p:txBody>
      </p:sp>
      <p:sp>
        <p:nvSpPr>
          <p:cNvPr id="28" name="Object 6">
            <a:extLst>
              <a:ext uri="{FF2B5EF4-FFF2-40B4-BE49-F238E27FC236}">
                <a16:creationId xmlns:a16="http://schemas.microsoft.com/office/drawing/2014/main" id="{D726792D-A802-CF54-4667-B440509AA7DE}"/>
              </a:ext>
            </a:extLst>
          </p:cNvPr>
          <p:cNvSpPr txBox="1"/>
          <p:nvPr/>
        </p:nvSpPr>
        <p:spPr>
          <a:xfrm>
            <a:off x="6601968" y="5622841"/>
            <a:ext cx="8655050" cy="9233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ko-KR" altLang="en-US" sz="5400">
                <a:latin typeface="윤고딕" panose="020B0600000101010101" charset="-127"/>
                <a:ea typeface="윤고딕" panose="020B0600000101010101" charset="-127"/>
              </a:rPr>
              <a:t>설계 및 구현</a:t>
            </a:r>
            <a:endParaRPr lang="en-US" sz="5400">
              <a:latin typeface="윤고딕" panose="020B0600000101010101" charset="-127"/>
              <a:ea typeface="윤고딕" panose="020B0600000101010101" charset="-127"/>
            </a:endParaRPr>
          </a:p>
        </p:txBody>
      </p:sp>
      <p:sp>
        <p:nvSpPr>
          <p:cNvPr id="29" name="Object 6">
            <a:extLst>
              <a:ext uri="{FF2B5EF4-FFF2-40B4-BE49-F238E27FC236}">
                <a16:creationId xmlns:a16="http://schemas.microsoft.com/office/drawing/2014/main" id="{C1D597E7-6989-B1FD-71B6-CB6F04D01ED6}"/>
              </a:ext>
            </a:extLst>
          </p:cNvPr>
          <p:cNvSpPr txBox="1"/>
          <p:nvPr/>
        </p:nvSpPr>
        <p:spPr>
          <a:xfrm>
            <a:off x="6601968" y="7053376"/>
            <a:ext cx="8655050" cy="9233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ko-KR" altLang="en-US" sz="5400">
                <a:latin typeface="윤고딕" panose="020B0600000101010101" charset="-127"/>
                <a:ea typeface="윤고딕" panose="020B0600000101010101" charset="-127"/>
              </a:rPr>
              <a:t>결론</a:t>
            </a:r>
            <a:endParaRPr lang="en-US" sz="5400">
              <a:latin typeface="윤고딕" panose="020B0600000101010101" charset="-127"/>
              <a:ea typeface="윤고딕" panose="020B0600000101010101" charset="-127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텍스트 상자 2">
            <a:extLst>
              <a:ext uri="{FF2B5EF4-FFF2-40B4-BE49-F238E27FC236}">
                <a16:creationId xmlns:a16="http://schemas.microsoft.com/office/drawing/2014/main" id="{06B9CC36-98F5-2F08-F9AC-BCF3AFDBAAF2}"/>
              </a:ext>
            </a:extLst>
          </p:cNvPr>
          <p:cNvSpPr txBox="1">
            <a:spLocks/>
          </p:cNvSpPr>
          <p:nvPr/>
        </p:nvSpPr>
        <p:spPr>
          <a:xfrm>
            <a:off x="1123950" y="1591332"/>
            <a:ext cx="15468600" cy="3875163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anchor="t">
            <a:spAutoFit/>
          </a:bodyPr>
          <a:lstStyle/>
          <a:p>
            <a:pPr marL="254000" indent="-254000" algn="l" defTabSz="914400" rtl="0" eaLnBrk="1" latinLnBrk="0" hangingPunct="1">
              <a:lnSpc>
                <a:spcPct val="200000"/>
              </a:lnSpc>
              <a:buFont typeface="Wingdings"/>
              <a:buChar char=""/>
            </a:pPr>
            <a:r>
              <a:rPr lang="ko-KR" altLang="en-US" sz="3200">
                <a:latin typeface="맑은 고딕" charset="0"/>
                <a:ea typeface="맑은 고딕" charset="0"/>
              </a:rPr>
              <a:t>현대의 애플리케이션은 다양한 기능을 수용하며 지속적으로 확장되고 있음 </a:t>
            </a:r>
            <a:endParaRPr lang="en-US" altLang="ko-KR" sz="3200">
              <a:latin typeface="맑은 고딕" charset="0"/>
              <a:ea typeface="맑은 고딕" charset="0"/>
            </a:endParaRPr>
          </a:p>
          <a:p>
            <a:pPr marL="254000" indent="-254000" algn="l" defTabSz="914400" rtl="0" eaLnBrk="1" latinLnBrk="0" hangingPunct="1">
              <a:lnSpc>
                <a:spcPct val="200000"/>
              </a:lnSpc>
              <a:buFont typeface="Wingdings"/>
              <a:buChar char=""/>
            </a:pPr>
            <a:r>
              <a:rPr lang="ko-KR" altLang="en-US" sz="3200">
                <a:latin typeface="맑은 고딕" charset="0"/>
                <a:ea typeface="맑은 고딕" charset="0"/>
              </a:rPr>
              <a:t>구조가 복잡하고 동시에 처리하는 데이터의 양도 증가함</a:t>
            </a:r>
            <a:endParaRPr lang="en-US" altLang="ko-KR" sz="3200">
              <a:latin typeface="맑은 고딕" charset="0"/>
              <a:ea typeface="맑은 고딕" charset="0"/>
            </a:endParaRPr>
          </a:p>
          <a:p>
            <a:pPr marL="254000" indent="-254000" algn="l" defTabSz="914400" rtl="0" eaLnBrk="1" latinLnBrk="0" hangingPunct="1">
              <a:lnSpc>
                <a:spcPct val="200000"/>
              </a:lnSpc>
              <a:buFont typeface="Wingdings"/>
              <a:buChar char=""/>
            </a:pPr>
            <a:r>
              <a:rPr lang="ko-KR" altLang="en-US" sz="3200" err="1">
                <a:latin typeface="맑은 고딕" charset="0"/>
                <a:ea typeface="맑은 고딕" charset="0"/>
              </a:rPr>
              <a:t>모놀리식</a:t>
            </a:r>
            <a:r>
              <a:rPr lang="ko-KR" altLang="en-US" sz="3200">
                <a:latin typeface="맑은 고딕" charset="0"/>
                <a:ea typeface="맑은 고딕" charset="0"/>
              </a:rPr>
              <a:t> 아키텍처는 확장과 유지보수에 한계가 존재</a:t>
            </a:r>
            <a:endParaRPr lang="en-US" altLang="ko-KR" sz="3200">
              <a:latin typeface="맑은 고딕" charset="0"/>
              <a:ea typeface="맑은 고딕" charset="0"/>
            </a:endParaRPr>
          </a:p>
          <a:p>
            <a:pPr marL="254000" indent="-254000" algn="l" defTabSz="914400" rtl="0" eaLnBrk="1" latinLnBrk="0" hangingPunct="1">
              <a:lnSpc>
                <a:spcPct val="200000"/>
              </a:lnSpc>
              <a:buFont typeface="Wingdings"/>
              <a:buChar char=""/>
            </a:pPr>
            <a:r>
              <a:rPr lang="ko-KR" altLang="en-US" sz="3200">
                <a:latin typeface="맑은 고딕" charset="0"/>
                <a:ea typeface="맑은 고딕" charset="0"/>
              </a:rPr>
              <a:t>요구사항을 해결하기 위해 통합된 시스템 필요</a:t>
            </a:r>
            <a:endParaRPr lang="en-US" altLang="ko-KR" sz="3200">
              <a:latin typeface="맑은 고딕" charset="0"/>
              <a:ea typeface="맑은 고딕" charset="0"/>
            </a:endParaRPr>
          </a:p>
        </p:txBody>
      </p:sp>
      <p:grpSp>
        <p:nvGrpSpPr>
          <p:cNvPr id="2" name="Group 2"/>
          <p:cNvGrpSpPr/>
          <p:nvPr/>
        </p:nvGrpSpPr>
        <p:grpSpPr>
          <a:xfrm>
            <a:off x="-290868" y="10008764"/>
            <a:ext cx="18869735" cy="120011"/>
            <a:chOff x="0" y="0"/>
            <a:chExt cx="4969807" cy="3160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969807" cy="31608"/>
            </a:xfrm>
            <a:custGeom>
              <a:avLst/>
              <a:gdLst/>
              <a:ahLst/>
              <a:cxnLst/>
              <a:rect l="l" t="t" r="r" b="b"/>
              <a:pathLst>
                <a:path w="4969807" h="31608">
                  <a:moveTo>
                    <a:pt x="0" y="0"/>
                  </a:moveTo>
                  <a:lnTo>
                    <a:pt x="4969807" y="0"/>
                  </a:lnTo>
                  <a:lnTo>
                    <a:pt x="4969807" y="31608"/>
                  </a:lnTo>
                  <a:lnTo>
                    <a:pt x="0" y="31608"/>
                  </a:lnTo>
                  <a:close/>
                </a:path>
              </a:pathLst>
            </a:custGeom>
            <a:solidFill>
              <a:srgbClr val="191919"/>
            </a:solidFill>
            <a:ln w="19050" cap="sq">
              <a:solidFill>
                <a:srgbClr val="191919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4969807" cy="792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123950" y="944123"/>
            <a:ext cx="2186274" cy="794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6589"/>
              </a:lnSpc>
              <a:spcBef>
                <a:spcPct val="0"/>
              </a:spcBef>
            </a:pPr>
            <a:r>
              <a:rPr lang="en-US" altLang="ko-KR" sz="4800" b="1" spc="-65">
                <a:solidFill>
                  <a:srgbClr val="191919"/>
                </a:solidFill>
                <a:latin typeface="윤고딕"/>
                <a:ea typeface="윤고딕"/>
                <a:cs typeface="윤고딕"/>
                <a:sym typeface="윤고딕"/>
              </a:rPr>
              <a:t>1. </a:t>
            </a:r>
            <a:r>
              <a:rPr lang="ko-KR" altLang="en-US" sz="4800" b="1" spc="-65">
                <a:solidFill>
                  <a:srgbClr val="191919"/>
                </a:solidFill>
                <a:latin typeface="윤고딕"/>
                <a:ea typeface="윤고딕"/>
                <a:cs typeface="윤고딕"/>
                <a:sym typeface="윤고딕"/>
              </a:rPr>
              <a:t>서론</a:t>
            </a:r>
            <a:endParaRPr lang="en-US" sz="4800" b="1" spc="-65">
              <a:solidFill>
                <a:srgbClr val="191919"/>
              </a:solidFill>
              <a:latin typeface="윤고딕"/>
              <a:ea typeface="윤고딕"/>
              <a:cs typeface="윤고딕"/>
              <a:sym typeface="윤고딕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0" y="828675"/>
            <a:ext cx="3276389" cy="0"/>
          </a:xfrm>
          <a:prstGeom prst="line">
            <a:avLst/>
          </a:prstGeom>
          <a:ln w="38100" cap="flat">
            <a:solidFill>
              <a:srgbClr val="19191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2" name="그림 21" descr="텍스트, 스크린샷, 도표, 라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5BA335CC-40C6-C59D-3498-2FDA35F9314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117" b="5268"/>
          <a:stretch/>
        </p:blipFill>
        <p:spPr>
          <a:xfrm>
            <a:off x="8001000" y="5466496"/>
            <a:ext cx="8517066" cy="4400918"/>
          </a:xfrm>
          <a:prstGeom prst="rect">
            <a:avLst/>
          </a:prstGeom>
        </p:spPr>
      </p:pic>
      <p:pic>
        <p:nvPicPr>
          <p:cNvPr id="24" name="그림 23" descr="텍스트, 스크린샷, 도표, 폰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8DA1D047-9786-9B49-A348-BDD42AFE73E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664" b="11228"/>
          <a:stretch/>
        </p:blipFill>
        <p:spPr>
          <a:xfrm>
            <a:off x="1295400" y="5466221"/>
            <a:ext cx="5864754" cy="440091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797E2E-976D-EB75-C625-71E4853DF6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텍스트 상자 2">
            <a:extLst>
              <a:ext uri="{FF2B5EF4-FFF2-40B4-BE49-F238E27FC236}">
                <a16:creationId xmlns:a16="http://schemas.microsoft.com/office/drawing/2014/main" id="{C3A80CE8-8B80-7636-EE75-42B1D17B777E}"/>
              </a:ext>
            </a:extLst>
          </p:cNvPr>
          <p:cNvSpPr txBox="1">
            <a:spLocks/>
          </p:cNvSpPr>
          <p:nvPr/>
        </p:nvSpPr>
        <p:spPr>
          <a:xfrm>
            <a:off x="228600" y="2809117"/>
            <a:ext cx="15468600" cy="5455981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anchor="t">
            <a:spAutoFit/>
          </a:bodyPr>
          <a:lstStyle/>
          <a:p>
            <a:pPr marL="571500" indent="-571500" algn="l" defTabSz="914400" rtl="0" eaLnBrk="1" latinLnBrk="0" hangingPunct="1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altLang="ko-KR" sz="3600" b="1">
                <a:latin typeface="맑은 고딕" charset="0"/>
                <a:ea typeface="맑은 고딕" charset="0"/>
              </a:rPr>
              <a:t> </a:t>
            </a:r>
            <a:r>
              <a:rPr lang="ko-KR" altLang="en-US" sz="3600" b="1">
                <a:latin typeface="맑은 고딕" charset="0"/>
                <a:ea typeface="맑은 고딕" charset="0"/>
              </a:rPr>
              <a:t>고객 데이터의 유연한 저장 및 기능 서비스 확장을 기대한 확장성 확보</a:t>
            </a:r>
            <a:endParaRPr lang="en-US" altLang="ko-KR" sz="3600" b="1">
              <a:latin typeface="맑은 고딕" charset="0"/>
              <a:ea typeface="맑은 고딕" charset="0"/>
            </a:endParaRPr>
          </a:p>
          <a:p>
            <a:pPr marL="254000" indent="-254000" algn="l" defTabSz="914400" rtl="0" eaLnBrk="1" latinLnBrk="0" hangingPunct="1">
              <a:lnSpc>
                <a:spcPct val="200000"/>
              </a:lnSpc>
              <a:buFont typeface="Wingdings"/>
              <a:buChar char=""/>
            </a:pPr>
            <a:endParaRPr lang="en-US" altLang="ko-KR" sz="3600" b="1">
              <a:latin typeface="맑은 고딕" charset="0"/>
              <a:ea typeface="맑은 고딕" charset="0"/>
            </a:endParaRPr>
          </a:p>
          <a:p>
            <a:pPr marL="571500" indent="-571500" algn="l" defTabSz="914400" rtl="0" eaLnBrk="1" latinLnBrk="0" hangingPunct="1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altLang="ko-KR" sz="3600" b="1">
                <a:latin typeface="맑은 고딕" charset="0"/>
                <a:ea typeface="맑은 고딕" charset="0"/>
              </a:rPr>
              <a:t> </a:t>
            </a:r>
            <a:r>
              <a:rPr lang="ko-KR" altLang="en-US" sz="3600" b="1">
                <a:latin typeface="맑은 고딕" charset="0"/>
                <a:ea typeface="맑은 고딕" charset="0"/>
              </a:rPr>
              <a:t>실시간 알림 기반 비동기 메시지 처리 기능</a:t>
            </a:r>
            <a:endParaRPr lang="en-US" altLang="ko-KR" sz="3600" b="1">
              <a:latin typeface="맑은 고딕" charset="0"/>
              <a:ea typeface="맑은 고딕" charset="0"/>
            </a:endParaRPr>
          </a:p>
          <a:p>
            <a:pPr marL="254000" indent="-254000" algn="l" defTabSz="914400" rtl="0" eaLnBrk="1" latinLnBrk="0" hangingPunct="1">
              <a:lnSpc>
                <a:spcPct val="200000"/>
              </a:lnSpc>
              <a:buFont typeface="Wingdings"/>
              <a:buChar char=""/>
            </a:pPr>
            <a:endParaRPr lang="en-US" altLang="ko-KR" sz="3600" b="1">
              <a:latin typeface="맑은 고딕" charset="0"/>
              <a:ea typeface="맑은 고딕" charset="0"/>
            </a:endParaRPr>
          </a:p>
          <a:p>
            <a:pPr marL="571500" indent="-571500" algn="l" defTabSz="914400" rtl="0" eaLnBrk="1" latinLnBrk="0" hangingPunct="1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altLang="ko-KR" sz="3600" b="1">
                <a:latin typeface="맑은 고딕" charset="0"/>
                <a:ea typeface="맑은 고딕" charset="0"/>
              </a:rPr>
              <a:t> </a:t>
            </a:r>
            <a:r>
              <a:rPr lang="ko-KR" altLang="en-US" sz="3600" b="1">
                <a:latin typeface="맑은 고딕" charset="0"/>
                <a:ea typeface="맑은 고딕" charset="0"/>
              </a:rPr>
              <a:t>배포된 애플리케이션의 안정성 및 가용성 확보</a:t>
            </a:r>
            <a:endParaRPr lang="en-US" altLang="ko-KR" sz="3600" b="1">
              <a:latin typeface="맑은 고딕" charset="0"/>
              <a:ea typeface="맑은 고딕" charset="0"/>
            </a:endParaRPr>
          </a:p>
        </p:txBody>
      </p:sp>
      <p:grpSp>
        <p:nvGrpSpPr>
          <p:cNvPr id="2" name="Group 2">
            <a:extLst>
              <a:ext uri="{FF2B5EF4-FFF2-40B4-BE49-F238E27FC236}">
                <a16:creationId xmlns:a16="http://schemas.microsoft.com/office/drawing/2014/main" id="{1F60BC12-5DEA-368C-9CD8-B89590B10D00}"/>
              </a:ext>
            </a:extLst>
          </p:cNvPr>
          <p:cNvGrpSpPr/>
          <p:nvPr/>
        </p:nvGrpSpPr>
        <p:grpSpPr>
          <a:xfrm>
            <a:off x="-290868" y="10008764"/>
            <a:ext cx="18869735" cy="120011"/>
            <a:chOff x="0" y="0"/>
            <a:chExt cx="4969807" cy="31608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7907F7FD-B160-7CF4-A53F-C68A8FA4E887}"/>
                </a:ext>
              </a:extLst>
            </p:cNvPr>
            <p:cNvSpPr/>
            <p:nvPr/>
          </p:nvSpPr>
          <p:spPr>
            <a:xfrm>
              <a:off x="0" y="0"/>
              <a:ext cx="4969807" cy="31608"/>
            </a:xfrm>
            <a:custGeom>
              <a:avLst/>
              <a:gdLst/>
              <a:ahLst/>
              <a:cxnLst/>
              <a:rect l="l" t="t" r="r" b="b"/>
              <a:pathLst>
                <a:path w="4969807" h="31608">
                  <a:moveTo>
                    <a:pt x="0" y="0"/>
                  </a:moveTo>
                  <a:lnTo>
                    <a:pt x="4969807" y="0"/>
                  </a:lnTo>
                  <a:lnTo>
                    <a:pt x="4969807" y="31608"/>
                  </a:lnTo>
                  <a:lnTo>
                    <a:pt x="0" y="31608"/>
                  </a:lnTo>
                  <a:close/>
                </a:path>
              </a:pathLst>
            </a:custGeom>
            <a:solidFill>
              <a:srgbClr val="191919"/>
            </a:solidFill>
            <a:ln w="19050" cap="sq">
              <a:solidFill>
                <a:srgbClr val="191919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B32E5C83-ED9D-DB90-9B1B-E8B492B531E8}"/>
                </a:ext>
              </a:extLst>
            </p:cNvPr>
            <p:cNvSpPr txBox="1"/>
            <p:nvPr/>
          </p:nvSpPr>
          <p:spPr>
            <a:xfrm>
              <a:off x="0" y="-47625"/>
              <a:ext cx="4969807" cy="792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6" name="TextBox 6">
            <a:extLst>
              <a:ext uri="{FF2B5EF4-FFF2-40B4-BE49-F238E27FC236}">
                <a16:creationId xmlns:a16="http://schemas.microsoft.com/office/drawing/2014/main" id="{030A91A1-1975-6E12-1C49-1E5D3819A3E1}"/>
              </a:ext>
            </a:extLst>
          </p:cNvPr>
          <p:cNvSpPr txBox="1"/>
          <p:nvPr/>
        </p:nvSpPr>
        <p:spPr>
          <a:xfrm>
            <a:off x="1123950" y="944123"/>
            <a:ext cx="2186274" cy="794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6589"/>
              </a:lnSpc>
              <a:spcBef>
                <a:spcPct val="0"/>
              </a:spcBef>
            </a:pPr>
            <a:r>
              <a:rPr lang="en-US" altLang="ko-KR" sz="4800" b="1" spc="-65">
                <a:solidFill>
                  <a:srgbClr val="191919"/>
                </a:solidFill>
                <a:latin typeface="윤고딕"/>
                <a:ea typeface="윤고딕"/>
                <a:cs typeface="윤고딕"/>
                <a:sym typeface="윤고딕"/>
              </a:rPr>
              <a:t>1. </a:t>
            </a:r>
            <a:r>
              <a:rPr lang="ko-KR" altLang="en-US" sz="4800" b="1" spc="-65">
                <a:solidFill>
                  <a:srgbClr val="191919"/>
                </a:solidFill>
                <a:latin typeface="윤고딕"/>
                <a:ea typeface="윤고딕"/>
                <a:cs typeface="윤고딕"/>
                <a:sym typeface="윤고딕"/>
              </a:rPr>
              <a:t>서론</a:t>
            </a:r>
            <a:endParaRPr lang="en-US" sz="4800" b="1" spc="-65">
              <a:solidFill>
                <a:srgbClr val="191919"/>
              </a:solidFill>
              <a:latin typeface="윤고딕"/>
              <a:ea typeface="윤고딕"/>
              <a:cs typeface="윤고딕"/>
              <a:sym typeface="윤고딕"/>
            </a:endParaRPr>
          </a:p>
        </p:txBody>
      </p:sp>
      <p:sp>
        <p:nvSpPr>
          <p:cNvPr id="7" name="AutoShape 7">
            <a:extLst>
              <a:ext uri="{FF2B5EF4-FFF2-40B4-BE49-F238E27FC236}">
                <a16:creationId xmlns:a16="http://schemas.microsoft.com/office/drawing/2014/main" id="{DCA1DC6D-1FAF-FE6B-4440-AB1787662129}"/>
              </a:ext>
            </a:extLst>
          </p:cNvPr>
          <p:cNvSpPr/>
          <p:nvPr/>
        </p:nvSpPr>
        <p:spPr>
          <a:xfrm>
            <a:off x="0" y="828675"/>
            <a:ext cx="3276389" cy="0"/>
          </a:xfrm>
          <a:prstGeom prst="line">
            <a:avLst/>
          </a:prstGeom>
          <a:ln w="38100" cap="flat">
            <a:solidFill>
              <a:srgbClr val="19191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8" name="그림 7" descr="스크린샷, 직사각형, 사각형, 다채로움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19E03380-80BA-C197-753C-9A2B857C45D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35000" y="5119991"/>
            <a:ext cx="4495800" cy="4495800"/>
          </a:xfrm>
          <a:prstGeom prst="rect">
            <a:avLst/>
          </a:prstGeom>
        </p:spPr>
      </p:pic>
      <p:pic>
        <p:nvPicPr>
          <p:cNvPr id="10" name="그림 9" descr="클립아트, 스크린샷, 그래픽, 만화 영화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1C4EBBF6-933A-D783-34B2-A002D1438E7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51" t="1960" r="6239" b="2715"/>
          <a:stretch/>
        </p:blipFill>
        <p:spPr>
          <a:xfrm>
            <a:off x="14841094" y="-190500"/>
            <a:ext cx="3218306" cy="35056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96108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290868" y="10008764"/>
            <a:ext cx="18869735" cy="120011"/>
            <a:chOff x="0" y="0"/>
            <a:chExt cx="4969807" cy="3160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969807" cy="31608"/>
            </a:xfrm>
            <a:custGeom>
              <a:avLst/>
              <a:gdLst/>
              <a:ahLst/>
              <a:cxnLst/>
              <a:rect l="l" t="t" r="r" b="b"/>
              <a:pathLst>
                <a:path w="4969807" h="31608">
                  <a:moveTo>
                    <a:pt x="0" y="0"/>
                  </a:moveTo>
                  <a:lnTo>
                    <a:pt x="4969807" y="0"/>
                  </a:lnTo>
                  <a:lnTo>
                    <a:pt x="4969807" y="31608"/>
                  </a:lnTo>
                  <a:lnTo>
                    <a:pt x="0" y="31608"/>
                  </a:lnTo>
                  <a:close/>
                </a:path>
              </a:pathLst>
            </a:custGeom>
            <a:solidFill>
              <a:srgbClr val="191919"/>
            </a:solidFill>
            <a:ln w="19050" cap="sq">
              <a:solidFill>
                <a:srgbClr val="191919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4969807" cy="792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76201" y="896534"/>
            <a:ext cx="4349966" cy="77931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6589"/>
              </a:lnSpc>
              <a:spcBef>
                <a:spcPct val="0"/>
              </a:spcBef>
            </a:pPr>
            <a:r>
              <a:rPr lang="en-US" altLang="ko-KR" sz="4800" b="1" spc="-65">
                <a:solidFill>
                  <a:srgbClr val="191919"/>
                </a:solidFill>
                <a:latin typeface="윤고딕"/>
                <a:ea typeface="윤고딕"/>
                <a:cs typeface="윤고딕"/>
                <a:sym typeface="윤고딕"/>
              </a:rPr>
              <a:t>2. </a:t>
            </a:r>
            <a:r>
              <a:rPr lang="ko-KR" altLang="en-US" sz="4800" b="1" spc="-65">
                <a:solidFill>
                  <a:srgbClr val="191919"/>
                </a:solidFill>
                <a:latin typeface="윤고딕"/>
                <a:ea typeface="윤고딕"/>
                <a:cs typeface="윤고딕"/>
                <a:sym typeface="윤고딕"/>
              </a:rPr>
              <a:t>이론적 배경</a:t>
            </a:r>
            <a:endParaRPr lang="en-US" sz="4800" b="1" spc="-65">
              <a:solidFill>
                <a:srgbClr val="191919"/>
              </a:solidFill>
              <a:latin typeface="윤고딕"/>
              <a:ea typeface="윤고딕"/>
              <a:cs typeface="윤고딕"/>
              <a:sym typeface="윤고딕"/>
            </a:endParaRPr>
          </a:p>
        </p:txBody>
      </p:sp>
      <p:sp>
        <p:nvSpPr>
          <p:cNvPr id="14" name="AutoShape 14"/>
          <p:cNvSpPr/>
          <p:nvPr/>
        </p:nvSpPr>
        <p:spPr>
          <a:xfrm>
            <a:off x="0" y="828675"/>
            <a:ext cx="3276389" cy="0"/>
          </a:xfrm>
          <a:prstGeom prst="line">
            <a:avLst/>
          </a:prstGeom>
          <a:ln w="38100" cap="flat">
            <a:solidFill>
              <a:srgbClr val="19191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7" name="그림 16" descr="텍스트, 도표, 스크린샷, 라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F59864C2-DE93-E385-79D6-7CF5A5B7BC8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5073" y="2722473"/>
            <a:ext cx="8318926" cy="2903305"/>
          </a:xfrm>
          <a:prstGeom prst="rect">
            <a:avLst/>
          </a:prstGeom>
        </p:spPr>
      </p:pic>
      <p:sp>
        <p:nvSpPr>
          <p:cNvPr id="18" name="Object 6">
            <a:extLst>
              <a:ext uri="{FF2B5EF4-FFF2-40B4-BE49-F238E27FC236}">
                <a16:creationId xmlns:a16="http://schemas.microsoft.com/office/drawing/2014/main" id="{F3D16B1A-8FFE-02A6-F04C-79A4C1F69204}"/>
              </a:ext>
            </a:extLst>
          </p:cNvPr>
          <p:cNvSpPr txBox="1"/>
          <p:nvPr/>
        </p:nvSpPr>
        <p:spPr>
          <a:xfrm>
            <a:off x="838200" y="2001033"/>
            <a:ext cx="7696200" cy="707886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4000" b="1">
                <a:latin typeface="윤고딕" panose="020B0600000101010101" charset="-127"/>
                <a:ea typeface="윤고딕" panose="020B0600000101010101" charset="-127"/>
              </a:rPr>
              <a:t>Spring Cloud</a:t>
            </a:r>
          </a:p>
        </p:txBody>
      </p:sp>
      <p:pic>
        <p:nvPicPr>
          <p:cNvPr id="19" name="그림 18" descr="텍스트, 스크린샷, 원, 도표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9E1118D1-24A9-D754-E193-C838197E203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061" t="14932" r="2317" b="2274"/>
          <a:stretch/>
        </p:blipFill>
        <p:spPr>
          <a:xfrm>
            <a:off x="10515600" y="982259"/>
            <a:ext cx="6324600" cy="4466010"/>
          </a:xfrm>
          <a:prstGeom prst="rect">
            <a:avLst/>
          </a:prstGeom>
        </p:spPr>
      </p:pic>
      <p:sp>
        <p:nvSpPr>
          <p:cNvPr id="20" name="Object 6">
            <a:extLst>
              <a:ext uri="{FF2B5EF4-FFF2-40B4-BE49-F238E27FC236}">
                <a16:creationId xmlns:a16="http://schemas.microsoft.com/office/drawing/2014/main" id="{87257B65-40AD-FB0D-3A34-4F4302DCE5D8}"/>
              </a:ext>
            </a:extLst>
          </p:cNvPr>
          <p:cNvSpPr txBox="1"/>
          <p:nvPr/>
        </p:nvSpPr>
        <p:spPr>
          <a:xfrm>
            <a:off x="10744200" y="274373"/>
            <a:ext cx="7696200" cy="707886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4000" b="1">
                <a:latin typeface="윤고딕" panose="020B0600000101010101" charset="-127"/>
                <a:ea typeface="윤고딕" panose="020B0600000101010101" charset="-127"/>
              </a:rPr>
              <a:t>Cloud Native</a:t>
            </a:r>
          </a:p>
        </p:txBody>
      </p:sp>
      <p:sp>
        <p:nvSpPr>
          <p:cNvPr id="21" name="Object 6">
            <a:extLst>
              <a:ext uri="{FF2B5EF4-FFF2-40B4-BE49-F238E27FC236}">
                <a16:creationId xmlns:a16="http://schemas.microsoft.com/office/drawing/2014/main" id="{06226B32-5E29-5377-8D8A-0F8C2DADDA6B}"/>
              </a:ext>
            </a:extLst>
          </p:cNvPr>
          <p:cNvSpPr txBox="1"/>
          <p:nvPr/>
        </p:nvSpPr>
        <p:spPr>
          <a:xfrm>
            <a:off x="838200" y="5397892"/>
            <a:ext cx="6172200" cy="707886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4000" b="1">
                <a:latin typeface="윤고딕" panose="020B0600000101010101" charset="-127"/>
                <a:ea typeface="윤고딕" panose="020B0600000101010101" charset="-127"/>
              </a:rPr>
              <a:t>Docker</a:t>
            </a:r>
          </a:p>
        </p:txBody>
      </p:sp>
      <p:sp>
        <p:nvSpPr>
          <p:cNvPr id="24" name="Object 6">
            <a:extLst>
              <a:ext uri="{FF2B5EF4-FFF2-40B4-BE49-F238E27FC236}">
                <a16:creationId xmlns:a16="http://schemas.microsoft.com/office/drawing/2014/main" id="{5777440C-0C71-E3DF-A388-4F9C1239BC0B}"/>
              </a:ext>
            </a:extLst>
          </p:cNvPr>
          <p:cNvSpPr txBox="1"/>
          <p:nvPr/>
        </p:nvSpPr>
        <p:spPr>
          <a:xfrm>
            <a:off x="9621579" y="5220286"/>
            <a:ext cx="5334000" cy="707886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4000" b="1" err="1">
                <a:latin typeface="윤고딕" panose="020B0600000101010101" charset="-127"/>
                <a:ea typeface="윤고딕" panose="020B0600000101010101" charset="-127"/>
              </a:rPr>
              <a:t>kubernetes</a:t>
            </a:r>
            <a:endParaRPr lang="en-US" sz="4000" b="1">
              <a:latin typeface="윤고딕" panose="020B0600000101010101" charset="-127"/>
              <a:ea typeface="윤고딕" panose="020B0600000101010101" charset="-127"/>
            </a:endParaRPr>
          </a:p>
        </p:txBody>
      </p:sp>
      <p:pic>
        <p:nvPicPr>
          <p:cNvPr id="28" name="그림 27" descr="텍스트, 스크린샷, 폰트, 브랜드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083C94FC-B7A1-BFE6-F1CC-E1A2B526C6B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717" t="15830" r="12969" b="4276"/>
          <a:stretch/>
        </p:blipFill>
        <p:spPr>
          <a:xfrm>
            <a:off x="9391280" y="5829300"/>
            <a:ext cx="7543801" cy="4179464"/>
          </a:xfrm>
          <a:prstGeom prst="rect">
            <a:avLst/>
          </a:prstGeom>
        </p:spPr>
      </p:pic>
      <p:pic>
        <p:nvPicPr>
          <p:cNvPr id="30" name="그림 29" descr="텍스트, 도표, 스크린샷, 폰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454EBD92-F4CC-C463-5342-4A0BE268C6C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80" t="5559" r="3658" b="2089"/>
          <a:stretch/>
        </p:blipFill>
        <p:spPr>
          <a:xfrm>
            <a:off x="825073" y="6070193"/>
            <a:ext cx="6922422" cy="393857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5DFD90-2D3D-35C3-2A95-AF8EEE2368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3625C0BE-8AA0-CF27-900B-21EB7E0E77DF}"/>
              </a:ext>
            </a:extLst>
          </p:cNvPr>
          <p:cNvGrpSpPr/>
          <p:nvPr/>
        </p:nvGrpSpPr>
        <p:grpSpPr>
          <a:xfrm>
            <a:off x="-290868" y="10008764"/>
            <a:ext cx="18869735" cy="120011"/>
            <a:chOff x="0" y="0"/>
            <a:chExt cx="4969807" cy="31608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BCAB52E3-5C49-0D00-168D-47336CA5984B}"/>
                </a:ext>
              </a:extLst>
            </p:cNvPr>
            <p:cNvSpPr/>
            <p:nvPr/>
          </p:nvSpPr>
          <p:spPr>
            <a:xfrm>
              <a:off x="0" y="0"/>
              <a:ext cx="4969807" cy="31608"/>
            </a:xfrm>
            <a:custGeom>
              <a:avLst/>
              <a:gdLst/>
              <a:ahLst/>
              <a:cxnLst/>
              <a:rect l="l" t="t" r="r" b="b"/>
              <a:pathLst>
                <a:path w="4969807" h="31608">
                  <a:moveTo>
                    <a:pt x="0" y="0"/>
                  </a:moveTo>
                  <a:lnTo>
                    <a:pt x="4969807" y="0"/>
                  </a:lnTo>
                  <a:lnTo>
                    <a:pt x="4969807" y="31608"/>
                  </a:lnTo>
                  <a:lnTo>
                    <a:pt x="0" y="31608"/>
                  </a:lnTo>
                  <a:close/>
                </a:path>
              </a:pathLst>
            </a:custGeom>
            <a:solidFill>
              <a:srgbClr val="191919"/>
            </a:solidFill>
            <a:ln w="19050" cap="sq">
              <a:solidFill>
                <a:srgbClr val="191919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FA0922E5-C3BC-8AB4-F60E-A43777877F3C}"/>
                </a:ext>
              </a:extLst>
            </p:cNvPr>
            <p:cNvSpPr txBox="1"/>
            <p:nvPr/>
          </p:nvSpPr>
          <p:spPr>
            <a:xfrm>
              <a:off x="0" y="-47625"/>
              <a:ext cx="4969807" cy="792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4" name="AutoShape 14">
            <a:extLst>
              <a:ext uri="{FF2B5EF4-FFF2-40B4-BE49-F238E27FC236}">
                <a16:creationId xmlns:a16="http://schemas.microsoft.com/office/drawing/2014/main" id="{A2B2F565-79A5-94C6-6B02-37B9D3129995}"/>
              </a:ext>
            </a:extLst>
          </p:cNvPr>
          <p:cNvSpPr/>
          <p:nvPr/>
        </p:nvSpPr>
        <p:spPr>
          <a:xfrm>
            <a:off x="0" y="828675"/>
            <a:ext cx="3276389" cy="0"/>
          </a:xfrm>
          <a:prstGeom prst="line">
            <a:avLst/>
          </a:prstGeom>
          <a:ln w="38100" cap="flat">
            <a:solidFill>
              <a:srgbClr val="19191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Box 13">
            <a:extLst>
              <a:ext uri="{FF2B5EF4-FFF2-40B4-BE49-F238E27FC236}">
                <a16:creationId xmlns:a16="http://schemas.microsoft.com/office/drawing/2014/main" id="{1551C4F9-2317-FE25-B48B-792713C8ED67}"/>
              </a:ext>
            </a:extLst>
          </p:cNvPr>
          <p:cNvSpPr txBox="1"/>
          <p:nvPr/>
        </p:nvSpPr>
        <p:spPr>
          <a:xfrm>
            <a:off x="76200" y="896534"/>
            <a:ext cx="7924799" cy="77931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6589"/>
              </a:lnSpc>
              <a:spcBef>
                <a:spcPct val="0"/>
              </a:spcBef>
            </a:pPr>
            <a:r>
              <a:rPr lang="en-US" altLang="ko-KR" sz="4800" b="1" spc="-65">
                <a:solidFill>
                  <a:srgbClr val="191919"/>
                </a:solidFill>
                <a:latin typeface="윤고딕"/>
                <a:ea typeface="윤고딕"/>
                <a:cs typeface="윤고딕"/>
                <a:sym typeface="윤고딕"/>
              </a:rPr>
              <a:t>2. </a:t>
            </a:r>
            <a:r>
              <a:rPr lang="ko-KR" altLang="en-US" sz="4800" b="1" spc="-65">
                <a:solidFill>
                  <a:srgbClr val="191919"/>
                </a:solidFill>
                <a:latin typeface="윤고딕"/>
                <a:ea typeface="윤고딕"/>
                <a:cs typeface="윤고딕"/>
                <a:sym typeface="윤고딕"/>
              </a:rPr>
              <a:t>이론적 배경</a:t>
            </a:r>
            <a:r>
              <a:rPr lang="en-US" altLang="ko-KR" sz="4800" b="1" spc="-65">
                <a:solidFill>
                  <a:srgbClr val="191919"/>
                </a:solidFill>
                <a:latin typeface="윤고딕"/>
                <a:ea typeface="윤고딕"/>
                <a:cs typeface="윤고딕"/>
                <a:sym typeface="윤고딕"/>
              </a:rPr>
              <a:t>: Cloud Native</a:t>
            </a:r>
            <a:endParaRPr lang="en-US" sz="4800" b="1" spc="-65">
              <a:solidFill>
                <a:srgbClr val="191919"/>
              </a:solidFill>
              <a:latin typeface="윤고딕"/>
              <a:ea typeface="윤고딕"/>
              <a:cs typeface="윤고딕"/>
              <a:sym typeface="윤고딕"/>
            </a:endParaRPr>
          </a:p>
        </p:txBody>
      </p:sp>
      <p:pic>
        <p:nvPicPr>
          <p:cNvPr id="69" name="그림 68">
            <a:extLst>
              <a:ext uri="{FF2B5EF4-FFF2-40B4-BE49-F238E27FC236}">
                <a16:creationId xmlns:a16="http://schemas.microsoft.com/office/drawing/2014/main" id="{2A82115E-EFAD-165B-396F-EBDCEDB9CF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200" y="2324100"/>
            <a:ext cx="9094800" cy="6487225"/>
          </a:xfrm>
          <a:prstGeom prst="rect">
            <a:avLst/>
          </a:prstGeom>
        </p:spPr>
      </p:pic>
      <p:pic>
        <p:nvPicPr>
          <p:cNvPr id="71" name="그림 70" descr="텍스트, 원, 폰트, 스크린샷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19FF6A4F-691A-627F-CA5F-3D9875FCDEC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149" t="3415" r="21642" b="3849"/>
          <a:stretch/>
        </p:blipFill>
        <p:spPr>
          <a:xfrm>
            <a:off x="10515600" y="1675850"/>
            <a:ext cx="6746713" cy="6487224"/>
          </a:xfrm>
          <a:prstGeom prst="rect">
            <a:avLst/>
          </a:prstGeom>
        </p:spPr>
      </p:pic>
      <p:sp>
        <p:nvSpPr>
          <p:cNvPr id="72" name="TextBox 71">
            <a:extLst>
              <a:ext uri="{FF2B5EF4-FFF2-40B4-BE49-F238E27FC236}">
                <a16:creationId xmlns:a16="http://schemas.microsoft.com/office/drawing/2014/main" id="{CC3E0247-E55D-2099-0A20-0F5D2E86C74B}"/>
              </a:ext>
            </a:extLst>
          </p:cNvPr>
          <p:cNvSpPr txBox="1"/>
          <p:nvPr/>
        </p:nvSpPr>
        <p:spPr>
          <a:xfrm>
            <a:off x="6743700" y="2324100"/>
            <a:ext cx="2057400" cy="57150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vert="eaVert" wrap="square" rtlCol="0">
            <a:spAutoFit/>
          </a:bodyPr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084039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6787F6-F1C8-DDD2-387C-68118CB2FB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0EA3DC54-6CA8-051C-C827-BC6413320BBE}"/>
              </a:ext>
            </a:extLst>
          </p:cNvPr>
          <p:cNvGrpSpPr/>
          <p:nvPr/>
        </p:nvGrpSpPr>
        <p:grpSpPr>
          <a:xfrm>
            <a:off x="-290868" y="10008764"/>
            <a:ext cx="18869735" cy="120011"/>
            <a:chOff x="0" y="0"/>
            <a:chExt cx="4969807" cy="31608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4FA382FE-3841-B6FC-0322-9812BE50C399}"/>
                </a:ext>
              </a:extLst>
            </p:cNvPr>
            <p:cNvSpPr/>
            <p:nvPr/>
          </p:nvSpPr>
          <p:spPr>
            <a:xfrm>
              <a:off x="0" y="0"/>
              <a:ext cx="4969807" cy="31608"/>
            </a:xfrm>
            <a:custGeom>
              <a:avLst/>
              <a:gdLst/>
              <a:ahLst/>
              <a:cxnLst/>
              <a:rect l="l" t="t" r="r" b="b"/>
              <a:pathLst>
                <a:path w="4969807" h="31608">
                  <a:moveTo>
                    <a:pt x="0" y="0"/>
                  </a:moveTo>
                  <a:lnTo>
                    <a:pt x="4969807" y="0"/>
                  </a:lnTo>
                  <a:lnTo>
                    <a:pt x="4969807" y="31608"/>
                  </a:lnTo>
                  <a:lnTo>
                    <a:pt x="0" y="31608"/>
                  </a:lnTo>
                  <a:close/>
                </a:path>
              </a:pathLst>
            </a:custGeom>
            <a:solidFill>
              <a:srgbClr val="191919"/>
            </a:solidFill>
            <a:ln w="19050" cap="sq">
              <a:solidFill>
                <a:srgbClr val="191919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82A5EBF-B34B-E47D-B3EE-EF8A3DC1F1CD}"/>
                </a:ext>
              </a:extLst>
            </p:cNvPr>
            <p:cNvSpPr txBox="1"/>
            <p:nvPr/>
          </p:nvSpPr>
          <p:spPr>
            <a:xfrm>
              <a:off x="0" y="-47625"/>
              <a:ext cx="4969807" cy="792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9" name="AutoShape 9">
            <a:extLst>
              <a:ext uri="{FF2B5EF4-FFF2-40B4-BE49-F238E27FC236}">
                <a16:creationId xmlns:a16="http://schemas.microsoft.com/office/drawing/2014/main" id="{44A46ED7-DF86-36D4-2740-5FC6504D7C05}"/>
              </a:ext>
            </a:extLst>
          </p:cNvPr>
          <p:cNvSpPr/>
          <p:nvPr/>
        </p:nvSpPr>
        <p:spPr>
          <a:xfrm>
            <a:off x="0" y="828675"/>
            <a:ext cx="3276389" cy="0"/>
          </a:xfrm>
          <a:prstGeom prst="line">
            <a:avLst/>
          </a:prstGeom>
          <a:ln w="38100" cap="flat">
            <a:solidFill>
              <a:srgbClr val="19191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6" name="그림 5" descr="텍스트, 도표, 평면도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60FD3E04-7349-2FFE-2D18-06451AF5ED4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762" y="1615158"/>
            <a:ext cx="9448800" cy="821278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32BC877-7824-FF6B-FE3B-1FAC80DC119C}"/>
              </a:ext>
            </a:extLst>
          </p:cNvPr>
          <p:cNvSpPr txBox="1"/>
          <p:nvPr/>
        </p:nvSpPr>
        <p:spPr>
          <a:xfrm>
            <a:off x="9525000" y="141015"/>
            <a:ext cx="9369028" cy="101566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ko-KR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altLang="ko-KR" sz="3600" b="1"/>
              <a:t>Eureka: </a:t>
            </a:r>
          </a:p>
          <a:p>
            <a:r>
              <a:rPr lang="ko-KR" altLang="en-US" sz="3200"/>
              <a:t>서비스 등록 및 검색을 지원하는 </a:t>
            </a:r>
            <a:r>
              <a:rPr lang="en-US" altLang="ko-KR" sz="3200">
                <a:solidFill>
                  <a:srgbClr val="FF0000"/>
                </a:solidFill>
              </a:rPr>
              <a:t>Discovery Server</a:t>
            </a:r>
          </a:p>
          <a:p>
            <a:endParaRPr lang="en-US" altLang="ko-KR" sz="320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altLang="ko-KR" sz="3600" b="1"/>
              <a:t>Config:</a:t>
            </a:r>
          </a:p>
          <a:p>
            <a:r>
              <a:rPr lang="ko-KR" altLang="en-US" sz="3200"/>
              <a:t>분산 시스템의 </a:t>
            </a:r>
            <a:r>
              <a:rPr lang="ko-KR" altLang="en-US" sz="3200">
                <a:solidFill>
                  <a:srgbClr val="FF0000"/>
                </a:solidFill>
              </a:rPr>
              <a:t>설정 정보</a:t>
            </a:r>
            <a:r>
              <a:rPr lang="ko-KR" altLang="en-US" sz="3200"/>
              <a:t>를 </a:t>
            </a:r>
            <a:r>
              <a:rPr lang="ko-KR" altLang="en-US" sz="3200">
                <a:solidFill>
                  <a:srgbClr val="FF0000"/>
                </a:solidFill>
              </a:rPr>
              <a:t>중앙 관리</a:t>
            </a:r>
            <a:r>
              <a:rPr lang="ko-KR" altLang="en-US" sz="3200"/>
              <a:t>하는 </a:t>
            </a:r>
            <a:r>
              <a:rPr lang="en-US" altLang="ko-KR" sz="3200"/>
              <a:t>Server</a:t>
            </a:r>
          </a:p>
          <a:p>
            <a:endParaRPr lang="en-US" altLang="ko-KR" sz="3200" b="1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altLang="ko-KR" sz="3600" b="1"/>
              <a:t>Gateway/Zuul:</a:t>
            </a:r>
          </a:p>
          <a:p>
            <a:r>
              <a:rPr lang="ko-KR" altLang="en-US" sz="3200"/>
              <a:t>외부 요청을 내부로 </a:t>
            </a:r>
            <a:r>
              <a:rPr lang="ko-KR" altLang="en-US" sz="3200">
                <a:solidFill>
                  <a:srgbClr val="FF0000"/>
                </a:solidFill>
              </a:rPr>
              <a:t>라우팅</a:t>
            </a:r>
            <a:r>
              <a:rPr lang="ko-KR" altLang="en-US" sz="3200"/>
              <a:t>하는 </a:t>
            </a:r>
            <a:r>
              <a:rPr lang="en-US" altLang="ko-KR" sz="3200">
                <a:solidFill>
                  <a:srgbClr val="FF0000"/>
                </a:solidFill>
              </a:rPr>
              <a:t>API Gateway</a:t>
            </a:r>
          </a:p>
          <a:p>
            <a:endParaRPr lang="en-US" altLang="ko-KR" sz="3200" b="1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altLang="ko-KR" sz="3600" b="1"/>
              <a:t>LoadBalancer/Ribbon:</a:t>
            </a:r>
          </a:p>
          <a:p>
            <a:r>
              <a:rPr lang="ko-KR" altLang="en-US" sz="3200"/>
              <a:t>서비스 간의 </a:t>
            </a:r>
            <a:r>
              <a:rPr lang="ko-KR" altLang="en-US" sz="3200">
                <a:solidFill>
                  <a:srgbClr val="FF0000"/>
                </a:solidFill>
              </a:rPr>
              <a:t>로드밸런싱</a:t>
            </a:r>
            <a:r>
              <a:rPr lang="ko-KR" altLang="en-US" sz="3200"/>
              <a:t>을 담당하는 라이브러리</a:t>
            </a:r>
            <a:endParaRPr lang="en-US" altLang="ko-KR" sz="3200"/>
          </a:p>
          <a:p>
            <a:endParaRPr lang="en-US" altLang="ko-KR" sz="3200" b="1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altLang="ko-KR" sz="3600" b="1"/>
              <a:t>Actuator:</a:t>
            </a:r>
          </a:p>
          <a:p>
            <a:r>
              <a:rPr lang="ko-KR" altLang="en-US" sz="3200"/>
              <a:t>각 서비스의 </a:t>
            </a:r>
            <a:r>
              <a:rPr lang="ko-KR" altLang="en-US" sz="3200">
                <a:solidFill>
                  <a:srgbClr val="FF0000"/>
                </a:solidFill>
              </a:rPr>
              <a:t>상태를 체크</a:t>
            </a:r>
            <a:r>
              <a:rPr lang="ko-KR" altLang="en-US" sz="3200"/>
              <a:t>할 수 있는 도구</a:t>
            </a:r>
            <a:endParaRPr lang="en-US" altLang="ko-KR" sz="3200"/>
          </a:p>
          <a:p>
            <a:endParaRPr lang="en-US" altLang="ko-KR" sz="3200" b="1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altLang="ko-KR" sz="3600" b="1"/>
              <a:t>Spring Cloud Bus:</a:t>
            </a:r>
          </a:p>
          <a:p>
            <a:r>
              <a:rPr lang="ko-KR" altLang="en-US" sz="3200">
                <a:solidFill>
                  <a:srgbClr val="FF0000"/>
                </a:solidFill>
              </a:rPr>
              <a:t>메시지 큐를 </a:t>
            </a:r>
            <a:r>
              <a:rPr lang="ko-KR" altLang="en-US" sz="3200"/>
              <a:t>통해 설정 변화</a:t>
            </a:r>
            <a:r>
              <a:rPr lang="en-US" altLang="ko-KR" sz="3200"/>
              <a:t>, </a:t>
            </a:r>
            <a:r>
              <a:rPr lang="ko-KR" altLang="en-US" sz="3200"/>
              <a:t>이벤트를 </a:t>
            </a:r>
            <a:r>
              <a:rPr lang="ko-KR" altLang="en-US" sz="3200">
                <a:solidFill>
                  <a:srgbClr val="FF0000"/>
                </a:solidFill>
              </a:rPr>
              <a:t>전파</a:t>
            </a:r>
            <a:r>
              <a:rPr lang="ko-KR" altLang="en-US" sz="3200"/>
              <a:t>하는 컴포넌트 </a:t>
            </a:r>
          </a:p>
          <a:p>
            <a:endParaRPr lang="ko-KR" altLang="en-US"/>
          </a:p>
        </p:txBody>
      </p:sp>
      <p:sp>
        <p:nvSpPr>
          <p:cNvPr id="19" name="TextBox 13">
            <a:extLst>
              <a:ext uri="{FF2B5EF4-FFF2-40B4-BE49-F238E27FC236}">
                <a16:creationId xmlns:a16="http://schemas.microsoft.com/office/drawing/2014/main" id="{A0232DB8-E6E1-42F5-0C97-5622801A67D9}"/>
              </a:ext>
            </a:extLst>
          </p:cNvPr>
          <p:cNvSpPr txBox="1"/>
          <p:nvPr/>
        </p:nvSpPr>
        <p:spPr>
          <a:xfrm>
            <a:off x="76201" y="896534"/>
            <a:ext cx="8000999" cy="77931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6589"/>
              </a:lnSpc>
              <a:spcBef>
                <a:spcPct val="0"/>
              </a:spcBef>
            </a:pPr>
            <a:r>
              <a:rPr lang="en-US" altLang="ko-KR" sz="4800" b="1" spc="-65">
                <a:solidFill>
                  <a:srgbClr val="191919"/>
                </a:solidFill>
                <a:latin typeface="윤고딕"/>
                <a:ea typeface="윤고딕"/>
                <a:cs typeface="윤고딕"/>
                <a:sym typeface="윤고딕"/>
              </a:rPr>
              <a:t>2. </a:t>
            </a:r>
            <a:r>
              <a:rPr lang="ko-KR" altLang="en-US" sz="4800" b="1" spc="-65">
                <a:solidFill>
                  <a:srgbClr val="191919"/>
                </a:solidFill>
                <a:latin typeface="윤고딕"/>
                <a:ea typeface="윤고딕"/>
                <a:cs typeface="윤고딕"/>
                <a:sym typeface="윤고딕"/>
              </a:rPr>
              <a:t>이론적 배경</a:t>
            </a:r>
            <a:r>
              <a:rPr lang="en-US" altLang="ko-KR" sz="4800" b="1" spc="-65">
                <a:solidFill>
                  <a:srgbClr val="191919"/>
                </a:solidFill>
                <a:latin typeface="윤고딕"/>
                <a:ea typeface="윤고딕"/>
                <a:cs typeface="윤고딕"/>
                <a:sym typeface="윤고딕"/>
              </a:rPr>
              <a:t>: Spring Cloud</a:t>
            </a:r>
            <a:endParaRPr lang="en-US" sz="4800" b="1" spc="-65">
              <a:solidFill>
                <a:srgbClr val="191919"/>
              </a:solidFill>
              <a:latin typeface="윤고딕"/>
              <a:ea typeface="윤고딕"/>
              <a:cs typeface="윤고딕"/>
              <a:sym typeface="윤고딕"/>
            </a:endParaRPr>
          </a:p>
        </p:txBody>
      </p:sp>
    </p:spTree>
    <p:extLst>
      <p:ext uri="{BB962C8B-B14F-4D97-AF65-F5344CB8AC3E}">
        <p14:creationId xmlns:p14="http://schemas.microsoft.com/office/powerpoint/2010/main" val="15721838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25C8F2-CC2F-B17E-4AA1-0ECE1121DC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C6920E47-5E54-7E5B-F1E7-781086AB0AAB}"/>
              </a:ext>
            </a:extLst>
          </p:cNvPr>
          <p:cNvGrpSpPr/>
          <p:nvPr/>
        </p:nvGrpSpPr>
        <p:grpSpPr>
          <a:xfrm>
            <a:off x="-290868" y="10008764"/>
            <a:ext cx="18869735" cy="120011"/>
            <a:chOff x="0" y="0"/>
            <a:chExt cx="4969807" cy="31608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7A530C36-0B27-10B9-EF89-F7B4328DB840}"/>
                </a:ext>
              </a:extLst>
            </p:cNvPr>
            <p:cNvSpPr/>
            <p:nvPr/>
          </p:nvSpPr>
          <p:spPr>
            <a:xfrm>
              <a:off x="0" y="0"/>
              <a:ext cx="4969807" cy="31608"/>
            </a:xfrm>
            <a:custGeom>
              <a:avLst/>
              <a:gdLst/>
              <a:ahLst/>
              <a:cxnLst/>
              <a:rect l="l" t="t" r="r" b="b"/>
              <a:pathLst>
                <a:path w="4969807" h="31608">
                  <a:moveTo>
                    <a:pt x="0" y="0"/>
                  </a:moveTo>
                  <a:lnTo>
                    <a:pt x="4969807" y="0"/>
                  </a:lnTo>
                  <a:lnTo>
                    <a:pt x="4969807" y="31608"/>
                  </a:lnTo>
                  <a:lnTo>
                    <a:pt x="0" y="31608"/>
                  </a:lnTo>
                  <a:close/>
                </a:path>
              </a:pathLst>
            </a:custGeom>
            <a:solidFill>
              <a:srgbClr val="191919"/>
            </a:solidFill>
            <a:ln w="19050" cap="sq">
              <a:solidFill>
                <a:srgbClr val="191919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B2980CD5-F30E-5000-8F40-17F6854E0243}"/>
                </a:ext>
              </a:extLst>
            </p:cNvPr>
            <p:cNvSpPr txBox="1"/>
            <p:nvPr/>
          </p:nvSpPr>
          <p:spPr>
            <a:xfrm>
              <a:off x="0" y="-47625"/>
              <a:ext cx="4969807" cy="792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9" name="AutoShape 9">
            <a:extLst>
              <a:ext uri="{FF2B5EF4-FFF2-40B4-BE49-F238E27FC236}">
                <a16:creationId xmlns:a16="http://schemas.microsoft.com/office/drawing/2014/main" id="{D4DD71B9-2961-FD05-E91B-61D94B6DF2D9}"/>
              </a:ext>
            </a:extLst>
          </p:cNvPr>
          <p:cNvSpPr/>
          <p:nvPr/>
        </p:nvSpPr>
        <p:spPr>
          <a:xfrm>
            <a:off x="0" y="828675"/>
            <a:ext cx="3276389" cy="0"/>
          </a:xfrm>
          <a:prstGeom prst="line">
            <a:avLst/>
          </a:prstGeom>
          <a:ln w="38100" cap="flat">
            <a:solidFill>
              <a:srgbClr val="19191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Box 13">
            <a:extLst>
              <a:ext uri="{FF2B5EF4-FFF2-40B4-BE49-F238E27FC236}">
                <a16:creationId xmlns:a16="http://schemas.microsoft.com/office/drawing/2014/main" id="{E543BC54-1C5B-DB11-29DA-D30E5EF30284}"/>
              </a:ext>
            </a:extLst>
          </p:cNvPr>
          <p:cNvSpPr txBox="1"/>
          <p:nvPr/>
        </p:nvSpPr>
        <p:spPr>
          <a:xfrm>
            <a:off x="76201" y="896534"/>
            <a:ext cx="6248399" cy="77931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6589"/>
              </a:lnSpc>
              <a:spcBef>
                <a:spcPct val="0"/>
              </a:spcBef>
            </a:pPr>
            <a:r>
              <a:rPr lang="en-US" altLang="ko-KR" sz="4800" b="1" spc="-65">
                <a:solidFill>
                  <a:srgbClr val="191919"/>
                </a:solidFill>
                <a:latin typeface="윤고딕"/>
                <a:ea typeface="윤고딕"/>
                <a:cs typeface="윤고딕"/>
                <a:sym typeface="윤고딕"/>
              </a:rPr>
              <a:t>2. </a:t>
            </a:r>
            <a:r>
              <a:rPr lang="ko-KR" altLang="en-US" sz="4800" b="1" spc="-65">
                <a:solidFill>
                  <a:srgbClr val="191919"/>
                </a:solidFill>
                <a:latin typeface="윤고딕"/>
                <a:ea typeface="윤고딕"/>
                <a:cs typeface="윤고딕"/>
                <a:sym typeface="윤고딕"/>
              </a:rPr>
              <a:t>이론적 배경</a:t>
            </a:r>
            <a:r>
              <a:rPr lang="en-US" altLang="ko-KR" sz="4800" b="1" spc="-65">
                <a:solidFill>
                  <a:srgbClr val="191919"/>
                </a:solidFill>
                <a:latin typeface="윤고딕"/>
                <a:ea typeface="윤고딕"/>
                <a:cs typeface="윤고딕"/>
                <a:sym typeface="윤고딕"/>
              </a:rPr>
              <a:t>: Docker</a:t>
            </a:r>
            <a:endParaRPr lang="en-US" sz="4800" b="1" spc="-65">
              <a:solidFill>
                <a:srgbClr val="191919"/>
              </a:solidFill>
              <a:latin typeface="윤고딕"/>
              <a:ea typeface="윤고딕"/>
              <a:cs typeface="윤고딕"/>
              <a:sym typeface="윤고딕"/>
            </a:endParaRPr>
          </a:p>
        </p:txBody>
      </p:sp>
      <p:pic>
        <p:nvPicPr>
          <p:cNvPr id="11" name="그림 10" descr="텍스트, 스크린샷, 폰트, 번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E590862F-3606-0F84-3E4D-0B6A569AB5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471"/>
          <a:stretch/>
        </p:blipFill>
        <p:spPr>
          <a:xfrm>
            <a:off x="304800" y="2052489"/>
            <a:ext cx="8077200" cy="7362825"/>
          </a:xfrm>
          <a:prstGeom prst="rect">
            <a:avLst/>
          </a:prstGeom>
        </p:spPr>
      </p:pic>
      <p:pic>
        <p:nvPicPr>
          <p:cNvPr id="13" name="그림 12" descr="텍스트, 스크린샷, 일렉트릭 블루, 로고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40F01E32-8A75-1EF2-4050-3FDA4B6DA6C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0661" y="1921185"/>
            <a:ext cx="9312250" cy="289560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AA7B2837-8938-539A-F8FF-9CBB213D4691}"/>
              </a:ext>
            </a:extLst>
          </p:cNvPr>
          <p:cNvSpPr txBox="1"/>
          <p:nvPr/>
        </p:nvSpPr>
        <p:spPr>
          <a:xfrm>
            <a:off x="8610600" y="5099998"/>
            <a:ext cx="9720472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ko-KR" sz="3200"/>
              <a:t>DockerFile </a:t>
            </a:r>
            <a:r>
              <a:rPr lang="ko-KR" altLang="en-US" sz="3200"/>
              <a:t>을 패키징 하여 </a:t>
            </a:r>
            <a:r>
              <a:rPr lang="en-US" altLang="ko-KR" sz="3200"/>
              <a:t>Image </a:t>
            </a:r>
            <a:r>
              <a:rPr lang="ko-KR" altLang="en-US" sz="3200"/>
              <a:t>로 만들어 컨테이너의 형태로 실행</a:t>
            </a:r>
            <a:endParaRPr lang="en-US" altLang="ko-KR" sz="3200"/>
          </a:p>
          <a:p>
            <a:endParaRPr lang="en-US" altLang="ko-KR" sz="320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altLang="ko-KR" sz="320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altLang="ko-KR" sz="320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ko-KR" altLang="en-US" sz="3200"/>
              <a:t>컨테이너는 호스트 </a:t>
            </a:r>
            <a:r>
              <a:rPr lang="en-US" altLang="ko-KR" sz="3200"/>
              <a:t>OS</a:t>
            </a:r>
            <a:r>
              <a:rPr lang="ko-KR" altLang="en-US" sz="3200"/>
              <a:t>의 커널을 공유하면서 독립된 실행 환경을 제공</a:t>
            </a:r>
          </a:p>
        </p:txBody>
      </p:sp>
    </p:spTree>
    <p:extLst>
      <p:ext uri="{BB962C8B-B14F-4D97-AF65-F5344CB8AC3E}">
        <p14:creationId xmlns:p14="http://schemas.microsoft.com/office/powerpoint/2010/main" val="26260633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A86B48-EBF1-D3E1-240D-6379D76356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그림 9" descr="텍스트, 스크린샷, 도표, 번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F9095593-33B4-9C5C-34FB-F49CF94D3A8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601" b="1660"/>
          <a:stretch/>
        </p:blipFill>
        <p:spPr>
          <a:xfrm>
            <a:off x="7239000" y="3670262"/>
            <a:ext cx="10764076" cy="6338502"/>
          </a:xfrm>
          <a:prstGeom prst="rect">
            <a:avLst/>
          </a:prstGeom>
        </p:spPr>
      </p:pic>
      <p:grpSp>
        <p:nvGrpSpPr>
          <p:cNvPr id="2" name="Group 2">
            <a:extLst>
              <a:ext uri="{FF2B5EF4-FFF2-40B4-BE49-F238E27FC236}">
                <a16:creationId xmlns:a16="http://schemas.microsoft.com/office/drawing/2014/main" id="{A60F2AF9-7547-AF91-BA19-0DD7DE06EC53}"/>
              </a:ext>
            </a:extLst>
          </p:cNvPr>
          <p:cNvGrpSpPr/>
          <p:nvPr/>
        </p:nvGrpSpPr>
        <p:grpSpPr>
          <a:xfrm>
            <a:off x="-290868" y="10008764"/>
            <a:ext cx="18869735" cy="120011"/>
            <a:chOff x="0" y="0"/>
            <a:chExt cx="4969807" cy="31608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6E987EEA-537C-0FF0-495A-C20931921A0B}"/>
                </a:ext>
              </a:extLst>
            </p:cNvPr>
            <p:cNvSpPr/>
            <p:nvPr/>
          </p:nvSpPr>
          <p:spPr>
            <a:xfrm>
              <a:off x="0" y="0"/>
              <a:ext cx="4969807" cy="31608"/>
            </a:xfrm>
            <a:custGeom>
              <a:avLst/>
              <a:gdLst/>
              <a:ahLst/>
              <a:cxnLst/>
              <a:rect l="l" t="t" r="r" b="b"/>
              <a:pathLst>
                <a:path w="4969807" h="31608">
                  <a:moveTo>
                    <a:pt x="0" y="0"/>
                  </a:moveTo>
                  <a:lnTo>
                    <a:pt x="4969807" y="0"/>
                  </a:lnTo>
                  <a:lnTo>
                    <a:pt x="4969807" y="31608"/>
                  </a:lnTo>
                  <a:lnTo>
                    <a:pt x="0" y="31608"/>
                  </a:lnTo>
                  <a:close/>
                </a:path>
              </a:pathLst>
            </a:custGeom>
            <a:solidFill>
              <a:srgbClr val="191919"/>
            </a:solidFill>
            <a:ln w="19050" cap="sq">
              <a:solidFill>
                <a:srgbClr val="191919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02AA1309-3F46-2229-0F43-836B34B06F55}"/>
                </a:ext>
              </a:extLst>
            </p:cNvPr>
            <p:cNvSpPr txBox="1"/>
            <p:nvPr/>
          </p:nvSpPr>
          <p:spPr>
            <a:xfrm>
              <a:off x="0" y="-47625"/>
              <a:ext cx="4969807" cy="792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9" name="AutoShape 9">
            <a:extLst>
              <a:ext uri="{FF2B5EF4-FFF2-40B4-BE49-F238E27FC236}">
                <a16:creationId xmlns:a16="http://schemas.microsoft.com/office/drawing/2014/main" id="{B74AB1D8-AAC1-445E-BF6F-5D8F9412D9EF}"/>
              </a:ext>
            </a:extLst>
          </p:cNvPr>
          <p:cNvSpPr/>
          <p:nvPr/>
        </p:nvSpPr>
        <p:spPr>
          <a:xfrm>
            <a:off x="0" y="828675"/>
            <a:ext cx="3276389" cy="0"/>
          </a:xfrm>
          <a:prstGeom prst="line">
            <a:avLst/>
          </a:prstGeom>
          <a:ln w="38100" cap="flat">
            <a:solidFill>
              <a:srgbClr val="19191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Box 13">
            <a:extLst>
              <a:ext uri="{FF2B5EF4-FFF2-40B4-BE49-F238E27FC236}">
                <a16:creationId xmlns:a16="http://schemas.microsoft.com/office/drawing/2014/main" id="{C44FF688-8AC9-D96F-4290-AB34CE3595D6}"/>
              </a:ext>
            </a:extLst>
          </p:cNvPr>
          <p:cNvSpPr txBox="1"/>
          <p:nvPr/>
        </p:nvSpPr>
        <p:spPr>
          <a:xfrm>
            <a:off x="76200" y="896534"/>
            <a:ext cx="7543799" cy="77931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6589"/>
              </a:lnSpc>
              <a:spcBef>
                <a:spcPct val="0"/>
              </a:spcBef>
            </a:pPr>
            <a:r>
              <a:rPr lang="en-US" altLang="ko-KR" sz="4800" b="1" spc="-65">
                <a:solidFill>
                  <a:srgbClr val="191919"/>
                </a:solidFill>
                <a:latin typeface="윤고딕"/>
                <a:ea typeface="윤고딕"/>
                <a:cs typeface="윤고딕"/>
                <a:sym typeface="윤고딕"/>
              </a:rPr>
              <a:t>2. </a:t>
            </a:r>
            <a:r>
              <a:rPr lang="ko-KR" altLang="en-US" sz="4800" b="1" spc="-65">
                <a:solidFill>
                  <a:srgbClr val="191919"/>
                </a:solidFill>
                <a:latin typeface="윤고딕"/>
                <a:ea typeface="윤고딕"/>
                <a:cs typeface="윤고딕"/>
                <a:sym typeface="윤고딕"/>
              </a:rPr>
              <a:t>이론적 배경</a:t>
            </a:r>
            <a:r>
              <a:rPr lang="en-US" altLang="ko-KR" sz="4800" b="1" spc="-65">
                <a:solidFill>
                  <a:srgbClr val="191919"/>
                </a:solidFill>
                <a:latin typeface="윤고딕"/>
                <a:ea typeface="윤고딕"/>
                <a:cs typeface="윤고딕"/>
                <a:sym typeface="윤고딕"/>
              </a:rPr>
              <a:t>: kubernetes</a:t>
            </a:r>
            <a:endParaRPr lang="en-US" sz="4800" b="1" spc="-65">
              <a:solidFill>
                <a:srgbClr val="191919"/>
              </a:solidFill>
              <a:latin typeface="윤고딕"/>
              <a:ea typeface="윤고딕"/>
              <a:cs typeface="윤고딕"/>
              <a:sym typeface="윤고딕"/>
            </a:endParaRPr>
          </a:p>
        </p:txBody>
      </p: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F9A5272D-58BB-EB05-B4AB-D2DFEF758DE3}"/>
              </a:ext>
            </a:extLst>
          </p:cNvPr>
          <p:cNvCxnSpPr>
            <a:cxnSpLocks/>
          </p:cNvCxnSpPr>
          <p:nvPr/>
        </p:nvCxnSpPr>
        <p:spPr>
          <a:xfrm>
            <a:off x="16230600" y="4381500"/>
            <a:ext cx="160020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77355B91-6A53-70EE-102B-4B2F2EDFAD74}"/>
              </a:ext>
            </a:extLst>
          </p:cNvPr>
          <p:cNvCxnSpPr>
            <a:cxnSpLocks/>
          </p:cNvCxnSpPr>
          <p:nvPr/>
        </p:nvCxnSpPr>
        <p:spPr>
          <a:xfrm>
            <a:off x="16306800" y="5905500"/>
            <a:ext cx="160020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87BE5E17-11A9-161C-AE0A-BA8E51F2258B}"/>
              </a:ext>
            </a:extLst>
          </p:cNvPr>
          <p:cNvCxnSpPr>
            <a:cxnSpLocks/>
          </p:cNvCxnSpPr>
          <p:nvPr/>
        </p:nvCxnSpPr>
        <p:spPr>
          <a:xfrm>
            <a:off x="16306800" y="7505700"/>
            <a:ext cx="160020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6DF29ECB-0FC3-F10B-0798-4E3A937CFDC8}"/>
              </a:ext>
            </a:extLst>
          </p:cNvPr>
          <p:cNvCxnSpPr>
            <a:cxnSpLocks/>
          </p:cNvCxnSpPr>
          <p:nvPr/>
        </p:nvCxnSpPr>
        <p:spPr>
          <a:xfrm>
            <a:off x="16230600" y="8191500"/>
            <a:ext cx="160020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9" name="그림 18" descr="텍스트, 스크린샷, 도표, 일렉트릭 블루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58FD2C7F-055B-B23C-7D13-AE5102D1F0E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175" t="2254" r="6561" b="6838"/>
          <a:stretch/>
        </p:blipFill>
        <p:spPr>
          <a:xfrm>
            <a:off x="159366" y="1894565"/>
            <a:ext cx="7079634" cy="5091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88105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290868" y="10008764"/>
            <a:ext cx="18869735" cy="120011"/>
            <a:chOff x="0" y="0"/>
            <a:chExt cx="4969807" cy="3160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969807" cy="31608"/>
            </a:xfrm>
            <a:custGeom>
              <a:avLst/>
              <a:gdLst/>
              <a:ahLst/>
              <a:cxnLst/>
              <a:rect l="l" t="t" r="r" b="b"/>
              <a:pathLst>
                <a:path w="4969807" h="31608">
                  <a:moveTo>
                    <a:pt x="0" y="0"/>
                  </a:moveTo>
                  <a:lnTo>
                    <a:pt x="4969807" y="0"/>
                  </a:lnTo>
                  <a:lnTo>
                    <a:pt x="4969807" y="31608"/>
                  </a:lnTo>
                  <a:lnTo>
                    <a:pt x="0" y="31608"/>
                  </a:lnTo>
                  <a:close/>
                </a:path>
              </a:pathLst>
            </a:custGeom>
            <a:solidFill>
              <a:srgbClr val="191919"/>
            </a:solidFill>
            <a:ln w="19050" cap="sq">
              <a:solidFill>
                <a:srgbClr val="191919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4969807" cy="792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9" name="AutoShape 9"/>
          <p:cNvSpPr/>
          <p:nvPr/>
        </p:nvSpPr>
        <p:spPr>
          <a:xfrm>
            <a:off x="0" y="828675"/>
            <a:ext cx="3276389" cy="0"/>
          </a:xfrm>
          <a:prstGeom prst="line">
            <a:avLst/>
          </a:prstGeom>
          <a:ln w="38100" cap="flat">
            <a:solidFill>
              <a:srgbClr val="19191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1" name="그림 10" descr="블랙, 어둠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DBB7EA61-E68E-0BD3-5004-9566671468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9038" y="3485268"/>
            <a:ext cx="2477236" cy="2477236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ACB7A54B-1C66-CA8C-AE6A-416905DAD864}"/>
              </a:ext>
            </a:extLst>
          </p:cNvPr>
          <p:cNvSpPr txBox="1"/>
          <p:nvPr/>
        </p:nvSpPr>
        <p:spPr>
          <a:xfrm>
            <a:off x="499671" y="2971286"/>
            <a:ext cx="24384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200" b="1"/>
              <a:t>client</a:t>
            </a:r>
            <a:endParaRPr lang="ko-KR" altLang="en-US" sz="3200" b="1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7D32BCC-78CD-79E6-A77B-2A51FFD4749C}"/>
              </a:ext>
            </a:extLst>
          </p:cNvPr>
          <p:cNvSpPr txBox="1"/>
          <p:nvPr/>
        </p:nvSpPr>
        <p:spPr>
          <a:xfrm>
            <a:off x="4267200" y="3909525"/>
            <a:ext cx="2590800" cy="1446550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3200" b="1"/>
              <a:t>Api Gateway</a:t>
            </a:r>
          </a:p>
          <a:p>
            <a:pPr algn="ctr"/>
            <a:r>
              <a:rPr lang="en-US" altLang="ko-KR" sz="2800" b="1"/>
              <a:t>(edge-server)</a:t>
            </a:r>
          </a:p>
          <a:p>
            <a:pPr algn="ctr"/>
            <a:r>
              <a:rPr lang="en-US" altLang="ko-KR" sz="2800" b="1"/>
              <a:t>(Port:8080)</a:t>
            </a:r>
            <a:endParaRPr lang="ko-KR" altLang="en-US" sz="2800" b="1"/>
          </a:p>
        </p:txBody>
      </p:sp>
      <p:sp>
        <p:nvSpPr>
          <p:cNvPr id="14" name="화살표: 오른쪽 13">
            <a:extLst>
              <a:ext uri="{FF2B5EF4-FFF2-40B4-BE49-F238E27FC236}">
                <a16:creationId xmlns:a16="http://schemas.microsoft.com/office/drawing/2014/main" id="{1BAD04DE-0FE0-BA43-3B91-D6E1D03790EC}"/>
              </a:ext>
            </a:extLst>
          </p:cNvPr>
          <p:cNvSpPr/>
          <p:nvPr/>
        </p:nvSpPr>
        <p:spPr>
          <a:xfrm>
            <a:off x="3197637" y="4178628"/>
            <a:ext cx="838200" cy="30083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화살표: 오른쪽 14">
            <a:extLst>
              <a:ext uri="{FF2B5EF4-FFF2-40B4-BE49-F238E27FC236}">
                <a16:creationId xmlns:a16="http://schemas.microsoft.com/office/drawing/2014/main" id="{B71344AC-3767-7F25-9FAD-E5447CA65560}"/>
              </a:ext>
            </a:extLst>
          </p:cNvPr>
          <p:cNvSpPr/>
          <p:nvPr/>
        </p:nvSpPr>
        <p:spPr>
          <a:xfrm rot="10800000">
            <a:off x="3124201" y="4696332"/>
            <a:ext cx="838200" cy="30083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426C390-5114-365E-B5FF-5CB6CE964C01}"/>
              </a:ext>
            </a:extLst>
          </p:cNvPr>
          <p:cNvSpPr txBox="1"/>
          <p:nvPr/>
        </p:nvSpPr>
        <p:spPr>
          <a:xfrm>
            <a:off x="9575625" y="1852251"/>
            <a:ext cx="2590800" cy="101566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3200" b="1"/>
              <a:t>Config-server</a:t>
            </a:r>
          </a:p>
          <a:p>
            <a:pPr algn="ctr"/>
            <a:r>
              <a:rPr lang="en-US" altLang="ko-KR" sz="2800" b="1"/>
              <a:t>(port:8888)</a:t>
            </a:r>
            <a:endParaRPr lang="ko-KR" altLang="en-US" sz="2800" b="1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FC4CCE2-A50D-E1D4-A8F4-F4761074846B}"/>
              </a:ext>
            </a:extLst>
          </p:cNvPr>
          <p:cNvSpPr txBox="1"/>
          <p:nvPr/>
        </p:nvSpPr>
        <p:spPr>
          <a:xfrm>
            <a:off x="4146269" y="7086086"/>
            <a:ext cx="2832662" cy="101566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3200" b="1"/>
              <a:t>Eureka-Server</a:t>
            </a:r>
            <a:endParaRPr lang="en-US" altLang="ko-KR" sz="2800" b="1"/>
          </a:p>
          <a:p>
            <a:pPr algn="ctr"/>
            <a:r>
              <a:rPr lang="en-US" altLang="ko-KR" sz="2800" b="1"/>
              <a:t>(Port:8761)</a:t>
            </a:r>
            <a:endParaRPr lang="ko-KR" altLang="en-US" sz="2800" b="1"/>
          </a:p>
        </p:txBody>
      </p:sp>
      <p:sp>
        <p:nvSpPr>
          <p:cNvPr id="18" name="화살표: 오른쪽 17">
            <a:extLst>
              <a:ext uri="{FF2B5EF4-FFF2-40B4-BE49-F238E27FC236}">
                <a16:creationId xmlns:a16="http://schemas.microsoft.com/office/drawing/2014/main" id="{E9A0C602-2382-0543-9DCE-E76E56BF9687}"/>
              </a:ext>
            </a:extLst>
          </p:cNvPr>
          <p:cNvSpPr/>
          <p:nvPr/>
        </p:nvSpPr>
        <p:spPr>
          <a:xfrm rot="5400000">
            <a:off x="5013925" y="5962264"/>
            <a:ext cx="1097349" cy="424740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화살표: 오른쪽 20">
            <a:extLst>
              <a:ext uri="{FF2B5EF4-FFF2-40B4-BE49-F238E27FC236}">
                <a16:creationId xmlns:a16="http://schemas.microsoft.com/office/drawing/2014/main" id="{B63D00BE-E3E5-18BF-9D84-44F19F8B281A}"/>
              </a:ext>
            </a:extLst>
          </p:cNvPr>
          <p:cNvSpPr/>
          <p:nvPr/>
        </p:nvSpPr>
        <p:spPr>
          <a:xfrm rot="19896895">
            <a:off x="7457503" y="3140906"/>
            <a:ext cx="1545283" cy="424740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화살표: 오른쪽 21">
            <a:extLst>
              <a:ext uri="{FF2B5EF4-FFF2-40B4-BE49-F238E27FC236}">
                <a16:creationId xmlns:a16="http://schemas.microsoft.com/office/drawing/2014/main" id="{62671681-47F4-9A7E-14B9-EC136E85DEE1}"/>
              </a:ext>
            </a:extLst>
          </p:cNvPr>
          <p:cNvSpPr/>
          <p:nvPr/>
        </p:nvSpPr>
        <p:spPr>
          <a:xfrm>
            <a:off x="7589856" y="4417033"/>
            <a:ext cx="1545283" cy="424740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화살표: 오른쪽 22">
            <a:extLst>
              <a:ext uri="{FF2B5EF4-FFF2-40B4-BE49-F238E27FC236}">
                <a16:creationId xmlns:a16="http://schemas.microsoft.com/office/drawing/2014/main" id="{6EC0842E-DEA2-BF54-9F17-A9B9308F0E53}"/>
              </a:ext>
            </a:extLst>
          </p:cNvPr>
          <p:cNvSpPr/>
          <p:nvPr/>
        </p:nvSpPr>
        <p:spPr>
          <a:xfrm rot="1799255">
            <a:off x="7436191" y="5748532"/>
            <a:ext cx="1545283" cy="424740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0F2B963-C1BD-D3E4-7988-F122A8CF37C9}"/>
              </a:ext>
            </a:extLst>
          </p:cNvPr>
          <p:cNvSpPr txBox="1"/>
          <p:nvPr/>
        </p:nvSpPr>
        <p:spPr>
          <a:xfrm>
            <a:off x="9575625" y="4048726"/>
            <a:ext cx="2590800" cy="101566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3200" b="1"/>
              <a:t>User-service</a:t>
            </a:r>
          </a:p>
          <a:p>
            <a:pPr algn="ctr"/>
            <a:r>
              <a:rPr lang="en-US" altLang="ko-KR" sz="2800" b="1"/>
              <a:t>(port:8060)</a:t>
            </a:r>
            <a:endParaRPr lang="ko-KR" altLang="en-US" sz="2800" b="1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8136964-15ED-827C-3B16-E364604C390B}"/>
              </a:ext>
            </a:extLst>
          </p:cNvPr>
          <p:cNvSpPr txBox="1"/>
          <p:nvPr/>
        </p:nvSpPr>
        <p:spPr>
          <a:xfrm>
            <a:off x="9575625" y="6225517"/>
            <a:ext cx="2590800" cy="101566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3200" b="1"/>
              <a:t>Event-service</a:t>
            </a:r>
          </a:p>
          <a:p>
            <a:pPr algn="ctr"/>
            <a:r>
              <a:rPr lang="en-US" altLang="ko-KR" sz="2800" b="1"/>
              <a:t>(port:8070)</a:t>
            </a:r>
            <a:endParaRPr lang="ko-KR" altLang="en-US" sz="2800" b="1"/>
          </a:p>
        </p:txBody>
      </p:sp>
      <p:pic>
        <p:nvPicPr>
          <p:cNvPr id="27" name="그림 26" descr="그래픽, 폰트, 블랙, 로고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F31741CA-E53A-9D54-66F0-C1D7A6C4D0D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519"/>
          <a:stretch/>
        </p:blipFill>
        <p:spPr>
          <a:xfrm>
            <a:off x="13544769" y="135252"/>
            <a:ext cx="3713898" cy="1121682"/>
          </a:xfrm>
          <a:prstGeom prst="rect">
            <a:avLst/>
          </a:prstGeom>
        </p:spPr>
      </p:pic>
      <p:sp>
        <p:nvSpPr>
          <p:cNvPr id="29" name="화살표: 오른쪽 28">
            <a:extLst>
              <a:ext uri="{FF2B5EF4-FFF2-40B4-BE49-F238E27FC236}">
                <a16:creationId xmlns:a16="http://schemas.microsoft.com/office/drawing/2014/main" id="{713FDD93-AA04-5476-DFEE-7B157C6A4A27}"/>
              </a:ext>
            </a:extLst>
          </p:cNvPr>
          <p:cNvSpPr/>
          <p:nvPr/>
        </p:nvSpPr>
        <p:spPr>
          <a:xfrm rot="8927887">
            <a:off x="12563702" y="1462220"/>
            <a:ext cx="1143000" cy="348204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화살표: 오른쪽 29">
            <a:extLst>
              <a:ext uri="{FF2B5EF4-FFF2-40B4-BE49-F238E27FC236}">
                <a16:creationId xmlns:a16="http://schemas.microsoft.com/office/drawing/2014/main" id="{09350510-CA05-A91B-2249-D95589D15C88}"/>
              </a:ext>
            </a:extLst>
          </p:cNvPr>
          <p:cNvSpPr/>
          <p:nvPr/>
        </p:nvSpPr>
        <p:spPr>
          <a:xfrm rot="19808731">
            <a:off x="12390944" y="960460"/>
            <a:ext cx="1143000" cy="348204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" name="화살표: 오른쪽 34">
            <a:extLst>
              <a:ext uri="{FF2B5EF4-FFF2-40B4-BE49-F238E27FC236}">
                <a16:creationId xmlns:a16="http://schemas.microsoft.com/office/drawing/2014/main" id="{04EC02AE-C275-04C7-5B9E-0E9075A9A893}"/>
              </a:ext>
            </a:extLst>
          </p:cNvPr>
          <p:cNvSpPr/>
          <p:nvPr/>
        </p:nvSpPr>
        <p:spPr>
          <a:xfrm rot="10800000">
            <a:off x="12564587" y="6624207"/>
            <a:ext cx="1198983" cy="424740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7" name="순서도: 처리 36">
            <a:extLst>
              <a:ext uri="{FF2B5EF4-FFF2-40B4-BE49-F238E27FC236}">
                <a16:creationId xmlns:a16="http://schemas.microsoft.com/office/drawing/2014/main" id="{AAB45BEA-D688-174F-5819-B6F6A9404982}"/>
              </a:ext>
            </a:extLst>
          </p:cNvPr>
          <p:cNvSpPr/>
          <p:nvPr/>
        </p:nvSpPr>
        <p:spPr>
          <a:xfrm rot="5400000">
            <a:off x="8463953" y="6545017"/>
            <a:ext cx="190809" cy="6110196"/>
          </a:xfrm>
          <a:prstGeom prst="flowChartProcess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8" name="순서도: 처리 37">
            <a:extLst>
              <a:ext uri="{FF2B5EF4-FFF2-40B4-BE49-F238E27FC236}">
                <a16:creationId xmlns:a16="http://schemas.microsoft.com/office/drawing/2014/main" id="{18A75C98-DA1C-7478-2F40-8B79A5DEBD14}"/>
              </a:ext>
            </a:extLst>
          </p:cNvPr>
          <p:cNvSpPr/>
          <p:nvPr/>
        </p:nvSpPr>
        <p:spPr>
          <a:xfrm rot="5400000">
            <a:off x="12404565" y="8383849"/>
            <a:ext cx="184469" cy="2438400"/>
          </a:xfrm>
          <a:prstGeom prst="flowChartProcess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9" name="순서도: 처리 38">
            <a:extLst>
              <a:ext uri="{FF2B5EF4-FFF2-40B4-BE49-F238E27FC236}">
                <a16:creationId xmlns:a16="http://schemas.microsoft.com/office/drawing/2014/main" id="{783A1EE7-466A-4CDD-691A-0334C908EB13}"/>
              </a:ext>
            </a:extLst>
          </p:cNvPr>
          <p:cNvSpPr/>
          <p:nvPr/>
        </p:nvSpPr>
        <p:spPr>
          <a:xfrm>
            <a:off x="13714228" y="2360083"/>
            <a:ext cx="194857" cy="7335201"/>
          </a:xfrm>
          <a:prstGeom prst="flowChartProcess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0" name="화살표: 오른쪽 39">
            <a:extLst>
              <a:ext uri="{FF2B5EF4-FFF2-40B4-BE49-F238E27FC236}">
                <a16:creationId xmlns:a16="http://schemas.microsoft.com/office/drawing/2014/main" id="{6D2008A2-07B7-1F88-3989-A909171D17F3}"/>
              </a:ext>
            </a:extLst>
          </p:cNvPr>
          <p:cNvSpPr/>
          <p:nvPr/>
        </p:nvSpPr>
        <p:spPr>
          <a:xfrm rot="10800000">
            <a:off x="12564586" y="4374073"/>
            <a:ext cx="1149642" cy="424740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1" name="화살표: 오른쪽 40">
            <a:extLst>
              <a:ext uri="{FF2B5EF4-FFF2-40B4-BE49-F238E27FC236}">
                <a16:creationId xmlns:a16="http://schemas.microsoft.com/office/drawing/2014/main" id="{1457F5E8-5BD1-38F3-F6AB-F3F448E09658}"/>
              </a:ext>
            </a:extLst>
          </p:cNvPr>
          <p:cNvSpPr/>
          <p:nvPr/>
        </p:nvSpPr>
        <p:spPr>
          <a:xfrm rot="10800000">
            <a:off x="12570042" y="2256169"/>
            <a:ext cx="1144186" cy="424740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2" name="화살표: 오른쪽 41">
            <a:extLst>
              <a:ext uri="{FF2B5EF4-FFF2-40B4-BE49-F238E27FC236}">
                <a16:creationId xmlns:a16="http://schemas.microsoft.com/office/drawing/2014/main" id="{12E0F366-3932-86FB-3020-414C354E0BDC}"/>
              </a:ext>
            </a:extLst>
          </p:cNvPr>
          <p:cNvSpPr/>
          <p:nvPr/>
        </p:nvSpPr>
        <p:spPr>
          <a:xfrm rot="16200000">
            <a:off x="4848808" y="8769121"/>
            <a:ext cx="1427585" cy="424740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4" name="그림 43" descr="그래픽, 스크린샷, 그래픽 디자인, 로고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7A35A0ED-EB31-BB0D-7A15-E2DB258A4CF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89088" y="2238539"/>
            <a:ext cx="1345886" cy="1810187"/>
          </a:xfrm>
          <a:prstGeom prst="rect">
            <a:avLst/>
          </a:prstGeom>
        </p:spPr>
      </p:pic>
      <p:pic>
        <p:nvPicPr>
          <p:cNvPr id="48" name="그림 47" descr="텍스트, 폰트, 디자인, 그래픽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5C1E4910-B57E-5089-5DFD-0DB4051C4A9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43092" y="5024007"/>
            <a:ext cx="2847975" cy="1600200"/>
          </a:xfrm>
          <a:prstGeom prst="rect">
            <a:avLst/>
          </a:prstGeom>
        </p:spPr>
      </p:pic>
      <p:sp>
        <p:nvSpPr>
          <p:cNvPr id="5" name="TextBox 13">
            <a:extLst>
              <a:ext uri="{FF2B5EF4-FFF2-40B4-BE49-F238E27FC236}">
                <a16:creationId xmlns:a16="http://schemas.microsoft.com/office/drawing/2014/main" id="{E0BA1C1F-A75A-389C-5266-96DF242BFD4B}"/>
              </a:ext>
            </a:extLst>
          </p:cNvPr>
          <p:cNvSpPr txBox="1"/>
          <p:nvPr/>
        </p:nvSpPr>
        <p:spPr>
          <a:xfrm>
            <a:off x="76200" y="896534"/>
            <a:ext cx="7076762" cy="16257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6589"/>
              </a:lnSpc>
              <a:spcBef>
                <a:spcPct val="0"/>
              </a:spcBef>
            </a:pPr>
            <a:r>
              <a:rPr lang="en-US" altLang="ko-KR" sz="4400" b="1" spc="-65">
                <a:solidFill>
                  <a:srgbClr val="191919"/>
                </a:solidFill>
                <a:latin typeface="윤고딕"/>
                <a:ea typeface="윤고딕"/>
                <a:cs typeface="윤고딕"/>
                <a:sym typeface="윤고딕"/>
              </a:rPr>
              <a:t>3. </a:t>
            </a:r>
            <a:r>
              <a:rPr lang="ko-KR" altLang="en-US" sz="4400" b="1" spc="-65">
                <a:solidFill>
                  <a:srgbClr val="191919"/>
                </a:solidFill>
                <a:latin typeface="윤고딕"/>
                <a:ea typeface="윤고딕"/>
                <a:cs typeface="윤고딕"/>
                <a:sym typeface="윤고딕"/>
              </a:rPr>
              <a:t>아키텍처의 설계 및 구현</a:t>
            </a:r>
            <a:endParaRPr lang="en-US" altLang="ko-KR" sz="4400" b="1" spc="-65">
              <a:solidFill>
                <a:srgbClr val="191919"/>
              </a:solidFill>
              <a:latin typeface="윤고딕"/>
              <a:ea typeface="윤고딕"/>
              <a:cs typeface="윤고딕"/>
              <a:sym typeface="윤고딕"/>
            </a:endParaRPr>
          </a:p>
          <a:p>
            <a:pPr>
              <a:lnSpc>
                <a:spcPts val="6589"/>
              </a:lnSpc>
              <a:spcBef>
                <a:spcPct val="0"/>
              </a:spcBef>
            </a:pPr>
            <a:r>
              <a:rPr lang="en-US" sz="4000" b="1" spc="-65">
                <a:solidFill>
                  <a:srgbClr val="191919"/>
                </a:solidFill>
                <a:latin typeface="윤고딕"/>
                <a:ea typeface="윤고딕"/>
                <a:cs typeface="윤고딕"/>
                <a:sym typeface="윤고딕"/>
              </a:rPr>
              <a:t>Spring</a:t>
            </a:r>
            <a:r>
              <a:rPr lang="ko-KR" altLang="en-US" sz="4000" b="1" spc="-65">
                <a:solidFill>
                  <a:srgbClr val="191919"/>
                </a:solidFill>
                <a:latin typeface="윤고딕"/>
                <a:ea typeface="윤고딕"/>
                <a:cs typeface="윤고딕"/>
                <a:sym typeface="윤고딕"/>
              </a:rPr>
              <a:t> </a:t>
            </a:r>
            <a:r>
              <a:rPr lang="en-US" altLang="ko-KR" sz="4000" b="1" spc="-65">
                <a:solidFill>
                  <a:srgbClr val="191919"/>
                </a:solidFill>
                <a:latin typeface="윤고딕"/>
                <a:ea typeface="윤고딕"/>
                <a:cs typeface="윤고딕"/>
                <a:sym typeface="윤고딕"/>
              </a:rPr>
              <a:t>Cloud</a:t>
            </a:r>
            <a:r>
              <a:rPr lang="ko-KR" altLang="en-US" sz="4000" b="1" spc="-65">
                <a:solidFill>
                  <a:srgbClr val="191919"/>
                </a:solidFill>
                <a:latin typeface="윤고딕"/>
                <a:ea typeface="윤고딕"/>
                <a:cs typeface="윤고딕"/>
                <a:sym typeface="윤고딕"/>
              </a:rPr>
              <a:t> 구성</a:t>
            </a:r>
            <a:endParaRPr lang="en-US" sz="4000" b="1" spc="-65">
              <a:solidFill>
                <a:srgbClr val="191919"/>
              </a:solidFill>
              <a:latin typeface="윤고딕"/>
              <a:ea typeface="윤고딕"/>
              <a:cs typeface="윤고딕"/>
              <a:sym typeface="윤고딕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F32967-BE59-12D3-DAE1-6617A6DC74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5B9FD9C9-D547-A04B-8B64-256EFF3E8014}"/>
              </a:ext>
            </a:extLst>
          </p:cNvPr>
          <p:cNvGrpSpPr/>
          <p:nvPr/>
        </p:nvGrpSpPr>
        <p:grpSpPr>
          <a:xfrm>
            <a:off x="-290868" y="10008764"/>
            <a:ext cx="18869735" cy="120011"/>
            <a:chOff x="0" y="0"/>
            <a:chExt cx="4969807" cy="31608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F7096828-80E1-2507-28CD-B1A5F0AC8FBE}"/>
                </a:ext>
              </a:extLst>
            </p:cNvPr>
            <p:cNvSpPr/>
            <p:nvPr/>
          </p:nvSpPr>
          <p:spPr>
            <a:xfrm>
              <a:off x="0" y="0"/>
              <a:ext cx="4969807" cy="31608"/>
            </a:xfrm>
            <a:custGeom>
              <a:avLst/>
              <a:gdLst/>
              <a:ahLst/>
              <a:cxnLst/>
              <a:rect l="l" t="t" r="r" b="b"/>
              <a:pathLst>
                <a:path w="4969807" h="31608">
                  <a:moveTo>
                    <a:pt x="0" y="0"/>
                  </a:moveTo>
                  <a:lnTo>
                    <a:pt x="4969807" y="0"/>
                  </a:lnTo>
                  <a:lnTo>
                    <a:pt x="4969807" y="31608"/>
                  </a:lnTo>
                  <a:lnTo>
                    <a:pt x="0" y="31608"/>
                  </a:lnTo>
                  <a:close/>
                </a:path>
              </a:pathLst>
            </a:custGeom>
            <a:solidFill>
              <a:srgbClr val="191919"/>
            </a:solidFill>
            <a:ln w="19050" cap="sq">
              <a:solidFill>
                <a:srgbClr val="191919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31F26DDC-AB44-E43C-1D09-79E0070050F8}"/>
                </a:ext>
              </a:extLst>
            </p:cNvPr>
            <p:cNvSpPr txBox="1"/>
            <p:nvPr/>
          </p:nvSpPr>
          <p:spPr>
            <a:xfrm>
              <a:off x="0" y="-47625"/>
              <a:ext cx="4969807" cy="792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9" name="AutoShape 9">
            <a:extLst>
              <a:ext uri="{FF2B5EF4-FFF2-40B4-BE49-F238E27FC236}">
                <a16:creationId xmlns:a16="http://schemas.microsoft.com/office/drawing/2014/main" id="{5D7A2E5B-13E8-3B9C-EEDB-98A03FC2F547}"/>
              </a:ext>
            </a:extLst>
          </p:cNvPr>
          <p:cNvSpPr/>
          <p:nvPr/>
        </p:nvSpPr>
        <p:spPr>
          <a:xfrm>
            <a:off x="0" y="828675"/>
            <a:ext cx="3276389" cy="0"/>
          </a:xfrm>
          <a:prstGeom prst="line">
            <a:avLst/>
          </a:prstGeom>
          <a:ln w="38100" cap="flat">
            <a:solidFill>
              <a:srgbClr val="19191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B44D00C-501F-6E4B-5D5A-AEC3EFD4AFCD}"/>
              </a:ext>
            </a:extLst>
          </p:cNvPr>
          <p:cNvSpPr txBox="1"/>
          <p:nvPr/>
        </p:nvSpPr>
        <p:spPr>
          <a:xfrm>
            <a:off x="990600" y="7389094"/>
            <a:ext cx="2590800" cy="1446550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3200" b="1"/>
              <a:t>Api Gateway</a:t>
            </a:r>
          </a:p>
          <a:p>
            <a:pPr algn="ctr"/>
            <a:r>
              <a:rPr lang="en-US" altLang="ko-KR" sz="2800" b="1"/>
              <a:t>(edge-server)</a:t>
            </a:r>
          </a:p>
          <a:p>
            <a:pPr algn="ctr"/>
            <a:r>
              <a:rPr lang="en-US" altLang="ko-KR" sz="2800" b="1"/>
              <a:t>(Port:8080)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9AF6B51-7E29-46C6-FF5C-B23904860137}"/>
              </a:ext>
            </a:extLst>
          </p:cNvPr>
          <p:cNvSpPr txBox="1"/>
          <p:nvPr/>
        </p:nvSpPr>
        <p:spPr>
          <a:xfrm>
            <a:off x="914400" y="2900862"/>
            <a:ext cx="2590800" cy="101566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3200" b="1"/>
              <a:t>Config-server</a:t>
            </a:r>
          </a:p>
          <a:p>
            <a:pPr algn="ctr"/>
            <a:r>
              <a:rPr lang="en-US" altLang="ko-KR" sz="2800" b="1"/>
              <a:t>(port:8888)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6B5ADBC-E314-0D80-2EAB-FA1B0AF20EB6}"/>
              </a:ext>
            </a:extLst>
          </p:cNvPr>
          <p:cNvSpPr txBox="1"/>
          <p:nvPr/>
        </p:nvSpPr>
        <p:spPr>
          <a:xfrm>
            <a:off x="3810000" y="5181156"/>
            <a:ext cx="2823800" cy="101566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3200" b="1"/>
              <a:t>Eureka-Server</a:t>
            </a:r>
            <a:endParaRPr lang="en-US" altLang="ko-KR" sz="2800" b="1"/>
          </a:p>
          <a:p>
            <a:pPr algn="ctr"/>
            <a:r>
              <a:rPr lang="en-US" altLang="ko-KR" sz="2800" b="1"/>
              <a:t>(Port:8761)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F47E42C-D2B4-CE31-4FCC-70F22C01AF91}"/>
              </a:ext>
            </a:extLst>
          </p:cNvPr>
          <p:cNvSpPr txBox="1"/>
          <p:nvPr/>
        </p:nvSpPr>
        <p:spPr>
          <a:xfrm>
            <a:off x="914400" y="4439745"/>
            <a:ext cx="2590800" cy="584775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3200"/>
              <a:t>Docker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A8CA44B-5503-D222-18E6-3988435135B8}"/>
              </a:ext>
            </a:extLst>
          </p:cNvPr>
          <p:cNvSpPr txBox="1"/>
          <p:nvPr/>
        </p:nvSpPr>
        <p:spPr>
          <a:xfrm>
            <a:off x="914400" y="3916525"/>
            <a:ext cx="2590800" cy="523220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2800" b="1"/>
              <a:t>CI/CD pipeline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647AF5C-6EFF-CFE7-0E75-322C0BF5F301}"/>
              </a:ext>
            </a:extLst>
          </p:cNvPr>
          <p:cNvSpPr txBox="1"/>
          <p:nvPr/>
        </p:nvSpPr>
        <p:spPr>
          <a:xfrm>
            <a:off x="990600" y="8835644"/>
            <a:ext cx="2590800" cy="584775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3200"/>
              <a:t>Docker</a:t>
            </a:r>
            <a:endParaRPr lang="ko-KR" altLang="en-US" sz="320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7545B91-0D03-709C-1C28-DBB3FA1EE883}"/>
              </a:ext>
            </a:extLst>
          </p:cNvPr>
          <p:cNvSpPr txBox="1"/>
          <p:nvPr/>
        </p:nvSpPr>
        <p:spPr>
          <a:xfrm>
            <a:off x="3801139" y="6196819"/>
            <a:ext cx="2832661" cy="584775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3200"/>
              <a:t>Docker</a:t>
            </a:r>
            <a:endParaRPr lang="ko-KR" altLang="en-US" sz="320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58334A9-3277-BBD8-3F0C-B505F4008ABC}"/>
              </a:ext>
            </a:extLst>
          </p:cNvPr>
          <p:cNvSpPr txBox="1"/>
          <p:nvPr/>
        </p:nvSpPr>
        <p:spPr>
          <a:xfrm>
            <a:off x="7157597" y="2395274"/>
            <a:ext cx="2590800" cy="101566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3200" b="1"/>
              <a:t>User-service</a:t>
            </a:r>
          </a:p>
          <a:p>
            <a:pPr algn="ctr"/>
            <a:r>
              <a:rPr lang="en-US" altLang="ko-KR" sz="2800" b="1"/>
              <a:t>(port:8060)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EBCDBDB-53A0-B576-F24E-62BFFFB46109}"/>
              </a:ext>
            </a:extLst>
          </p:cNvPr>
          <p:cNvSpPr txBox="1"/>
          <p:nvPr/>
        </p:nvSpPr>
        <p:spPr>
          <a:xfrm>
            <a:off x="10972800" y="1075042"/>
            <a:ext cx="6559228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altLang="ko-KR" sz="4400"/>
              <a:t> </a:t>
            </a:r>
            <a:r>
              <a:rPr lang="en-US" altLang="ko-KR" sz="4000"/>
              <a:t>Customer </a:t>
            </a:r>
            <a:r>
              <a:rPr lang="ko-KR" altLang="en-US" sz="4000"/>
              <a:t>의 관리</a:t>
            </a:r>
            <a:r>
              <a:rPr lang="en-US" altLang="ko-KR" sz="4000"/>
              <a:t> </a:t>
            </a:r>
          </a:p>
          <a:p>
            <a:endParaRPr lang="en-US" altLang="ko-KR" sz="400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altLang="ko-KR" sz="4000"/>
              <a:t> DB</a:t>
            </a:r>
            <a:r>
              <a:rPr lang="ko-KR" altLang="en-US" sz="4000"/>
              <a:t>에 </a:t>
            </a:r>
            <a:r>
              <a:rPr lang="en-US" altLang="ko-KR" sz="4000"/>
              <a:t>Insert</a:t>
            </a:r>
            <a:r>
              <a:rPr lang="ko-KR" altLang="en-US" sz="4000"/>
              <a:t> </a:t>
            </a:r>
            <a:r>
              <a:rPr lang="en-US" altLang="ko-KR" sz="4000"/>
              <a:t>/</a:t>
            </a:r>
            <a:r>
              <a:rPr lang="ko-KR" altLang="en-US" sz="4000"/>
              <a:t> </a:t>
            </a:r>
            <a:r>
              <a:rPr lang="en-US" altLang="ko-KR" sz="4000"/>
              <a:t>Delete</a:t>
            </a:r>
          </a:p>
          <a:p>
            <a:r>
              <a:rPr lang="en-US" altLang="ko-KR" sz="4000"/>
              <a:t>  	</a:t>
            </a:r>
            <a:r>
              <a:rPr lang="en-US" altLang="ko-KR" sz="3200"/>
              <a:t>(MongoDB)</a:t>
            </a:r>
          </a:p>
          <a:p>
            <a:endParaRPr lang="en-US" altLang="ko-KR" sz="400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altLang="ko-KR" sz="4000"/>
              <a:t> Message</a:t>
            </a:r>
            <a:r>
              <a:rPr lang="ko-KR" altLang="en-US" sz="4000"/>
              <a:t> </a:t>
            </a:r>
            <a:r>
              <a:rPr lang="en-US" altLang="ko-KR" sz="4000"/>
              <a:t>Queue</a:t>
            </a:r>
            <a:r>
              <a:rPr lang="ko-KR" altLang="en-US" sz="4000"/>
              <a:t> 큐 생성</a:t>
            </a:r>
            <a:endParaRPr lang="en-US" altLang="ko-KR" sz="4000"/>
          </a:p>
          <a:p>
            <a:r>
              <a:rPr lang="en-US" altLang="ko-KR" sz="3200"/>
              <a:t>	(RabbitMQ)</a:t>
            </a:r>
          </a:p>
          <a:p>
            <a:r>
              <a:rPr lang="en-US" altLang="ko-KR" sz="4000"/>
              <a:t> 	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44AE484-6BAD-12AD-3C4D-3DC11FBE6C33}"/>
              </a:ext>
            </a:extLst>
          </p:cNvPr>
          <p:cNvSpPr txBox="1"/>
          <p:nvPr/>
        </p:nvSpPr>
        <p:spPr>
          <a:xfrm>
            <a:off x="7153407" y="7057951"/>
            <a:ext cx="2590800" cy="101566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3200" b="1"/>
              <a:t>Event-service</a:t>
            </a:r>
          </a:p>
          <a:p>
            <a:pPr algn="ctr"/>
            <a:r>
              <a:rPr lang="en-US" altLang="ko-KR" sz="2800" b="1"/>
              <a:t>(port:8070)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2F44707-BE72-5F07-1BBD-8CDC429EB518}"/>
              </a:ext>
            </a:extLst>
          </p:cNvPr>
          <p:cNvSpPr txBox="1"/>
          <p:nvPr/>
        </p:nvSpPr>
        <p:spPr>
          <a:xfrm>
            <a:off x="11051833" y="6691962"/>
            <a:ext cx="6559228" cy="24314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altLang="ko-KR" sz="4000"/>
              <a:t> Event, Message </a:t>
            </a:r>
            <a:r>
              <a:rPr lang="ko-KR" altLang="en-US" sz="4000"/>
              <a:t>의 생성</a:t>
            </a:r>
            <a:endParaRPr lang="en-US" altLang="ko-KR" sz="4000"/>
          </a:p>
          <a:p>
            <a:endParaRPr lang="en-US" altLang="ko-KR" sz="400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altLang="ko-KR" sz="3600"/>
              <a:t>Message</a:t>
            </a:r>
            <a:r>
              <a:rPr lang="ko-KR" altLang="en-US" sz="3600"/>
              <a:t> </a:t>
            </a:r>
            <a:r>
              <a:rPr lang="en-US" altLang="ko-KR" sz="3600"/>
              <a:t>Queue</a:t>
            </a:r>
            <a:r>
              <a:rPr lang="ko-KR" altLang="en-US" sz="3600"/>
              <a:t>를 비동기 큐 주고받기 </a:t>
            </a:r>
            <a:r>
              <a:rPr lang="en-US" altLang="ko-KR" sz="3200"/>
              <a:t>(RabbitMQ)	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9FD20E9-8D95-9470-F2D4-5FDC6898AF29}"/>
              </a:ext>
            </a:extLst>
          </p:cNvPr>
          <p:cNvSpPr txBox="1"/>
          <p:nvPr/>
        </p:nvSpPr>
        <p:spPr>
          <a:xfrm>
            <a:off x="7157597" y="3424419"/>
            <a:ext cx="2590800" cy="523220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2800"/>
              <a:t>MongoDB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4AE1ECE-4470-515B-EBA5-D56AA4DA8F74}"/>
              </a:ext>
            </a:extLst>
          </p:cNvPr>
          <p:cNvSpPr txBox="1"/>
          <p:nvPr/>
        </p:nvSpPr>
        <p:spPr>
          <a:xfrm>
            <a:off x="7157597" y="4532414"/>
            <a:ext cx="2590800" cy="584775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3200"/>
              <a:t>Docker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B96E4AA-66A6-2841-E1CB-5776FA5F40E7}"/>
              </a:ext>
            </a:extLst>
          </p:cNvPr>
          <p:cNvSpPr txBox="1"/>
          <p:nvPr/>
        </p:nvSpPr>
        <p:spPr>
          <a:xfrm>
            <a:off x="7157597" y="3947639"/>
            <a:ext cx="2590800" cy="584775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3200"/>
              <a:t>RabbitMQ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A0FBC49-BE8D-350A-38F9-BA939F489158}"/>
              </a:ext>
            </a:extLst>
          </p:cNvPr>
          <p:cNvSpPr txBox="1"/>
          <p:nvPr/>
        </p:nvSpPr>
        <p:spPr>
          <a:xfrm>
            <a:off x="7153407" y="8073614"/>
            <a:ext cx="2594990" cy="584775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3200"/>
              <a:t>RabbitMQ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D2E608E-B6E1-DC99-F487-07011CD3E758}"/>
              </a:ext>
            </a:extLst>
          </p:cNvPr>
          <p:cNvSpPr txBox="1"/>
          <p:nvPr/>
        </p:nvSpPr>
        <p:spPr>
          <a:xfrm>
            <a:off x="7153407" y="8658389"/>
            <a:ext cx="2590800" cy="584775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3200"/>
              <a:t>Docker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00082B0-08E6-B371-5508-00C6045B1890}"/>
              </a:ext>
            </a:extLst>
          </p:cNvPr>
          <p:cNvSpPr txBox="1"/>
          <p:nvPr/>
        </p:nvSpPr>
        <p:spPr>
          <a:xfrm>
            <a:off x="76200" y="896534"/>
            <a:ext cx="7076762" cy="16257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6589"/>
              </a:lnSpc>
              <a:spcBef>
                <a:spcPct val="0"/>
              </a:spcBef>
            </a:pPr>
            <a:r>
              <a:rPr lang="en-US" altLang="ko-KR" sz="4400" b="1" spc="-65">
                <a:solidFill>
                  <a:srgbClr val="191919"/>
                </a:solidFill>
                <a:latin typeface="윤고딕"/>
                <a:ea typeface="윤고딕"/>
                <a:cs typeface="윤고딕"/>
                <a:sym typeface="윤고딕"/>
              </a:rPr>
              <a:t>3. </a:t>
            </a:r>
            <a:r>
              <a:rPr lang="ko-KR" altLang="en-US" sz="4400" b="1" spc="-65">
                <a:solidFill>
                  <a:srgbClr val="191919"/>
                </a:solidFill>
                <a:latin typeface="윤고딕"/>
                <a:ea typeface="윤고딕"/>
                <a:cs typeface="윤고딕"/>
                <a:sym typeface="윤고딕"/>
              </a:rPr>
              <a:t>아키텍처의 설계 및 구현</a:t>
            </a:r>
            <a:endParaRPr lang="en-US" altLang="ko-KR" sz="4400" b="1" spc="-65">
              <a:solidFill>
                <a:srgbClr val="191919"/>
              </a:solidFill>
              <a:latin typeface="윤고딕"/>
              <a:ea typeface="윤고딕"/>
              <a:cs typeface="윤고딕"/>
              <a:sym typeface="윤고딕"/>
            </a:endParaRPr>
          </a:p>
          <a:p>
            <a:pPr>
              <a:lnSpc>
                <a:spcPts val="6589"/>
              </a:lnSpc>
              <a:spcBef>
                <a:spcPct val="0"/>
              </a:spcBef>
            </a:pPr>
            <a:r>
              <a:rPr lang="en-US" sz="4000" b="1" spc="-65">
                <a:solidFill>
                  <a:srgbClr val="191919"/>
                </a:solidFill>
                <a:latin typeface="윤고딕"/>
                <a:ea typeface="윤고딕"/>
                <a:cs typeface="윤고딕"/>
                <a:sym typeface="윤고딕"/>
              </a:rPr>
              <a:t>Spring</a:t>
            </a:r>
            <a:r>
              <a:rPr lang="ko-KR" altLang="en-US" sz="4000" b="1" spc="-65">
                <a:solidFill>
                  <a:srgbClr val="191919"/>
                </a:solidFill>
                <a:latin typeface="윤고딕"/>
                <a:ea typeface="윤고딕"/>
                <a:cs typeface="윤고딕"/>
                <a:sym typeface="윤고딕"/>
              </a:rPr>
              <a:t> </a:t>
            </a:r>
            <a:r>
              <a:rPr lang="en-US" altLang="ko-KR" sz="4000" b="1" spc="-65">
                <a:solidFill>
                  <a:srgbClr val="191919"/>
                </a:solidFill>
                <a:latin typeface="윤고딕"/>
                <a:ea typeface="윤고딕"/>
                <a:cs typeface="윤고딕"/>
                <a:sym typeface="윤고딕"/>
              </a:rPr>
              <a:t>Cloud</a:t>
            </a:r>
            <a:r>
              <a:rPr lang="ko-KR" altLang="en-US" sz="4000" b="1" spc="-65">
                <a:solidFill>
                  <a:srgbClr val="191919"/>
                </a:solidFill>
                <a:latin typeface="윤고딕"/>
                <a:ea typeface="윤고딕"/>
                <a:cs typeface="윤고딕"/>
                <a:sym typeface="윤고딕"/>
              </a:rPr>
              <a:t> 구성</a:t>
            </a:r>
            <a:endParaRPr lang="en-US" sz="4000" b="1" spc="-65">
              <a:solidFill>
                <a:srgbClr val="191919"/>
              </a:solidFill>
              <a:latin typeface="윤고딕"/>
              <a:ea typeface="윤고딕"/>
              <a:cs typeface="윤고딕"/>
              <a:sym typeface="윤고딕"/>
            </a:endParaRPr>
          </a:p>
        </p:txBody>
      </p:sp>
    </p:spTree>
    <p:extLst>
      <p:ext uri="{BB962C8B-B14F-4D97-AF65-F5344CB8AC3E}">
        <p14:creationId xmlns:p14="http://schemas.microsoft.com/office/powerpoint/2010/main" val="16893340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그림 13">
            <a:extLst>
              <a:ext uri="{FF2B5EF4-FFF2-40B4-BE49-F238E27FC236}">
                <a16:creationId xmlns:a16="http://schemas.microsoft.com/office/drawing/2014/main" id="{D11A3F63-401B-54CF-58A4-578BCE4E13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0100" y="201083"/>
            <a:ext cx="4686300" cy="9776463"/>
          </a:xfrm>
          <a:prstGeom prst="rect">
            <a:avLst/>
          </a:prstGeom>
        </p:spPr>
      </p:pic>
      <p:grpSp>
        <p:nvGrpSpPr>
          <p:cNvPr id="2" name="Group 2"/>
          <p:cNvGrpSpPr/>
          <p:nvPr/>
        </p:nvGrpSpPr>
        <p:grpSpPr>
          <a:xfrm>
            <a:off x="-290868" y="10008764"/>
            <a:ext cx="18869735" cy="120011"/>
            <a:chOff x="0" y="0"/>
            <a:chExt cx="4969807" cy="3160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969807" cy="31608"/>
            </a:xfrm>
            <a:custGeom>
              <a:avLst/>
              <a:gdLst/>
              <a:ahLst/>
              <a:cxnLst/>
              <a:rect l="l" t="t" r="r" b="b"/>
              <a:pathLst>
                <a:path w="4969807" h="31608">
                  <a:moveTo>
                    <a:pt x="0" y="0"/>
                  </a:moveTo>
                  <a:lnTo>
                    <a:pt x="4969807" y="0"/>
                  </a:lnTo>
                  <a:lnTo>
                    <a:pt x="4969807" y="31608"/>
                  </a:lnTo>
                  <a:lnTo>
                    <a:pt x="0" y="31608"/>
                  </a:lnTo>
                  <a:close/>
                </a:path>
              </a:pathLst>
            </a:custGeom>
            <a:solidFill>
              <a:srgbClr val="191919"/>
            </a:solidFill>
            <a:ln w="19050" cap="sq">
              <a:solidFill>
                <a:srgbClr val="191919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4969807" cy="792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AutoShape 5"/>
          <p:cNvSpPr/>
          <p:nvPr/>
        </p:nvSpPr>
        <p:spPr>
          <a:xfrm>
            <a:off x="0" y="828675"/>
            <a:ext cx="3276389" cy="0"/>
          </a:xfrm>
          <a:prstGeom prst="line">
            <a:avLst/>
          </a:prstGeom>
          <a:ln w="38100" cap="flat">
            <a:solidFill>
              <a:srgbClr val="19191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Box 13">
            <a:extLst>
              <a:ext uri="{FF2B5EF4-FFF2-40B4-BE49-F238E27FC236}">
                <a16:creationId xmlns:a16="http://schemas.microsoft.com/office/drawing/2014/main" id="{47907124-BA55-25BB-81FD-2D1C360B735A}"/>
              </a:ext>
            </a:extLst>
          </p:cNvPr>
          <p:cNvSpPr txBox="1"/>
          <p:nvPr/>
        </p:nvSpPr>
        <p:spPr>
          <a:xfrm>
            <a:off x="76200" y="866273"/>
            <a:ext cx="4674929" cy="7311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6589"/>
              </a:lnSpc>
              <a:spcBef>
                <a:spcPct val="0"/>
              </a:spcBef>
            </a:pPr>
            <a:r>
              <a:rPr lang="en-US" sz="3300" b="1" spc="-65">
                <a:solidFill>
                  <a:srgbClr val="191919"/>
                </a:solidFill>
                <a:latin typeface="윤고딕"/>
                <a:ea typeface="윤고딕"/>
                <a:cs typeface="윤고딕"/>
                <a:sym typeface="윤고딕"/>
              </a:rPr>
              <a:t>Docker-Compose.yaml</a:t>
            </a:r>
          </a:p>
        </p:txBody>
      </p: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F40457CA-EB70-0787-54DD-8DE5B4CB2129}"/>
              </a:ext>
            </a:extLst>
          </p:cNvPr>
          <p:cNvCxnSpPr>
            <a:cxnSpLocks/>
          </p:cNvCxnSpPr>
          <p:nvPr/>
        </p:nvCxnSpPr>
        <p:spPr>
          <a:xfrm>
            <a:off x="6337156" y="1231854"/>
            <a:ext cx="198120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0D7F4670-E19C-7F48-A451-4C8FE899E1C1}"/>
              </a:ext>
            </a:extLst>
          </p:cNvPr>
          <p:cNvCxnSpPr>
            <a:cxnSpLocks/>
          </p:cNvCxnSpPr>
          <p:nvPr/>
        </p:nvCxnSpPr>
        <p:spPr>
          <a:xfrm>
            <a:off x="6280006" y="3179494"/>
            <a:ext cx="203835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916D8504-2180-AE01-52A6-044E1F395CE8}"/>
              </a:ext>
            </a:extLst>
          </p:cNvPr>
          <p:cNvCxnSpPr>
            <a:cxnSpLocks/>
          </p:cNvCxnSpPr>
          <p:nvPr/>
        </p:nvCxnSpPr>
        <p:spPr>
          <a:xfrm>
            <a:off x="6248400" y="5600700"/>
            <a:ext cx="2069956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그림 16">
            <a:extLst>
              <a:ext uri="{FF2B5EF4-FFF2-40B4-BE49-F238E27FC236}">
                <a16:creationId xmlns:a16="http://schemas.microsoft.com/office/drawing/2014/main" id="{F051A2C1-2FAE-B735-93C5-8FD54D709A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53800" y="2552700"/>
            <a:ext cx="6183298" cy="2133600"/>
          </a:xfrm>
          <a:prstGeom prst="rect">
            <a:avLst/>
          </a:prstGeom>
        </p:spPr>
      </p:pic>
      <p:sp>
        <p:nvSpPr>
          <p:cNvPr id="9" name="TextBox 13">
            <a:extLst>
              <a:ext uri="{FF2B5EF4-FFF2-40B4-BE49-F238E27FC236}">
                <a16:creationId xmlns:a16="http://schemas.microsoft.com/office/drawing/2014/main" id="{4B2BD9AC-456C-02FA-B380-521158FCF808}"/>
              </a:ext>
            </a:extLst>
          </p:cNvPr>
          <p:cNvSpPr txBox="1"/>
          <p:nvPr/>
        </p:nvSpPr>
        <p:spPr>
          <a:xfrm>
            <a:off x="11430000" y="1821538"/>
            <a:ext cx="4674929" cy="7311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6589"/>
              </a:lnSpc>
              <a:spcBef>
                <a:spcPct val="0"/>
              </a:spcBef>
            </a:pPr>
            <a:r>
              <a:rPr lang="en-US" sz="3300" b="1" spc="-65">
                <a:solidFill>
                  <a:srgbClr val="191919"/>
                </a:solidFill>
                <a:latin typeface="윤고딕"/>
                <a:ea typeface="윤고딕"/>
                <a:cs typeface="윤고딕"/>
                <a:sym typeface="윤고딕"/>
              </a:rPr>
              <a:t>Dockerfile</a:t>
            </a:r>
          </a:p>
        </p:txBody>
      </p:sp>
      <p:sp>
        <p:nvSpPr>
          <p:cNvPr id="10" name="화살표: 오른쪽 9">
            <a:extLst>
              <a:ext uri="{FF2B5EF4-FFF2-40B4-BE49-F238E27FC236}">
                <a16:creationId xmlns:a16="http://schemas.microsoft.com/office/drawing/2014/main" id="{6AADC6E2-FF48-E216-814D-151650CE55DE}"/>
              </a:ext>
            </a:extLst>
          </p:cNvPr>
          <p:cNvSpPr/>
          <p:nvPr/>
        </p:nvSpPr>
        <p:spPr>
          <a:xfrm rot="12404939">
            <a:off x="9712685" y="3625566"/>
            <a:ext cx="1321974" cy="67894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오른쪽 중괄호 10">
            <a:extLst>
              <a:ext uri="{FF2B5EF4-FFF2-40B4-BE49-F238E27FC236}">
                <a16:creationId xmlns:a16="http://schemas.microsoft.com/office/drawing/2014/main" id="{0C3F970D-AEAE-D196-EE03-612EEA3A4406}"/>
              </a:ext>
            </a:extLst>
          </p:cNvPr>
          <p:cNvSpPr/>
          <p:nvPr/>
        </p:nvSpPr>
        <p:spPr>
          <a:xfrm>
            <a:off x="8657995" y="1155655"/>
            <a:ext cx="838200" cy="4445045"/>
          </a:xfrm>
          <a:prstGeom prst="rightBrac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C5B3DFB6-B94F-B169-8010-BF8E19D73B7C}"/>
              </a:ext>
            </a:extLst>
          </p:cNvPr>
          <p:cNvSpPr txBox="1"/>
          <p:nvPr/>
        </p:nvSpPr>
        <p:spPr>
          <a:xfrm>
            <a:off x="11430000" y="4867125"/>
            <a:ext cx="6705600" cy="158056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6589"/>
              </a:lnSpc>
              <a:spcBef>
                <a:spcPct val="0"/>
              </a:spcBef>
            </a:pPr>
            <a:r>
              <a:rPr lang="en-US" sz="3300" b="1" spc="-65">
                <a:solidFill>
                  <a:srgbClr val="191919"/>
                </a:solidFill>
                <a:latin typeface="윤고딕"/>
                <a:ea typeface="윤고딕"/>
                <a:cs typeface="윤고딕"/>
                <a:sym typeface="윤고딕"/>
              </a:rPr>
              <a:t>Dockerfile: </a:t>
            </a:r>
            <a:r>
              <a:rPr lang="ko-KR" altLang="en-US" sz="3300" b="1" spc="-65">
                <a:solidFill>
                  <a:srgbClr val="191919"/>
                </a:solidFill>
                <a:latin typeface="윤고딕"/>
                <a:ea typeface="윤고딕"/>
                <a:cs typeface="윤고딕"/>
                <a:sym typeface="윤고딕"/>
              </a:rPr>
              <a:t>각 </a:t>
            </a:r>
            <a:r>
              <a:rPr lang="en-US" altLang="ko-KR" sz="3300" b="1" spc="-65">
                <a:solidFill>
                  <a:srgbClr val="191919"/>
                </a:solidFill>
                <a:latin typeface="윤고딕"/>
                <a:ea typeface="윤고딕"/>
                <a:cs typeface="윤고딕"/>
                <a:sym typeface="윤고딕"/>
              </a:rPr>
              <a:t>Spring Boot </a:t>
            </a:r>
            <a:r>
              <a:rPr lang="ko-KR" altLang="en-US" sz="3300" b="1" spc="-65">
                <a:solidFill>
                  <a:srgbClr val="191919"/>
                </a:solidFill>
                <a:latin typeface="윤고딕"/>
                <a:ea typeface="윤고딕"/>
                <a:cs typeface="윤고딕"/>
                <a:sym typeface="윤고딕"/>
              </a:rPr>
              <a:t>서비스를 </a:t>
            </a:r>
            <a:r>
              <a:rPr lang="ko-KR" altLang="en-US" sz="3300" b="1" spc="-65">
                <a:solidFill>
                  <a:srgbClr val="FF0000"/>
                </a:solidFill>
                <a:latin typeface="윤고딕"/>
                <a:ea typeface="윤고딕"/>
                <a:cs typeface="윤고딕"/>
                <a:sym typeface="윤고딕"/>
              </a:rPr>
              <a:t>컨테이너</a:t>
            </a:r>
            <a:r>
              <a:rPr lang="ko-KR" altLang="en-US" sz="3300" b="1" spc="-65">
                <a:solidFill>
                  <a:srgbClr val="191919"/>
                </a:solidFill>
                <a:latin typeface="윤고딕"/>
                <a:ea typeface="윤고딕"/>
                <a:cs typeface="윤고딕"/>
                <a:sym typeface="윤고딕"/>
              </a:rPr>
              <a:t>로 만들어주는 </a:t>
            </a:r>
            <a:r>
              <a:rPr lang="en-US" altLang="ko-KR" sz="3300" b="1" spc="-65">
                <a:solidFill>
                  <a:srgbClr val="191919"/>
                </a:solidFill>
                <a:latin typeface="윤고딕"/>
                <a:ea typeface="윤고딕"/>
                <a:cs typeface="윤고딕"/>
                <a:sym typeface="윤고딕"/>
              </a:rPr>
              <a:t>file</a:t>
            </a:r>
          </a:p>
        </p:txBody>
      </p: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46D6E5AD-EFC2-AF34-1767-7C81CA71CDEC}"/>
              </a:ext>
            </a:extLst>
          </p:cNvPr>
          <p:cNvCxnSpPr>
            <a:cxnSpLocks/>
          </p:cNvCxnSpPr>
          <p:nvPr/>
        </p:nvCxnSpPr>
        <p:spPr>
          <a:xfrm>
            <a:off x="12573000" y="2865100"/>
            <a:ext cx="203835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EB19181F-8350-4665-0492-322C92EC8858}"/>
              </a:ext>
            </a:extLst>
          </p:cNvPr>
          <p:cNvCxnSpPr>
            <a:cxnSpLocks/>
          </p:cNvCxnSpPr>
          <p:nvPr/>
        </p:nvCxnSpPr>
        <p:spPr>
          <a:xfrm>
            <a:off x="12039600" y="4686300"/>
            <a:ext cx="388620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314447-259E-2665-CDE8-FADEF42226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6F49AAC0-830C-2910-93B3-052F86D0021F}"/>
              </a:ext>
            </a:extLst>
          </p:cNvPr>
          <p:cNvGrpSpPr/>
          <p:nvPr/>
        </p:nvGrpSpPr>
        <p:grpSpPr>
          <a:xfrm>
            <a:off x="-290868" y="10008764"/>
            <a:ext cx="18869735" cy="120011"/>
            <a:chOff x="0" y="0"/>
            <a:chExt cx="4969807" cy="31608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28116389-488B-EEC2-2ED6-192418E88225}"/>
                </a:ext>
              </a:extLst>
            </p:cNvPr>
            <p:cNvSpPr/>
            <p:nvPr/>
          </p:nvSpPr>
          <p:spPr>
            <a:xfrm>
              <a:off x="0" y="0"/>
              <a:ext cx="4969807" cy="31608"/>
            </a:xfrm>
            <a:custGeom>
              <a:avLst/>
              <a:gdLst/>
              <a:ahLst/>
              <a:cxnLst/>
              <a:rect l="l" t="t" r="r" b="b"/>
              <a:pathLst>
                <a:path w="4969807" h="31608">
                  <a:moveTo>
                    <a:pt x="0" y="0"/>
                  </a:moveTo>
                  <a:lnTo>
                    <a:pt x="4969807" y="0"/>
                  </a:lnTo>
                  <a:lnTo>
                    <a:pt x="4969807" y="31608"/>
                  </a:lnTo>
                  <a:lnTo>
                    <a:pt x="0" y="31608"/>
                  </a:lnTo>
                  <a:close/>
                </a:path>
              </a:pathLst>
            </a:custGeom>
            <a:solidFill>
              <a:srgbClr val="191919"/>
            </a:solidFill>
            <a:ln w="19050" cap="sq">
              <a:solidFill>
                <a:srgbClr val="191919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45B804C-3B17-399B-B01E-A93A920BD3CB}"/>
                </a:ext>
              </a:extLst>
            </p:cNvPr>
            <p:cNvSpPr txBox="1"/>
            <p:nvPr/>
          </p:nvSpPr>
          <p:spPr>
            <a:xfrm>
              <a:off x="0" y="-47625"/>
              <a:ext cx="4969807" cy="792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9" name="AutoShape 9">
            <a:extLst>
              <a:ext uri="{FF2B5EF4-FFF2-40B4-BE49-F238E27FC236}">
                <a16:creationId xmlns:a16="http://schemas.microsoft.com/office/drawing/2014/main" id="{5D3A5A69-F34C-4DCE-14D6-470FBF9083CC}"/>
              </a:ext>
            </a:extLst>
          </p:cNvPr>
          <p:cNvSpPr/>
          <p:nvPr/>
        </p:nvSpPr>
        <p:spPr>
          <a:xfrm>
            <a:off x="0" y="828675"/>
            <a:ext cx="3276389" cy="0"/>
          </a:xfrm>
          <a:prstGeom prst="line">
            <a:avLst/>
          </a:prstGeom>
          <a:ln w="38100" cap="flat">
            <a:solidFill>
              <a:srgbClr val="19191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Box 13">
            <a:extLst>
              <a:ext uri="{FF2B5EF4-FFF2-40B4-BE49-F238E27FC236}">
                <a16:creationId xmlns:a16="http://schemas.microsoft.com/office/drawing/2014/main" id="{E3E2DAF8-DC4A-D633-77EF-0FD541714809}"/>
              </a:ext>
            </a:extLst>
          </p:cNvPr>
          <p:cNvSpPr txBox="1"/>
          <p:nvPr/>
        </p:nvSpPr>
        <p:spPr>
          <a:xfrm>
            <a:off x="76200" y="896534"/>
            <a:ext cx="7010400" cy="160159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6589"/>
              </a:lnSpc>
              <a:spcBef>
                <a:spcPct val="0"/>
              </a:spcBef>
            </a:pPr>
            <a:r>
              <a:rPr lang="en-US" altLang="ko-KR" sz="4800" b="1" spc="-65">
                <a:solidFill>
                  <a:srgbClr val="191919"/>
                </a:solidFill>
                <a:latin typeface="윤고딕"/>
                <a:ea typeface="윤고딕"/>
                <a:cs typeface="윤고딕"/>
                <a:sym typeface="윤고딕"/>
              </a:rPr>
              <a:t>3. </a:t>
            </a:r>
            <a:r>
              <a:rPr lang="ko-KR" altLang="en-US" sz="4800" b="1" spc="-65">
                <a:solidFill>
                  <a:srgbClr val="191919"/>
                </a:solidFill>
                <a:latin typeface="윤고딕"/>
                <a:ea typeface="윤고딕"/>
                <a:cs typeface="윤고딕"/>
                <a:sym typeface="윤고딕"/>
              </a:rPr>
              <a:t>아키텍처의 설계 및 구현</a:t>
            </a:r>
            <a:endParaRPr lang="en-US" altLang="ko-KR" sz="4800" b="1" spc="-65">
              <a:solidFill>
                <a:srgbClr val="191919"/>
              </a:solidFill>
              <a:latin typeface="윤고딕"/>
              <a:ea typeface="윤고딕"/>
              <a:cs typeface="윤고딕"/>
              <a:sym typeface="윤고딕"/>
            </a:endParaRPr>
          </a:p>
          <a:p>
            <a:pPr>
              <a:lnSpc>
                <a:spcPts val="6589"/>
              </a:lnSpc>
              <a:spcBef>
                <a:spcPct val="0"/>
              </a:spcBef>
            </a:pPr>
            <a:r>
              <a:rPr lang="ko-KR" altLang="en-US" sz="4000" b="1" spc="-65">
                <a:solidFill>
                  <a:srgbClr val="191919"/>
                </a:solidFill>
                <a:latin typeface="윤고딕"/>
                <a:ea typeface="윤고딕"/>
                <a:cs typeface="윤고딕"/>
                <a:sym typeface="윤고딕"/>
              </a:rPr>
              <a:t>서브 시스템</a:t>
            </a:r>
            <a:endParaRPr lang="en-US" altLang="ko-KR" sz="4000" b="1" spc="-65">
              <a:solidFill>
                <a:srgbClr val="191919"/>
              </a:solidFill>
              <a:latin typeface="윤고딕"/>
              <a:ea typeface="윤고딕"/>
              <a:cs typeface="윤고딕"/>
              <a:sym typeface="윤고딕"/>
            </a:endParaRPr>
          </a:p>
        </p:txBody>
      </p:sp>
      <p:pic>
        <p:nvPicPr>
          <p:cNvPr id="14" name="그림 13" descr="텍스트, 폰트, 도표, 스크린샷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BFE85E02-6BED-9F80-0ABD-B88195FEB1C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274" r="9430"/>
          <a:stretch/>
        </p:blipFill>
        <p:spPr>
          <a:xfrm>
            <a:off x="248405" y="4136457"/>
            <a:ext cx="8076445" cy="4906948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F285FD62-3310-852B-1C55-8917FCFDCC09}"/>
              </a:ext>
            </a:extLst>
          </p:cNvPr>
          <p:cNvSpPr txBox="1"/>
          <p:nvPr/>
        </p:nvSpPr>
        <p:spPr>
          <a:xfrm>
            <a:off x="2286000" y="3358798"/>
            <a:ext cx="3810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000"/>
              <a:t>RabbitMQ</a:t>
            </a:r>
            <a:endParaRPr lang="ko-KR" altLang="en-US" sz="4000"/>
          </a:p>
        </p:txBody>
      </p:sp>
      <p:pic>
        <p:nvPicPr>
          <p:cNvPr id="21" name="그림 20" descr="텍스트, 직사각형, 스크린샷, 디자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1E818C68-132F-16A6-DA1C-7F7AFDFD0CB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63100" y="1579744"/>
            <a:ext cx="7391400" cy="4259598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0874370D-279A-95C0-5C1A-B1D6C75C7612}"/>
              </a:ext>
            </a:extLst>
          </p:cNvPr>
          <p:cNvSpPr txBox="1"/>
          <p:nvPr/>
        </p:nvSpPr>
        <p:spPr>
          <a:xfrm>
            <a:off x="11353800" y="647700"/>
            <a:ext cx="3810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400"/>
              <a:t>MongoDB</a:t>
            </a:r>
            <a:endParaRPr lang="ko-KR" altLang="en-US" sz="4400"/>
          </a:p>
        </p:txBody>
      </p:sp>
      <p:pic>
        <p:nvPicPr>
          <p:cNvPr id="24" name="그래픽 23">
            <a:extLst>
              <a:ext uri="{FF2B5EF4-FFF2-40B4-BE49-F238E27FC236}">
                <a16:creationId xmlns:a16="http://schemas.microsoft.com/office/drawing/2014/main" id="{51D7680A-E29E-9E28-37F3-63FCD6ECBF5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536596" y="6430985"/>
            <a:ext cx="6419944" cy="3209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462605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507775-4C07-F011-0A0F-3BB7029DB5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76226767-7D98-34F8-0F7B-15495C63919D}"/>
              </a:ext>
            </a:extLst>
          </p:cNvPr>
          <p:cNvGrpSpPr/>
          <p:nvPr/>
        </p:nvGrpSpPr>
        <p:grpSpPr>
          <a:xfrm>
            <a:off x="-290868" y="10008764"/>
            <a:ext cx="18869735" cy="120011"/>
            <a:chOff x="0" y="0"/>
            <a:chExt cx="4969807" cy="31608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E059D13E-2387-ECDF-67A6-A1A4AA861BF3}"/>
                </a:ext>
              </a:extLst>
            </p:cNvPr>
            <p:cNvSpPr/>
            <p:nvPr/>
          </p:nvSpPr>
          <p:spPr>
            <a:xfrm>
              <a:off x="0" y="0"/>
              <a:ext cx="4969807" cy="31608"/>
            </a:xfrm>
            <a:custGeom>
              <a:avLst/>
              <a:gdLst/>
              <a:ahLst/>
              <a:cxnLst/>
              <a:rect l="l" t="t" r="r" b="b"/>
              <a:pathLst>
                <a:path w="4969807" h="31608">
                  <a:moveTo>
                    <a:pt x="0" y="0"/>
                  </a:moveTo>
                  <a:lnTo>
                    <a:pt x="4969807" y="0"/>
                  </a:lnTo>
                  <a:lnTo>
                    <a:pt x="4969807" y="31608"/>
                  </a:lnTo>
                  <a:lnTo>
                    <a:pt x="0" y="31608"/>
                  </a:lnTo>
                  <a:close/>
                </a:path>
              </a:pathLst>
            </a:custGeom>
            <a:solidFill>
              <a:srgbClr val="191919"/>
            </a:solidFill>
            <a:ln w="19050" cap="sq">
              <a:solidFill>
                <a:srgbClr val="191919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E2AE4DB1-9F2A-01AF-CA75-9176A5C30C52}"/>
                </a:ext>
              </a:extLst>
            </p:cNvPr>
            <p:cNvSpPr txBox="1"/>
            <p:nvPr/>
          </p:nvSpPr>
          <p:spPr>
            <a:xfrm>
              <a:off x="0" y="-47625"/>
              <a:ext cx="4969807" cy="792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9" name="AutoShape 9">
            <a:extLst>
              <a:ext uri="{FF2B5EF4-FFF2-40B4-BE49-F238E27FC236}">
                <a16:creationId xmlns:a16="http://schemas.microsoft.com/office/drawing/2014/main" id="{AB14FA08-C468-1B5F-6DE4-1910BE1B1E23}"/>
              </a:ext>
            </a:extLst>
          </p:cNvPr>
          <p:cNvSpPr/>
          <p:nvPr/>
        </p:nvSpPr>
        <p:spPr>
          <a:xfrm>
            <a:off x="0" y="828675"/>
            <a:ext cx="3276389" cy="0"/>
          </a:xfrm>
          <a:prstGeom prst="line">
            <a:avLst/>
          </a:prstGeom>
          <a:ln w="38100" cap="flat">
            <a:solidFill>
              <a:srgbClr val="19191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Box 13">
            <a:extLst>
              <a:ext uri="{FF2B5EF4-FFF2-40B4-BE49-F238E27FC236}">
                <a16:creationId xmlns:a16="http://schemas.microsoft.com/office/drawing/2014/main" id="{62161B4C-2966-4457-4FBC-60EEE2D86FB1}"/>
              </a:ext>
            </a:extLst>
          </p:cNvPr>
          <p:cNvSpPr txBox="1"/>
          <p:nvPr/>
        </p:nvSpPr>
        <p:spPr>
          <a:xfrm>
            <a:off x="76200" y="896534"/>
            <a:ext cx="7391400" cy="244797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6589"/>
              </a:lnSpc>
              <a:spcBef>
                <a:spcPct val="0"/>
              </a:spcBef>
            </a:pPr>
            <a:r>
              <a:rPr lang="en-US" altLang="ko-KR" sz="4800" b="1" spc="-65">
                <a:solidFill>
                  <a:srgbClr val="191919"/>
                </a:solidFill>
                <a:latin typeface="윤고딕"/>
                <a:ea typeface="윤고딕"/>
                <a:cs typeface="윤고딕"/>
                <a:sym typeface="윤고딕"/>
              </a:rPr>
              <a:t>3. 2</a:t>
            </a:r>
            <a:r>
              <a:rPr lang="ko-KR" altLang="en-US" sz="4800" b="1" spc="-65">
                <a:solidFill>
                  <a:srgbClr val="191919"/>
                </a:solidFill>
                <a:latin typeface="윤고딕"/>
                <a:ea typeface="윤고딕"/>
                <a:cs typeface="윤고딕"/>
                <a:sym typeface="윤고딕"/>
              </a:rPr>
              <a:t> 구현하는 서비스의 기능</a:t>
            </a:r>
            <a:endParaRPr lang="en-US" sz="4000" b="1" spc="-65">
              <a:solidFill>
                <a:srgbClr val="191919"/>
              </a:solidFill>
              <a:latin typeface="윤고딕"/>
              <a:ea typeface="윤고딕"/>
              <a:cs typeface="윤고딕"/>
              <a:sym typeface="윤고딕"/>
            </a:endParaRPr>
          </a:p>
          <a:p>
            <a:pPr>
              <a:lnSpc>
                <a:spcPts val="6589"/>
              </a:lnSpc>
              <a:spcBef>
                <a:spcPct val="0"/>
              </a:spcBef>
            </a:pPr>
            <a:r>
              <a:rPr lang="ko-KR" altLang="en-US" sz="4000" b="1" spc="-65">
                <a:solidFill>
                  <a:srgbClr val="191919"/>
                </a:solidFill>
                <a:latin typeface="윤고딕"/>
                <a:ea typeface="윤고딕"/>
                <a:cs typeface="윤고딕"/>
                <a:sym typeface="윤고딕"/>
              </a:rPr>
              <a:t>마이크로 서비스 기능들</a:t>
            </a:r>
            <a:endParaRPr lang="en-US" sz="4000" b="1" spc="-65">
              <a:solidFill>
                <a:srgbClr val="191919"/>
              </a:solidFill>
              <a:latin typeface="윤고딕"/>
              <a:ea typeface="윤고딕"/>
              <a:cs typeface="윤고딕"/>
              <a:sym typeface="윤고딕"/>
            </a:endParaRPr>
          </a:p>
          <a:p>
            <a:pPr>
              <a:lnSpc>
                <a:spcPts val="6589"/>
              </a:lnSpc>
              <a:spcBef>
                <a:spcPct val="0"/>
              </a:spcBef>
            </a:pPr>
            <a:endParaRPr lang="en-US" sz="4000" b="1" spc="-65">
              <a:solidFill>
                <a:srgbClr val="191919"/>
              </a:solidFill>
              <a:latin typeface="윤고딕"/>
              <a:ea typeface="윤고딕"/>
              <a:cs typeface="윤고딕"/>
              <a:sym typeface="윤고딕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EECF843-0D9F-DEE5-EC9C-A15399DF7725}"/>
              </a:ext>
            </a:extLst>
          </p:cNvPr>
          <p:cNvSpPr txBox="1"/>
          <p:nvPr/>
        </p:nvSpPr>
        <p:spPr>
          <a:xfrm>
            <a:off x="1371600" y="2781300"/>
            <a:ext cx="14706600" cy="7032694"/>
          </a:xfrm>
          <a:prstGeom prst="rect">
            <a:avLst/>
          </a:prstGeom>
          <a:noFill/>
          <a:ln w="28575">
            <a:noFill/>
          </a:ln>
        </p:spPr>
        <p:txBody>
          <a:bodyPr wrap="square" rtlCol="0">
            <a:spAutoFit/>
          </a:bodyPr>
          <a:lstStyle/>
          <a:p>
            <a:r>
              <a:rPr lang="en-US" altLang="ko-KR" sz="4100"/>
              <a:t>1. </a:t>
            </a:r>
            <a:r>
              <a:rPr lang="ko-KR" altLang="en-US" sz="4100"/>
              <a:t>고객 등록 기능 </a:t>
            </a:r>
            <a:r>
              <a:rPr lang="en-US" altLang="ko-KR" sz="4100"/>
              <a:t>(Create)</a:t>
            </a:r>
          </a:p>
          <a:p>
            <a:r>
              <a:rPr lang="en-US" altLang="ko-KR" sz="4100"/>
              <a:t> </a:t>
            </a:r>
          </a:p>
          <a:p>
            <a:r>
              <a:rPr lang="en-US" altLang="ko-KR" sz="4100"/>
              <a:t>2. </a:t>
            </a:r>
            <a:r>
              <a:rPr lang="ko-KR" altLang="en-US" sz="4100"/>
              <a:t>고객 조회 기능 </a:t>
            </a:r>
            <a:r>
              <a:rPr lang="en-US" altLang="ko-KR" sz="4100"/>
              <a:t>(Read)</a:t>
            </a:r>
          </a:p>
          <a:p>
            <a:r>
              <a:rPr lang="en-US" altLang="ko-KR" sz="4100"/>
              <a:t> </a:t>
            </a:r>
          </a:p>
          <a:p>
            <a:r>
              <a:rPr lang="en-US" altLang="ko-KR" sz="4100"/>
              <a:t>3. </a:t>
            </a:r>
            <a:r>
              <a:rPr lang="ko-KR" altLang="en-US" sz="4100"/>
              <a:t>고객 업데이트 기능 </a:t>
            </a:r>
            <a:r>
              <a:rPr lang="en-US" altLang="ko-KR" sz="4100"/>
              <a:t>(Update)</a:t>
            </a:r>
          </a:p>
          <a:p>
            <a:r>
              <a:rPr lang="en-US" altLang="ko-KR" sz="4100"/>
              <a:t> </a:t>
            </a:r>
          </a:p>
          <a:p>
            <a:r>
              <a:rPr lang="en-US" altLang="ko-KR" sz="4100"/>
              <a:t>4. </a:t>
            </a:r>
            <a:r>
              <a:rPr lang="ko-KR" altLang="en-US" sz="4100"/>
              <a:t>고객 삭제 기능 </a:t>
            </a:r>
            <a:r>
              <a:rPr lang="en-US" altLang="ko-KR" sz="4100"/>
              <a:t>(Delete)</a:t>
            </a:r>
          </a:p>
          <a:p>
            <a:r>
              <a:rPr lang="en-US" altLang="ko-KR" sz="4100"/>
              <a:t> </a:t>
            </a:r>
          </a:p>
          <a:p>
            <a:r>
              <a:rPr lang="en-US" altLang="ko-KR" sz="4100"/>
              <a:t>5. </a:t>
            </a:r>
            <a:r>
              <a:rPr lang="ko-KR" altLang="en-US" sz="4100"/>
              <a:t>고객 등록 시 이벤트 발생 기능</a:t>
            </a:r>
            <a:endParaRPr lang="en-US" altLang="ko-KR" sz="4100"/>
          </a:p>
          <a:p>
            <a:endParaRPr lang="en-US" altLang="ko-KR" sz="4100"/>
          </a:p>
          <a:p>
            <a:r>
              <a:rPr lang="en-US" altLang="ko-KR" sz="4100"/>
              <a:t>6. </a:t>
            </a:r>
            <a:r>
              <a:rPr lang="ko-KR" altLang="en-US" sz="4100"/>
              <a:t>간단한 메세지 이벤트 발생 기능</a:t>
            </a:r>
            <a:endParaRPr lang="en-US" altLang="ko-KR" sz="4100"/>
          </a:p>
        </p:txBody>
      </p:sp>
      <p:sp>
        <p:nvSpPr>
          <p:cNvPr id="6" name="오른쪽 중괄호 5">
            <a:extLst>
              <a:ext uri="{FF2B5EF4-FFF2-40B4-BE49-F238E27FC236}">
                <a16:creationId xmlns:a16="http://schemas.microsoft.com/office/drawing/2014/main" id="{B220F5D0-995C-2F59-CF9E-BE7E793F253E}"/>
              </a:ext>
            </a:extLst>
          </p:cNvPr>
          <p:cNvSpPr/>
          <p:nvPr/>
        </p:nvSpPr>
        <p:spPr>
          <a:xfrm>
            <a:off x="8305800" y="2767355"/>
            <a:ext cx="914400" cy="4419600"/>
          </a:xfrm>
          <a:prstGeom prst="rightBrac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오른쪽 중괄호 6">
            <a:extLst>
              <a:ext uri="{FF2B5EF4-FFF2-40B4-BE49-F238E27FC236}">
                <a16:creationId xmlns:a16="http://schemas.microsoft.com/office/drawing/2014/main" id="{B19AB631-7724-1448-511F-E4AC1E74923F}"/>
              </a:ext>
            </a:extLst>
          </p:cNvPr>
          <p:cNvSpPr/>
          <p:nvPr/>
        </p:nvSpPr>
        <p:spPr>
          <a:xfrm>
            <a:off x="9448800" y="8039100"/>
            <a:ext cx="990600" cy="1435640"/>
          </a:xfrm>
          <a:prstGeom prst="rightBrac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6580AF1-D720-C2B0-E9C7-EBED779195C8}"/>
              </a:ext>
            </a:extLst>
          </p:cNvPr>
          <p:cNvSpPr txBox="1"/>
          <p:nvPr/>
        </p:nvSpPr>
        <p:spPr>
          <a:xfrm>
            <a:off x="9677400" y="4501222"/>
            <a:ext cx="3493040" cy="646331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3600"/>
              <a:t>User-Service</a:t>
            </a:r>
            <a:endParaRPr lang="ko-KR" altLang="en-US" sz="360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AE3E72A-6AA2-BB11-4018-472B198B797D}"/>
              </a:ext>
            </a:extLst>
          </p:cNvPr>
          <p:cNvSpPr txBox="1"/>
          <p:nvPr/>
        </p:nvSpPr>
        <p:spPr>
          <a:xfrm>
            <a:off x="10820400" y="8267700"/>
            <a:ext cx="3493040" cy="646331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3600"/>
              <a:t>Event-Service</a:t>
            </a:r>
            <a:endParaRPr lang="ko-KR" altLang="en-US" sz="3600"/>
          </a:p>
        </p:txBody>
      </p:sp>
    </p:spTree>
    <p:extLst>
      <p:ext uri="{BB962C8B-B14F-4D97-AF65-F5344CB8AC3E}">
        <p14:creationId xmlns:p14="http://schemas.microsoft.com/office/powerpoint/2010/main" val="218513482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290868" y="10008764"/>
            <a:ext cx="18869735" cy="120011"/>
            <a:chOff x="0" y="0"/>
            <a:chExt cx="4969807" cy="3160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969807" cy="31608"/>
            </a:xfrm>
            <a:custGeom>
              <a:avLst/>
              <a:gdLst/>
              <a:ahLst/>
              <a:cxnLst/>
              <a:rect l="l" t="t" r="r" b="b"/>
              <a:pathLst>
                <a:path w="4969807" h="31608">
                  <a:moveTo>
                    <a:pt x="0" y="0"/>
                  </a:moveTo>
                  <a:lnTo>
                    <a:pt x="4969807" y="0"/>
                  </a:lnTo>
                  <a:lnTo>
                    <a:pt x="4969807" y="31608"/>
                  </a:lnTo>
                  <a:lnTo>
                    <a:pt x="0" y="31608"/>
                  </a:lnTo>
                  <a:close/>
                </a:path>
              </a:pathLst>
            </a:custGeom>
            <a:solidFill>
              <a:srgbClr val="191919"/>
            </a:solidFill>
            <a:ln w="19050" cap="sq">
              <a:solidFill>
                <a:srgbClr val="191919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4969807" cy="792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AutoShape 5"/>
          <p:cNvSpPr/>
          <p:nvPr/>
        </p:nvSpPr>
        <p:spPr>
          <a:xfrm>
            <a:off x="0" y="828675"/>
            <a:ext cx="3276389" cy="0"/>
          </a:xfrm>
          <a:prstGeom prst="line">
            <a:avLst/>
          </a:prstGeom>
          <a:ln w="38100" cap="flat">
            <a:solidFill>
              <a:srgbClr val="19191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67" name="그림 66" descr="상징, 원, 로고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21482838-6422-BEDF-5242-D5DCCED234D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82727" y="2396106"/>
            <a:ext cx="1562534" cy="1522860"/>
          </a:xfrm>
          <a:prstGeom prst="rect">
            <a:avLst/>
          </a:prstGeom>
        </p:spPr>
      </p:pic>
      <p:sp>
        <p:nvSpPr>
          <p:cNvPr id="96" name="TextBox 8">
            <a:extLst>
              <a:ext uri="{FF2B5EF4-FFF2-40B4-BE49-F238E27FC236}">
                <a16:creationId xmlns:a16="http://schemas.microsoft.com/office/drawing/2014/main" id="{2BE080D5-7880-AB44-C4E1-CBA2CA05A6F9}"/>
              </a:ext>
            </a:extLst>
          </p:cNvPr>
          <p:cNvSpPr txBox="1"/>
          <p:nvPr/>
        </p:nvSpPr>
        <p:spPr>
          <a:xfrm>
            <a:off x="33835" y="944123"/>
            <a:ext cx="9262565" cy="77931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6589"/>
              </a:lnSpc>
              <a:spcBef>
                <a:spcPct val="0"/>
              </a:spcBef>
            </a:pPr>
            <a:r>
              <a:rPr lang="en-US" sz="4800" b="1" spc="-65">
                <a:solidFill>
                  <a:srgbClr val="191919"/>
                </a:solidFill>
                <a:latin typeface="윤고딕"/>
                <a:ea typeface="윤고딕"/>
                <a:cs typeface="윤고딕"/>
                <a:sym typeface="윤고딕"/>
              </a:rPr>
              <a:t>3.3 Kubernetes</a:t>
            </a:r>
            <a:r>
              <a:rPr lang="ko-KR" altLang="en-US" sz="4800" b="1" spc="-65">
                <a:solidFill>
                  <a:srgbClr val="191919"/>
                </a:solidFill>
                <a:latin typeface="윤고딕"/>
                <a:ea typeface="윤고딕"/>
                <a:cs typeface="윤고딕"/>
                <a:sym typeface="윤고딕"/>
              </a:rPr>
              <a:t>의 오케스트레이션</a:t>
            </a:r>
            <a:endParaRPr lang="en-US" sz="4800" b="1" spc="-65">
              <a:solidFill>
                <a:srgbClr val="191919"/>
              </a:solidFill>
              <a:latin typeface="윤고딕"/>
              <a:ea typeface="윤고딕"/>
              <a:cs typeface="윤고딕"/>
              <a:sym typeface="윤고딕"/>
            </a:endParaRP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89CF578A-8B3F-E457-7065-3CB30CCCCE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483" y="1965752"/>
            <a:ext cx="3610632" cy="7660548"/>
          </a:xfrm>
          <a:prstGeom prst="rect">
            <a:avLst/>
          </a:prstGeom>
        </p:spPr>
      </p:pic>
      <p:sp>
        <p:nvSpPr>
          <p:cNvPr id="14" name="오른쪽 중괄호 13">
            <a:extLst>
              <a:ext uri="{FF2B5EF4-FFF2-40B4-BE49-F238E27FC236}">
                <a16:creationId xmlns:a16="http://schemas.microsoft.com/office/drawing/2014/main" id="{8C4D510D-21CE-800D-44C4-3ED3B7807B11}"/>
              </a:ext>
            </a:extLst>
          </p:cNvPr>
          <p:cNvSpPr/>
          <p:nvPr/>
        </p:nvSpPr>
        <p:spPr>
          <a:xfrm>
            <a:off x="3860015" y="4013896"/>
            <a:ext cx="838200" cy="4931095"/>
          </a:xfrm>
          <a:prstGeom prst="rightBrac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5C3314D0-AE9A-1834-5311-9427895AE485}"/>
              </a:ext>
            </a:extLst>
          </p:cNvPr>
          <p:cNvCxnSpPr/>
          <p:nvPr/>
        </p:nvCxnSpPr>
        <p:spPr>
          <a:xfrm>
            <a:off x="1676400" y="6188955"/>
            <a:ext cx="83820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FA8EA31E-C955-7B45-F0A3-FFE3C7412A37}"/>
              </a:ext>
            </a:extLst>
          </p:cNvPr>
          <p:cNvCxnSpPr>
            <a:cxnSpLocks/>
          </p:cNvCxnSpPr>
          <p:nvPr/>
        </p:nvCxnSpPr>
        <p:spPr>
          <a:xfrm>
            <a:off x="1676400" y="6452703"/>
            <a:ext cx="1371600" cy="413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순서도: 처리 5">
            <a:extLst>
              <a:ext uri="{FF2B5EF4-FFF2-40B4-BE49-F238E27FC236}">
                <a16:creationId xmlns:a16="http://schemas.microsoft.com/office/drawing/2014/main" id="{EB81A716-B677-4B90-35BE-0CCDA45BDFA0}"/>
              </a:ext>
            </a:extLst>
          </p:cNvPr>
          <p:cNvSpPr/>
          <p:nvPr/>
        </p:nvSpPr>
        <p:spPr>
          <a:xfrm>
            <a:off x="7359637" y="4060800"/>
            <a:ext cx="1788710" cy="1657381"/>
          </a:xfrm>
          <a:prstGeom prst="flowChartProcess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8DF5D61-E9F2-8F21-BC33-BC4B2D912961}"/>
              </a:ext>
            </a:extLst>
          </p:cNvPr>
          <p:cNvSpPr txBox="1"/>
          <p:nvPr/>
        </p:nvSpPr>
        <p:spPr>
          <a:xfrm>
            <a:off x="13899684" y="3326085"/>
            <a:ext cx="1606163" cy="400110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/>
              <a:t>Pod1</a:t>
            </a:r>
            <a:endParaRPr lang="ko-KR" altLang="en-US" sz="2000" b="1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F279335-43DE-CB04-C545-65FF9AC07C3B}"/>
              </a:ext>
            </a:extLst>
          </p:cNvPr>
          <p:cNvSpPr txBox="1"/>
          <p:nvPr/>
        </p:nvSpPr>
        <p:spPr>
          <a:xfrm>
            <a:off x="13899684" y="3737942"/>
            <a:ext cx="1606163" cy="338554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/>
              <a:t>Eureka-server</a:t>
            </a:r>
            <a:endParaRPr lang="ko-KR" altLang="en-US" sz="2000"/>
          </a:p>
        </p:txBody>
      </p:sp>
      <p:sp>
        <p:nvSpPr>
          <p:cNvPr id="18" name="순서도: 처리 17">
            <a:extLst>
              <a:ext uri="{FF2B5EF4-FFF2-40B4-BE49-F238E27FC236}">
                <a16:creationId xmlns:a16="http://schemas.microsoft.com/office/drawing/2014/main" id="{32BE1975-8F31-1457-9ADB-A75D03E10155}"/>
              </a:ext>
            </a:extLst>
          </p:cNvPr>
          <p:cNvSpPr/>
          <p:nvPr/>
        </p:nvSpPr>
        <p:spPr>
          <a:xfrm>
            <a:off x="13790684" y="2321481"/>
            <a:ext cx="4192516" cy="2912664"/>
          </a:xfrm>
          <a:prstGeom prst="flowChartProcess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6294837-C417-B637-8B3B-B2CCAC3247D6}"/>
              </a:ext>
            </a:extLst>
          </p:cNvPr>
          <p:cNvSpPr txBox="1"/>
          <p:nvPr/>
        </p:nvSpPr>
        <p:spPr>
          <a:xfrm>
            <a:off x="12750058" y="1710389"/>
            <a:ext cx="2077113" cy="492443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b="1"/>
              <a:t>Worker</a:t>
            </a:r>
            <a:r>
              <a:rPr lang="en-US" altLang="ko-KR" sz="2600" b="1"/>
              <a:t> node1</a:t>
            </a:r>
            <a:endParaRPr lang="ko-KR" altLang="en-US" sz="2600" b="1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77A6A42-25B4-70D1-5257-01652516D9D9}"/>
              </a:ext>
            </a:extLst>
          </p:cNvPr>
          <p:cNvSpPr txBox="1"/>
          <p:nvPr/>
        </p:nvSpPr>
        <p:spPr>
          <a:xfrm>
            <a:off x="12750058" y="2183731"/>
            <a:ext cx="2077113" cy="461665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err="1"/>
              <a:t>Kubelet</a:t>
            </a:r>
            <a:endParaRPr lang="ko-KR" altLang="en-US" sz="240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92DA73E-1F3D-BF6D-D815-0EEA0FCCAF52}"/>
              </a:ext>
            </a:extLst>
          </p:cNvPr>
          <p:cNvSpPr txBox="1"/>
          <p:nvPr/>
        </p:nvSpPr>
        <p:spPr>
          <a:xfrm>
            <a:off x="12750058" y="2624442"/>
            <a:ext cx="2077113" cy="461665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err="1"/>
              <a:t>Kubelet</a:t>
            </a:r>
            <a:r>
              <a:rPr lang="en-US" altLang="ko-KR" sz="2400"/>
              <a:t>-proxy</a:t>
            </a:r>
            <a:endParaRPr lang="ko-KR" altLang="en-US" sz="2400"/>
          </a:p>
        </p:txBody>
      </p:sp>
      <p:sp>
        <p:nvSpPr>
          <p:cNvPr id="22" name="순서도: 처리 21">
            <a:extLst>
              <a:ext uri="{FF2B5EF4-FFF2-40B4-BE49-F238E27FC236}">
                <a16:creationId xmlns:a16="http://schemas.microsoft.com/office/drawing/2014/main" id="{75084FC1-F71D-41CA-9BB5-9B4AE66D2C6A}"/>
              </a:ext>
            </a:extLst>
          </p:cNvPr>
          <p:cNvSpPr/>
          <p:nvPr/>
        </p:nvSpPr>
        <p:spPr>
          <a:xfrm>
            <a:off x="13780497" y="6549668"/>
            <a:ext cx="4192516" cy="2912664"/>
          </a:xfrm>
          <a:prstGeom prst="flowChartProcess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C1001CE-C5EC-7AB0-AD56-AFDB452DA83F}"/>
              </a:ext>
            </a:extLst>
          </p:cNvPr>
          <p:cNvSpPr txBox="1"/>
          <p:nvPr/>
        </p:nvSpPr>
        <p:spPr>
          <a:xfrm>
            <a:off x="16221061" y="3319790"/>
            <a:ext cx="1606163" cy="400110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/>
              <a:t>Pod3</a:t>
            </a:r>
            <a:endParaRPr lang="ko-KR" altLang="en-US" sz="2000" b="1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20B8559-F36E-6D92-955C-1BD9FADF9F43}"/>
              </a:ext>
            </a:extLst>
          </p:cNvPr>
          <p:cNvSpPr txBox="1"/>
          <p:nvPr/>
        </p:nvSpPr>
        <p:spPr>
          <a:xfrm>
            <a:off x="16221061" y="3731647"/>
            <a:ext cx="1606163" cy="338554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/>
              <a:t>Config-server</a:t>
            </a:r>
            <a:endParaRPr lang="ko-KR" altLang="en-US" sz="200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46DC2D2-4A0E-308E-39D1-A1A9719FF84E}"/>
              </a:ext>
            </a:extLst>
          </p:cNvPr>
          <p:cNvSpPr txBox="1"/>
          <p:nvPr/>
        </p:nvSpPr>
        <p:spPr>
          <a:xfrm>
            <a:off x="13893045" y="7590817"/>
            <a:ext cx="1606163" cy="400110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/>
              <a:t>Pod1</a:t>
            </a:r>
            <a:endParaRPr lang="ko-KR" altLang="en-US" sz="2000" b="1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C240ECE-B620-DB80-68D3-A23AFA19A8B0}"/>
              </a:ext>
            </a:extLst>
          </p:cNvPr>
          <p:cNvSpPr txBox="1"/>
          <p:nvPr/>
        </p:nvSpPr>
        <p:spPr>
          <a:xfrm>
            <a:off x="13893045" y="8002674"/>
            <a:ext cx="1606163" cy="338554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/>
              <a:t>Edge-server</a:t>
            </a:r>
            <a:endParaRPr lang="ko-KR" altLang="en-US" sz="200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2C6992C-E6D9-A98A-D02B-D08908F37472}"/>
              </a:ext>
            </a:extLst>
          </p:cNvPr>
          <p:cNvSpPr txBox="1"/>
          <p:nvPr/>
        </p:nvSpPr>
        <p:spPr>
          <a:xfrm>
            <a:off x="13899684" y="8511866"/>
            <a:ext cx="1606163" cy="400110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/>
              <a:t>Pod2</a:t>
            </a:r>
            <a:endParaRPr lang="ko-KR" altLang="en-US" sz="2000" b="1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973960D-EDFB-DF7D-9D27-2C4B69B3DB8D}"/>
              </a:ext>
            </a:extLst>
          </p:cNvPr>
          <p:cNvSpPr txBox="1"/>
          <p:nvPr/>
        </p:nvSpPr>
        <p:spPr>
          <a:xfrm>
            <a:off x="13899684" y="8923723"/>
            <a:ext cx="1606163" cy="338554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/>
              <a:t>Event-service</a:t>
            </a:r>
            <a:endParaRPr lang="ko-KR" altLang="en-US" sz="200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C70078A-223C-DBCD-6605-F71A1745A0C0}"/>
              </a:ext>
            </a:extLst>
          </p:cNvPr>
          <p:cNvSpPr txBox="1"/>
          <p:nvPr/>
        </p:nvSpPr>
        <p:spPr>
          <a:xfrm>
            <a:off x="13900347" y="4249105"/>
            <a:ext cx="1606163" cy="400110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/>
              <a:t>Pod2</a:t>
            </a:r>
            <a:endParaRPr lang="ko-KR" altLang="en-US" sz="2000" b="1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7B4E930-6749-B227-5CF2-8AE316A67A7D}"/>
              </a:ext>
            </a:extLst>
          </p:cNvPr>
          <p:cNvSpPr txBox="1"/>
          <p:nvPr/>
        </p:nvSpPr>
        <p:spPr>
          <a:xfrm>
            <a:off x="13900347" y="4660962"/>
            <a:ext cx="1606163" cy="338554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/>
              <a:t>User-service</a:t>
            </a:r>
            <a:endParaRPr lang="ko-KR" altLang="en-US" sz="200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355689A-27DB-FEB2-1046-0AB109A7DFB0}"/>
              </a:ext>
            </a:extLst>
          </p:cNvPr>
          <p:cNvSpPr txBox="1"/>
          <p:nvPr/>
        </p:nvSpPr>
        <p:spPr>
          <a:xfrm>
            <a:off x="12716388" y="5960673"/>
            <a:ext cx="2077113" cy="492443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b="1"/>
              <a:t>Worker</a:t>
            </a:r>
            <a:r>
              <a:rPr lang="en-US" altLang="ko-KR" sz="2600" b="1"/>
              <a:t> node2</a:t>
            </a:r>
            <a:endParaRPr lang="ko-KR" altLang="en-US" sz="2600" b="1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A2C6ECF-2DEA-5DEE-A4B1-320E8DD57CA8}"/>
              </a:ext>
            </a:extLst>
          </p:cNvPr>
          <p:cNvSpPr txBox="1"/>
          <p:nvPr/>
        </p:nvSpPr>
        <p:spPr>
          <a:xfrm>
            <a:off x="12716388" y="6434015"/>
            <a:ext cx="2077113" cy="461665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err="1"/>
              <a:t>Kubelet</a:t>
            </a:r>
            <a:endParaRPr lang="ko-KR" altLang="en-US" sz="240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968FB15-4CB6-6BE6-EE98-853CDAB33670}"/>
              </a:ext>
            </a:extLst>
          </p:cNvPr>
          <p:cNvSpPr txBox="1"/>
          <p:nvPr/>
        </p:nvSpPr>
        <p:spPr>
          <a:xfrm>
            <a:off x="12716388" y="6874726"/>
            <a:ext cx="2077113" cy="461665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err="1"/>
              <a:t>Kubelet</a:t>
            </a:r>
            <a:r>
              <a:rPr lang="en-US" altLang="ko-KR" sz="2400"/>
              <a:t>-proxy</a:t>
            </a:r>
            <a:endParaRPr lang="ko-KR" altLang="en-US" sz="240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4F39769-2BA1-4923-84B6-2AEB528E8FE0}"/>
              </a:ext>
            </a:extLst>
          </p:cNvPr>
          <p:cNvSpPr txBox="1"/>
          <p:nvPr/>
        </p:nvSpPr>
        <p:spPr>
          <a:xfrm>
            <a:off x="16221061" y="8506140"/>
            <a:ext cx="1606163" cy="400110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/>
              <a:t>Pod3</a:t>
            </a:r>
            <a:endParaRPr lang="ko-KR" altLang="en-US" sz="2000" b="1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9DE013E-8295-EFFA-80AA-C61521D8CA99}"/>
              </a:ext>
            </a:extLst>
          </p:cNvPr>
          <p:cNvSpPr txBox="1"/>
          <p:nvPr/>
        </p:nvSpPr>
        <p:spPr>
          <a:xfrm>
            <a:off x="16221061" y="8917997"/>
            <a:ext cx="1606163" cy="338554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/>
              <a:t>RabbitMQ</a:t>
            </a:r>
            <a:endParaRPr lang="ko-KR" altLang="en-US" sz="200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6CDFCD1-9E26-87F8-DB23-CF212EBC43E2}"/>
              </a:ext>
            </a:extLst>
          </p:cNvPr>
          <p:cNvSpPr txBox="1"/>
          <p:nvPr/>
        </p:nvSpPr>
        <p:spPr>
          <a:xfrm>
            <a:off x="16221061" y="4242651"/>
            <a:ext cx="1606163" cy="400110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/>
              <a:t>Pod4</a:t>
            </a:r>
            <a:endParaRPr lang="ko-KR" altLang="en-US" sz="2000" b="1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EB8E7C0-223F-FA37-97CC-939F4A57527F}"/>
              </a:ext>
            </a:extLst>
          </p:cNvPr>
          <p:cNvSpPr txBox="1"/>
          <p:nvPr/>
        </p:nvSpPr>
        <p:spPr>
          <a:xfrm>
            <a:off x="16221061" y="4654508"/>
            <a:ext cx="1606163" cy="338554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err="1"/>
              <a:t>MongDB</a:t>
            </a:r>
            <a:endParaRPr lang="ko-KR" altLang="en-US" sz="2000"/>
          </a:p>
        </p:txBody>
      </p:sp>
      <p:pic>
        <p:nvPicPr>
          <p:cNvPr id="43" name="그림 42" descr="상징, 그래픽, 폰트, 디자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23DCB833-3673-4E21-47DF-DBB8CCB56FB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1" t="22615" r="53730" b="21360"/>
          <a:stretch/>
        </p:blipFill>
        <p:spPr>
          <a:xfrm>
            <a:off x="11128114" y="1893540"/>
            <a:ext cx="1226397" cy="1522860"/>
          </a:xfrm>
          <a:prstGeom prst="rect">
            <a:avLst/>
          </a:prstGeom>
        </p:spPr>
      </p:pic>
      <p:sp>
        <p:nvSpPr>
          <p:cNvPr id="44" name="화살표: 오른쪽 43">
            <a:extLst>
              <a:ext uri="{FF2B5EF4-FFF2-40B4-BE49-F238E27FC236}">
                <a16:creationId xmlns:a16="http://schemas.microsoft.com/office/drawing/2014/main" id="{E3956A4D-5E18-6408-3286-D0662FDB94CC}"/>
              </a:ext>
            </a:extLst>
          </p:cNvPr>
          <p:cNvSpPr/>
          <p:nvPr/>
        </p:nvSpPr>
        <p:spPr>
          <a:xfrm rot="19659743">
            <a:off x="9351501" y="3781532"/>
            <a:ext cx="1545283" cy="424740"/>
          </a:xfrm>
          <a:prstGeom prst="right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5" name="그림 44" descr="상징, 그래픽, 폰트, 디자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A08B66B5-CE05-1E54-F5E9-C5F872F0FF0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50" t="22615" r="52133" b="21360"/>
          <a:stretch/>
        </p:blipFill>
        <p:spPr>
          <a:xfrm>
            <a:off x="11161783" y="6152073"/>
            <a:ext cx="1192728" cy="1522860"/>
          </a:xfrm>
          <a:prstGeom prst="rect">
            <a:avLst/>
          </a:prstGeom>
        </p:spPr>
      </p:pic>
      <p:sp>
        <p:nvSpPr>
          <p:cNvPr id="46" name="화살표: 오른쪽 45">
            <a:extLst>
              <a:ext uri="{FF2B5EF4-FFF2-40B4-BE49-F238E27FC236}">
                <a16:creationId xmlns:a16="http://schemas.microsoft.com/office/drawing/2014/main" id="{F38F7ED5-E562-F435-66A2-F3B9C2262939}"/>
              </a:ext>
            </a:extLst>
          </p:cNvPr>
          <p:cNvSpPr/>
          <p:nvPr/>
        </p:nvSpPr>
        <p:spPr>
          <a:xfrm rot="1838747">
            <a:off x="9374432" y="5400038"/>
            <a:ext cx="1545283" cy="424740"/>
          </a:xfrm>
          <a:prstGeom prst="right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7" name="Object 6">
            <a:extLst>
              <a:ext uri="{FF2B5EF4-FFF2-40B4-BE49-F238E27FC236}">
                <a16:creationId xmlns:a16="http://schemas.microsoft.com/office/drawing/2014/main" id="{198DD85F-F3BF-CE2C-5633-1CF145DD8E90}"/>
              </a:ext>
            </a:extLst>
          </p:cNvPr>
          <p:cNvSpPr txBox="1"/>
          <p:nvPr/>
        </p:nvSpPr>
        <p:spPr>
          <a:xfrm>
            <a:off x="8677482" y="6226315"/>
            <a:ext cx="2790586" cy="49244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sz="2600" b="1" err="1">
                <a:latin typeface="윤고딕" panose="020B0600000101010101" charset="-127"/>
                <a:ea typeface="윤고딕" panose="020B0600000101010101" charset="-127"/>
              </a:rPr>
              <a:t>RoadBalancing</a:t>
            </a:r>
            <a:endParaRPr lang="en-US" sz="2600" b="1">
              <a:latin typeface="윤고딕" panose="020B0600000101010101" charset="-127"/>
              <a:ea typeface="윤고딕" panose="020B0600000101010101" charset="-127"/>
            </a:endParaRPr>
          </a:p>
        </p:txBody>
      </p:sp>
      <p:sp>
        <p:nvSpPr>
          <p:cNvPr id="48" name="Object 6">
            <a:extLst>
              <a:ext uri="{FF2B5EF4-FFF2-40B4-BE49-F238E27FC236}">
                <a16:creationId xmlns:a16="http://schemas.microsoft.com/office/drawing/2014/main" id="{066CC7D6-4F1E-4EAB-7C9C-50918B2B7226}"/>
              </a:ext>
            </a:extLst>
          </p:cNvPr>
          <p:cNvSpPr txBox="1"/>
          <p:nvPr/>
        </p:nvSpPr>
        <p:spPr>
          <a:xfrm>
            <a:off x="10960969" y="3323511"/>
            <a:ext cx="2320133" cy="49244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sz="2600" b="1">
                <a:latin typeface="윤고딕" panose="020B0600000101010101" charset="-127"/>
                <a:ea typeface="윤고딕" panose="020B0600000101010101" charset="-127"/>
              </a:rPr>
              <a:t>Auto Scaling</a:t>
            </a:r>
          </a:p>
        </p:txBody>
      </p:sp>
      <p:sp>
        <p:nvSpPr>
          <p:cNvPr id="66" name="Object 6">
            <a:extLst>
              <a:ext uri="{FF2B5EF4-FFF2-40B4-BE49-F238E27FC236}">
                <a16:creationId xmlns:a16="http://schemas.microsoft.com/office/drawing/2014/main" id="{A447C977-8C83-D8E2-6518-1D258CB27110}"/>
              </a:ext>
            </a:extLst>
          </p:cNvPr>
          <p:cNvSpPr txBox="1"/>
          <p:nvPr/>
        </p:nvSpPr>
        <p:spPr>
          <a:xfrm>
            <a:off x="10960969" y="7527331"/>
            <a:ext cx="2320133" cy="49244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sz="2600" b="1">
                <a:latin typeface="윤고딕" panose="020B0600000101010101" charset="-127"/>
                <a:ea typeface="윤고딕" panose="020B0600000101010101" charset="-127"/>
              </a:rPr>
              <a:t>Auto Scaling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932EFA2C-5116-76B1-4210-2BB1A5D50681}"/>
              </a:ext>
            </a:extLst>
          </p:cNvPr>
          <p:cNvSpPr txBox="1"/>
          <p:nvPr/>
        </p:nvSpPr>
        <p:spPr>
          <a:xfrm>
            <a:off x="6666988" y="3532236"/>
            <a:ext cx="2077113" cy="461665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b="1"/>
              <a:t>Control Plane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DA54A84E-9986-C9DC-E5FF-A9169092757C}"/>
              </a:ext>
            </a:extLst>
          </p:cNvPr>
          <p:cNvSpPr txBox="1"/>
          <p:nvPr/>
        </p:nvSpPr>
        <p:spPr>
          <a:xfrm>
            <a:off x="6666988" y="3993901"/>
            <a:ext cx="2077113" cy="461665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/>
              <a:t>Scheduler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8A84E7B3-8D89-F19C-C0FC-8608ACA3D9DC}"/>
              </a:ext>
            </a:extLst>
          </p:cNvPr>
          <p:cNvSpPr txBox="1"/>
          <p:nvPr/>
        </p:nvSpPr>
        <p:spPr>
          <a:xfrm>
            <a:off x="6666988" y="4457223"/>
            <a:ext cx="2077113" cy="461665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/>
              <a:t>API Server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E55E5D62-C3E1-7476-746B-5056B9D3DF0A}"/>
              </a:ext>
            </a:extLst>
          </p:cNvPr>
          <p:cNvSpPr txBox="1"/>
          <p:nvPr/>
        </p:nvSpPr>
        <p:spPr>
          <a:xfrm>
            <a:off x="6666988" y="4917231"/>
            <a:ext cx="2077113" cy="461665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err="1"/>
              <a:t>Etcd</a:t>
            </a:r>
            <a:endParaRPr lang="en-US" altLang="ko-KR" sz="2400"/>
          </a:p>
        </p:txBody>
      </p:sp>
      <p:cxnSp>
        <p:nvCxnSpPr>
          <p:cNvPr id="72" name="직선 화살표 연결선 71">
            <a:extLst>
              <a:ext uri="{FF2B5EF4-FFF2-40B4-BE49-F238E27FC236}">
                <a16:creationId xmlns:a16="http://schemas.microsoft.com/office/drawing/2014/main" id="{1D680C6F-3EC2-41D9-BA14-3C7DE2FAB2F2}"/>
              </a:ext>
            </a:extLst>
          </p:cNvPr>
          <p:cNvCxnSpPr>
            <a:cxnSpLocks/>
          </p:cNvCxnSpPr>
          <p:nvPr/>
        </p:nvCxnSpPr>
        <p:spPr>
          <a:xfrm flipV="1">
            <a:off x="15623032" y="4604661"/>
            <a:ext cx="457200" cy="645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직선 화살표 연결선 72">
            <a:extLst>
              <a:ext uri="{FF2B5EF4-FFF2-40B4-BE49-F238E27FC236}">
                <a16:creationId xmlns:a16="http://schemas.microsoft.com/office/drawing/2014/main" id="{445DBF12-D1F5-78A7-FC9F-93CF0915E764}"/>
              </a:ext>
            </a:extLst>
          </p:cNvPr>
          <p:cNvCxnSpPr>
            <a:cxnSpLocks/>
          </p:cNvCxnSpPr>
          <p:nvPr/>
        </p:nvCxnSpPr>
        <p:spPr>
          <a:xfrm flipV="1">
            <a:off x="15623032" y="8873451"/>
            <a:ext cx="457200" cy="645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순서도: 연결자 73">
            <a:extLst>
              <a:ext uri="{FF2B5EF4-FFF2-40B4-BE49-F238E27FC236}">
                <a16:creationId xmlns:a16="http://schemas.microsoft.com/office/drawing/2014/main" id="{3292EE0F-D567-747C-4CDE-DBB4530220F9}"/>
              </a:ext>
            </a:extLst>
          </p:cNvPr>
          <p:cNvSpPr/>
          <p:nvPr/>
        </p:nvSpPr>
        <p:spPr>
          <a:xfrm>
            <a:off x="16405655" y="7927097"/>
            <a:ext cx="70238" cy="127659"/>
          </a:xfrm>
          <a:prstGeom prst="flowChartConnector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5" name="순서도: 연결자 74">
            <a:extLst>
              <a:ext uri="{FF2B5EF4-FFF2-40B4-BE49-F238E27FC236}">
                <a16:creationId xmlns:a16="http://schemas.microsoft.com/office/drawing/2014/main" id="{B0501DA8-9B77-2E5F-2C79-8E982252D825}"/>
              </a:ext>
            </a:extLst>
          </p:cNvPr>
          <p:cNvSpPr/>
          <p:nvPr/>
        </p:nvSpPr>
        <p:spPr>
          <a:xfrm>
            <a:off x="16881282" y="7934384"/>
            <a:ext cx="70238" cy="127659"/>
          </a:xfrm>
          <a:prstGeom prst="flowChartConnector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6" name="순서도: 연결자 75">
            <a:extLst>
              <a:ext uri="{FF2B5EF4-FFF2-40B4-BE49-F238E27FC236}">
                <a16:creationId xmlns:a16="http://schemas.microsoft.com/office/drawing/2014/main" id="{8F716938-C9BB-1EAE-FC1F-D17EFFCE1257}"/>
              </a:ext>
            </a:extLst>
          </p:cNvPr>
          <p:cNvSpPr/>
          <p:nvPr/>
        </p:nvSpPr>
        <p:spPr>
          <a:xfrm>
            <a:off x="17356909" y="7934384"/>
            <a:ext cx="70238" cy="127659"/>
          </a:xfrm>
          <a:prstGeom prst="flowChartConnector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77" name="직선 화살표 연결선 76">
            <a:extLst>
              <a:ext uri="{FF2B5EF4-FFF2-40B4-BE49-F238E27FC236}">
                <a16:creationId xmlns:a16="http://schemas.microsoft.com/office/drawing/2014/main" id="{0C787D09-3284-ECA6-185F-E6B23246024C}"/>
              </a:ext>
            </a:extLst>
          </p:cNvPr>
          <p:cNvCxnSpPr>
            <a:cxnSpLocks/>
          </p:cNvCxnSpPr>
          <p:nvPr/>
        </p:nvCxnSpPr>
        <p:spPr>
          <a:xfrm flipH="1">
            <a:off x="15600667" y="4768685"/>
            <a:ext cx="470715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직선 화살표 연결선 77">
            <a:extLst>
              <a:ext uri="{FF2B5EF4-FFF2-40B4-BE49-F238E27FC236}">
                <a16:creationId xmlns:a16="http://schemas.microsoft.com/office/drawing/2014/main" id="{5ED0269F-17B5-67C9-A940-AB74C8C68AB2}"/>
              </a:ext>
            </a:extLst>
          </p:cNvPr>
          <p:cNvCxnSpPr>
            <a:cxnSpLocks/>
          </p:cNvCxnSpPr>
          <p:nvPr/>
        </p:nvCxnSpPr>
        <p:spPr>
          <a:xfrm flipH="1">
            <a:off x="15585810" y="9029700"/>
            <a:ext cx="470715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5E5E22-2C9C-DDC6-8ADC-299E5919E9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9C1A00DE-E498-39E0-E000-5719DE95D64C}"/>
              </a:ext>
            </a:extLst>
          </p:cNvPr>
          <p:cNvGrpSpPr/>
          <p:nvPr/>
        </p:nvGrpSpPr>
        <p:grpSpPr>
          <a:xfrm>
            <a:off x="-290868" y="10008764"/>
            <a:ext cx="18869735" cy="120011"/>
            <a:chOff x="0" y="0"/>
            <a:chExt cx="4969807" cy="31608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C0AE8836-1FB7-6CC7-F983-554BFAA70F58}"/>
                </a:ext>
              </a:extLst>
            </p:cNvPr>
            <p:cNvSpPr/>
            <p:nvPr/>
          </p:nvSpPr>
          <p:spPr>
            <a:xfrm>
              <a:off x="0" y="0"/>
              <a:ext cx="4969807" cy="31608"/>
            </a:xfrm>
            <a:custGeom>
              <a:avLst/>
              <a:gdLst/>
              <a:ahLst/>
              <a:cxnLst/>
              <a:rect l="l" t="t" r="r" b="b"/>
              <a:pathLst>
                <a:path w="4969807" h="31608">
                  <a:moveTo>
                    <a:pt x="0" y="0"/>
                  </a:moveTo>
                  <a:lnTo>
                    <a:pt x="4969807" y="0"/>
                  </a:lnTo>
                  <a:lnTo>
                    <a:pt x="4969807" y="31608"/>
                  </a:lnTo>
                  <a:lnTo>
                    <a:pt x="0" y="31608"/>
                  </a:lnTo>
                  <a:close/>
                </a:path>
              </a:pathLst>
            </a:custGeom>
            <a:solidFill>
              <a:srgbClr val="191919"/>
            </a:solidFill>
            <a:ln w="19050" cap="sq">
              <a:solidFill>
                <a:srgbClr val="191919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2B35C5DD-9608-EF11-CB17-21B359F04237}"/>
                </a:ext>
              </a:extLst>
            </p:cNvPr>
            <p:cNvSpPr txBox="1"/>
            <p:nvPr/>
          </p:nvSpPr>
          <p:spPr>
            <a:xfrm>
              <a:off x="0" y="-47625"/>
              <a:ext cx="4969807" cy="792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AutoShape 5">
            <a:extLst>
              <a:ext uri="{FF2B5EF4-FFF2-40B4-BE49-F238E27FC236}">
                <a16:creationId xmlns:a16="http://schemas.microsoft.com/office/drawing/2014/main" id="{63B450F0-8965-A323-97FC-A293E0F835BF}"/>
              </a:ext>
            </a:extLst>
          </p:cNvPr>
          <p:cNvSpPr/>
          <p:nvPr/>
        </p:nvSpPr>
        <p:spPr>
          <a:xfrm>
            <a:off x="0" y="828675"/>
            <a:ext cx="3276389" cy="0"/>
          </a:xfrm>
          <a:prstGeom prst="line">
            <a:avLst/>
          </a:prstGeom>
          <a:ln w="38100" cap="flat">
            <a:solidFill>
              <a:srgbClr val="19191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DF9F2BA6-26AB-23A0-0495-5A8F87D47ACC}"/>
              </a:ext>
            </a:extLst>
          </p:cNvPr>
          <p:cNvSpPr txBox="1"/>
          <p:nvPr/>
        </p:nvSpPr>
        <p:spPr>
          <a:xfrm>
            <a:off x="21077" y="944123"/>
            <a:ext cx="5105400" cy="17640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6589"/>
              </a:lnSpc>
              <a:spcBef>
                <a:spcPct val="0"/>
              </a:spcBef>
            </a:pPr>
            <a:r>
              <a:rPr lang="en-US" altLang="ko-KR" sz="4800" b="1" spc="-65">
                <a:solidFill>
                  <a:srgbClr val="191919"/>
                </a:solidFill>
                <a:latin typeface="윤고딕"/>
                <a:ea typeface="윤고딕"/>
                <a:cs typeface="윤고딕"/>
                <a:sym typeface="윤고딕"/>
              </a:rPr>
              <a:t>3.4</a:t>
            </a:r>
            <a:r>
              <a:rPr lang="ko-KR" altLang="en-US" sz="4800" b="1" spc="-65">
                <a:solidFill>
                  <a:srgbClr val="191919"/>
                </a:solidFill>
                <a:latin typeface="윤고딕"/>
                <a:ea typeface="윤고딕"/>
                <a:cs typeface="윤고딕"/>
                <a:sym typeface="윤고딕"/>
              </a:rPr>
              <a:t> 오토 스케일링</a:t>
            </a:r>
            <a:endParaRPr lang="en-US" altLang="ko-KR" sz="4800" b="1" spc="-65">
              <a:solidFill>
                <a:srgbClr val="191919"/>
              </a:solidFill>
              <a:latin typeface="윤고딕"/>
              <a:ea typeface="윤고딕"/>
              <a:cs typeface="윤고딕"/>
              <a:sym typeface="윤고딕"/>
            </a:endParaRPr>
          </a:p>
          <a:p>
            <a:pPr>
              <a:lnSpc>
                <a:spcPts val="6589"/>
              </a:lnSpc>
              <a:spcBef>
                <a:spcPct val="0"/>
              </a:spcBef>
            </a:pPr>
            <a:r>
              <a:rPr lang="en-US" altLang="ko-KR" sz="4800" b="1" spc="-65">
                <a:solidFill>
                  <a:srgbClr val="191919"/>
                </a:solidFill>
                <a:latin typeface="윤고딕"/>
                <a:ea typeface="윤고딕"/>
                <a:cs typeface="윤고딕"/>
                <a:sym typeface="윤고딕"/>
              </a:rPr>
              <a:t>HPA</a:t>
            </a:r>
            <a:r>
              <a:rPr lang="ko-KR" altLang="en-US" sz="4800" b="1" spc="-65">
                <a:solidFill>
                  <a:srgbClr val="191919"/>
                </a:solidFill>
                <a:latin typeface="윤고딕"/>
                <a:ea typeface="윤고딕"/>
                <a:cs typeface="윤고딕"/>
                <a:sym typeface="윤고딕"/>
              </a:rPr>
              <a:t> </a:t>
            </a:r>
            <a:r>
              <a:rPr lang="en-US" altLang="ko-KR" sz="4800" b="1" spc="-65">
                <a:solidFill>
                  <a:srgbClr val="191919"/>
                </a:solidFill>
                <a:latin typeface="윤고딕"/>
                <a:ea typeface="윤고딕"/>
                <a:cs typeface="윤고딕"/>
                <a:sym typeface="윤고딕"/>
              </a:rPr>
              <a:t>&amp;</a:t>
            </a:r>
            <a:r>
              <a:rPr lang="ko-KR" altLang="en-US" sz="4800" b="1" spc="-65">
                <a:solidFill>
                  <a:srgbClr val="191919"/>
                </a:solidFill>
                <a:latin typeface="윤고딕"/>
                <a:ea typeface="윤고딕"/>
                <a:cs typeface="윤고딕"/>
                <a:sym typeface="윤고딕"/>
              </a:rPr>
              <a:t> </a:t>
            </a:r>
            <a:r>
              <a:rPr lang="en-US" altLang="ko-KR" sz="4800" b="1" spc="-65">
                <a:solidFill>
                  <a:srgbClr val="191919"/>
                </a:solidFill>
                <a:latin typeface="윤고딕"/>
                <a:ea typeface="윤고딕"/>
                <a:cs typeface="윤고딕"/>
                <a:sym typeface="윤고딕"/>
              </a:rPr>
              <a:t>KEDA</a:t>
            </a:r>
          </a:p>
          <a:p>
            <a:pPr algn="r">
              <a:lnSpc>
                <a:spcPts val="6589"/>
              </a:lnSpc>
              <a:spcBef>
                <a:spcPct val="0"/>
              </a:spcBef>
            </a:pPr>
            <a:endParaRPr lang="en-US" sz="4800" spc="-65">
              <a:solidFill>
                <a:srgbClr val="191919"/>
              </a:solidFill>
              <a:latin typeface="윤고딕"/>
              <a:ea typeface="윤고딕"/>
              <a:cs typeface="윤고딕"/>
              <a:sym typeface="윤고딕"/>
            </a:endParaRPr>
          </a:p>
        </p:txBody>
      </p:sp>
      <p:pic>
        <p:nvPicPr>
          <p:cNvPr id="6" name="그림 5" descr="텍스트, 스크린샷, 도표, 폰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7AA1EEED-A0D8-476C-92DE-D4182AFD9FF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51" r="8642" b="7020"/>
          <a:stretch/>
        </p:blipFill>
        <p:spPr>
          <a:xfrm>
            <a:off x="9220200" y="3982932"/>
            <a:ext cx="8102011" cy="5522645"/>
          </a:xfrm>
          <a:prstGeom prst="rect">
            <a:avLst/>
          </a:prstGeom>
        </p:spPr>
      </p:pic>
      <p:pic>
        <p:nvPicPr>
          <p:cNvPr id="10" name="그래픽 9">
            <a:extLst>
              <a:ext uri="{FF2B5EF4-FFF2-40B4-BE49-F238E27FC236}">
                <a16:creationId xmlns:a16="http://schemas.microsoft.com/office/drawing/2014/main" id="{DB7EFF82-ED16-D7E4-729A-B6924C9048F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80999" y="4229100"/>
            <a:ext cx="7696969" cy="5113777"/>
          </a:xfrm>
          <a:prstGeom prst="rect">
            <a:avLst/>
          </a:prstGeom>
        </p:spPr>
      </p:pic>
      <p:sp>
        <p:nvSpPr>
          <p:cNvPr id="12" name="Object 6">
            <a:extLst>
              <a:ext uri="{FF2B5EF4-FFF2-40B4-BE49-F238E27FC236}">
                <a16:creationId xmlns:a16="http://schemas.microsoft.com/office/drawing/2014/main" id="{4190CD23-86EA-5848-A218-BB4E11BA589F}"/>
              </a:ext>
            </a:extLst>
          </p:cNvPr>
          <p:cNvSpPr txBox="1"/>
          <p:nvPr/>
        </p:nvSpPr>
        <p:spPr>
          <a:xfrm>
            <a:off x="9143999" y="2706463"/>
            <a:ext cx="8534402" cy="95410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2800" b="1">
                <a:latin typeface="윤고딕" panose="020B0600000101010101" charset="-127"/>
                <a:ea typeface="윤고딕" panose="020B0600000101010101" charset="-127"/>
              </a:rPr>
              <a:t>KEDA(Kubernetes Event-Driven Autoscaling)</a:t>
            </a:r>
          </a:p>
          <a:p>
            <a:r>
              <a:rPr lang="ko-KR" altLang="en-US" sz="2800" b="1">
                <a:latin typeface="윤고딕" panose="020B0600000101010101" charset="-127"/>
                <a:ea typeface="윤고딕" panose="020B0600000101010101" charset="-127"/>
              </a:rPr>
              <a:t>이벤트 </a:t>
            </a:r>
            <a:r>
              <a:rPr lang="ko-KR" altLang="en-US" sz="2800" b="1">
                <a:solidFill>
                  <a:srgbClr val="0070C0"/>
                </a:solidFill>
                <a:latin typeface="윤고딕" panose="020B0600000101010101" charset="-127"/>
                <a:ea typeface="윤고딕" panose="020B0600000101010101" charset="-127"/>
              </a:rPr>
              <a:t>메시지 큐 </a:t>
            </a:r>
            <a:r>
              <a:rPr lang="ko-KR" altLang="en-US" sz="2800" b="1">
                <a:latin typeface="윤고딕" panose="020B0600000101010101" charset="-127"/>
                <a:ea typeface="윤고딕" panose="020B0600000101010101" charset="-127"/>
              </a:rPr>
              <a:t>길이를 기반으로 </a:t>
            </a:r>
            <a:r>
              <a:rPr lang="ko-KR" altLang="en-US" sz="2800" b="1" err="1">
                <a:latin typeface="윤고딕" panose="020B0600000101010101" charset="-127"/>
                <a:ea typeface="윤고딕" panose="020B0600000101010101" charset="-127"/>
              </a:rPr>
              <a:t>파드</a:t>
            </a:r>
            <a:r>
              <a:rPr lang="ko-KR" altLang="en-US" sz="2800" b="1">
                <a:latin typeface="윤고딕" panose="020B0600000101010101" charset="-127"/>
                <a:ea typeface="윤고딕" panose="020B0600000101010101" charset="-127"/>
              </a:rPr>
              <a:t> 수를 자동 확장</a:t>
            </a:r>
            <a:endParaRPr lang="en-US" sz="2800" b="1">
              <a:latin typeface="윤고딕" panose="020B0600000101010101" charset="-127"/>
              <a:ea typeface="윤고딕" panose="020B0600000101010101" charset="-127"/>
            </a:endParaRPr>
          </a:p>
        </p:txBody>
      </p:sp>
      <p:sp>
        <p:nvSpPr>
          <p:cNvPr id="13" name="Object 6">
            <a:extLst>
              <a:ext uri="{FF2B5EF4-FFF2-40B4-BE49-F238E27FC236}">
                <a16:creationId xmlns:a16="http://schemas.microsoft.com/office/drawing/2014/main" id="{25322CD3-59D2-AEC0-10F9-5EDD4503D25F}"/>
              </a:ext>
            </a:extLst>
          </p:cNvPr>
          <p:cNvSpPr txBox="1"/>
          <p:nvPr/>
        </p:nvSpPr>
        <p:spPr>
          <a:xfrm>
            <a:off x="152400" y="2692934"/>
            <a:ext cx="8458200" cy="95410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2800" b="1">
                <a:latin typeface="윤고딕" panose="020B0600000101010101" charset="-127"/>
                <a:ea typeface="윤고딕" panose="020B0600000101010101" charset="-127"/>
              </a:rPr>
              <a:t>HPA(Horizontal Pod </a:t>
            </a:r>
            <a:r>
              <a:rPr lang="en-US" sz="2800" b="1" err="1">
                <a:latin typeface="윤고딕" panose="020B0600000101010101" charset="-127"/>
                <a:ea typeface="윤고딕" panose="020B0600000101010101" charset="-127"/>
              </a:rPr>
              <a:t>Autoscaler</a:t>
            </a:r>
            <a:r>
              <a:rPr lang="en-US" sz="2800" b="1">
                <a:latin typeface="윤고딕" panose="020B0600000101010101" charset="-127"/>
                <a:ea typeface="윤고딕" panose="020B0600000101010101" charset="-127"/>
              </a:rPr>
              <a:t>)</a:t>
            </a:r>
          </a:p>
          <a:p>
            <a:r>
              <a:rPr lang="en-US" sz="2800" b="1">
                <a:solidFill>
                  <a:srgbClr val="0070C0"/>
                </a:solidFill>
                <a:latin typeface="윤고딕" panose="020B0600000101010101" charset="-127"/>
                <a:ea typeface="윤고딕" panose="020B0600000101010101" charset="-127"/>
              </a:rPr>
              <a:t>CPU </a:t>
            </a:r>
            <a:r>
              <a:rPr lang="ko-KR" altLang="en-US" sz="2800" b="1">
                <a:solidFill>
                  <a:srgbClr val="0070C0"/>
                </a:solidFill>
                <a:latin typeface="윤고딕" panose="020B0600000101010101" charset="-127"/>
                <a:ea typeface="윤고딕" panose="020B0600000101010101" charset="-127"/>
              </a:rPr>
              <a:t>사용률</a:t>
            </a:r>
            <a:r>
              <a:rPr lang="ko-KR" altLang="en-US" sz="2800" b="1">
                <a:latin typeface="윤고딕" panose="020B0600000101010101" charset="-127"/>
                <a:ea typeface="윤고딕" panose="020B0600000101010101" charset="-127"/>
              </a:rPr>
              <a:t>에 따라 </a:t>
            </a:r>
            <a:r>
              <a:rPr lang="ko-KR" altLang="en-US" sz="2800" b="1" err="1">
                <a:latin typeface="윤고딕" panose="020B0600000101010101" charset="-127"/>
                <a:ea typeface="윤고딕" panose="020B0600000101010101" charset="-127"/>
              </a:rPr>
              <a:t>파드를</a:t>
            </a:r>
            <a:r>
              <a:rPr lang="ko-KR" altLang="en-US" sz="2800" b="1">
                <a:latin typeface="윤고딕" panose="020B0600000101010101" charset="-127"/>
                <a:ea typeface="윤고딕" panose="020B0600000101010101" charset="-127"/>
              </a:rPr>
              <a:t> 자동을 확장 시켜주는 기능</a:t>
            </a:r>
            <a:endParaRPr lang="en-US" sz="2800" b="1">
              <a:latin typeface="윤고딕" panose="020B0600000101010101" charset="-127"/>
              <a:ea typeface="윤고딕" panose="020B0600000101010101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893386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92186C-43B3-896A-B681-0085BE9EC6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AF5F76C1-403E-4A13-08E8-16A0FC5D8074}"/>
              </a:ext>
            </a:extLst>
          </p:cNvPr>
          <p:cNvGrpSpPr/>
          <p:nvPr/>
        </p:nvGrpSpPr>
        <p:grpSpPr>
          <a:xfrm>
            <a:off x="-290868" y="10008764"/>
            <a:ext cx="18869735" cy="120011"/>
            <a:chOff x="0" y="0"/>
            <a:chExt cx="4969807" cy="31608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CF67D78D-158C-2016-82D6-4CF634351333}"/>
                </a:ext>
              </a:extLst>
            </p:cNvPr>
            <p:cNvSpPr/>
            <p:nvPr/>
          </p:nvSpPr>
          <p:spPr>
            <a:xfrm>
              <a:off x="0" y="0"/>
              <a:ext cx="4969807" cy="31608"/>
            </a:xfrm>
            <a:custGeom>
              <a:avLst/>
              <a:gdLst/>
              <a:ahLst/>
              <a:cxnLst/>
              <a:rect l="l" t="t" r="r" b="b"/>
              <a:pathLst>
                <a:path w="4969807" h="31608">
                  <a:moveTo>
                    <a:pt x="0" y="0"/>
                  </a:moveTo>
                  <a:lnTo>
                    <a:pt x="4969807" y="0"/>
                  </a:lnTo>
                  <a:lnTo>
                    <a:pt x="4969807" y="31608"/>
                  </a:lnTo>
                  <a:lnTo>
                    <a:pt x="0" y="31608"/>
                  </a:lnTo>
                  <a:close/>
                </a:path>
              </a:pathLst>
            </a:custGeom>
            <a:solidFill>
              <a:srgbClr val="191919"/>
            </a:solidFill>
            <a:ln w="19050" cap="sq">
              <a:solidFill>
                <a:srgbClr val="191919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E7EBD04F-5208-94D1-BC32-388C0F545E9F}"/>
                </a:ext>
              </a:extLst>
            </p:cNvPr>
            <p:cNvSpPr txBox="1"/>
            <p:nvPr/>
          </p:nvSpPr>
          <p:spPr>
            <a:xfrm>
              <a:off x="0" y="-47625"/>
              <a:ext cx="4969807" cy="792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AutoShape 5">
            <a:extLst>
              <a:ext uri="{FF2B5EF4-FFF2-40B4-BE49-F238E27FC236}">
                <a16:creationId xmlns:a16="http://schemas.microsoft.com/office/drawing/2014/main" id="{1F9DC1F9-992A-AC90-C6F3-E48103A7C62E}"/>
              </a:ext>
            </a:extLst>
          </p:cNvPr>
          <p:cNvSpPr/>
          <p:nvPr/>
        </p:nvSpPr>
        <p:spPr>
          <a:xfrm>
            <a:off x="0" y="828675"/>
            <a:ext cx="3276389" cy="0"/>
          </a:xfrm>
          <a:prstGeom prst="line">
            <a:avLst/>
          </a:prstGeom>
          <a:ln w="38100" cap="flat">
            <a:solidFill>
              <a:srgbClr val="19191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075F2AFE-EBD3-0772-F2C9-B951562E8339}"/>
              </a:ext>
            </a:extLst>
          </p:cNvPr>
          <p:cNvSpPr txBox="1"/>
          <p:nvPr/>
        </p:nvSpPr>
        <p:spPr>
          <a:xfrm>
            <a:off x="0" y="944124"/>
            <a:ext cx="5105400" cy="77931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6589"/>
              </a:lnSpc>
              <a:spcBef>
                <a:spcPct val="0"/>
              </a:spcBef>
            </a:pPr>
            <a:r>
              <a:rPr lang="en-US" altLang="ko-KR" sz="4800" b="1" spc="-65">
                <a:solidFill>
                  <a:srgbClr val="191919"/>
                </a:solidFill>
                <a:latin typeface="윤고딕"/>
                <a:ea typeface="윤고딕"/>
                <a:cs typeface="윤고딕"/>
                <a:sym typeface="윤고딕"/>
              </a:rPr>
              <a:t>4. </a:t>
            </a:r>
            <a:r>
              <a:rPr lang="ko-KR" altLang="en-US" sz="4800" b="1" spc="-65">
                <a:solidFill>
                  <a:srgbClr val="191919"/>
                </a:solidFill>
                <a:latin typeface="윤고딕"/>
                <a:ea typeface="윤고딕"/>
                <a:cs typeface="윤고딕"/>
                <a:sym typeface="윤고딕"/>
              </a:rPr>
              <a:t>인프라 및 테스트</a:t>
            </a:r>
            <a:endParaRPr lang="en-US" altLang="ko-KR" sz="4800" b="1" spc="-65">
              <a:solidFill>
                <a:srgbClr val="191919"/>
              </a:solidFill>
              <a:latin typeface="윤고딕"/>
              <a:ea typeface="윤고딕"/>
              <a:cs typeface="윤고딕"/>
              <a:sym typeface="윤고딕"/>
            </a:endParaRP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A5069426-D9DC-F0D6-2D2C-84680268D87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1362569"/>
              </p:ext>
            </p:extLst>
          </p:nvPr>
        </p:nvGraphicFramePr>
        <p:xfrm>
          <a:off x="457200" y="2984570"/>
          <a:ext cx="9296399" cy="519380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422351668"/>
                    </a:ext>
                  </a:extLst>
                </a:gridCol>
                <a:gridCol w="2763128">
                  <a:extLst>
                    <a:ext uri="{9D8B030D-6E8A-4147-A177-3AD203B41FA5}">
                      <a16:colId xmlns:a16="http://schemas.microsoft.com/office/drawing/2014/main" val="1335915219"/>
                    </a:ext>
                  </a:extLst>
                </a:gridCol>
                <a:gridCol w="3790071">
                  <a:extLst>
                    <a:ext uri="{9D8B030D-6E8A-4147-A177-3AD203B41FA5}">
                      <a16:colId xmlns:a16="http://schemas.microsoft.com/office/drawing/2014/main" val="4062001538"/>
                    </a:ext>
                  </a:extLst>
                </a:gridCol>
              </a:tblGrid>
              <a:tr h="825992">
                <a:tc>
                  <a:txBody>
                    <a:bodyPr/>
                    <a:lstStyle/>
                    <a:p>
                      <a:pPr algn="ctr" latinLnBrk="0">
                        <a:lnSpc>
                          <a:spcPct val="2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>
                          <a:effectLst/>
                        </a:rPr>
                        <a:t>Tech Stack</a:t>
                      </a:r>
                      <a:endParaRPr lang="ko-KR" sz="20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2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>
                          <a:effectLst/>
                        </a:rPr>
                        <a:t>Version</a:t>
                      </a:r>
                      <a:endParaRPr lang="ko-KR" sz="20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2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>
                          <a:effectLst/>
                        </a:rPr>
                        <a:t>Etc</a:t>
                      </a:r>
                      <a:endParaRPr lang="ko-KR" sz="20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089269929"/>
                  </a:ext>
                </a:extLst>
              </a:tr>
              <a:tr h="698008">
                <a:tc>
                  <a:txBody>
                    <a:bodyPr/>
                    <a:lstStyle/>
                    <a:p>
                      <a:pPr algn="ctr" latinLnBrk="0">
                        <a:lnSpc>
                          <a:spcPct val="2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>
                          <a:effectLst/>
                        </a:rPr>
                        <a:t>Spring Boot</a:t>
                      </a:r>
                      <a:endParaRPr lang="ko-KR" sz="20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2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>
                          <a:effectLst/>
                        </a:rPr>
                        <a:t>3.2.4</a:t>
                      </a:r>
                      <a:endParaRPr lang="ko-KR" sz="20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2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ko-KR" sz="2000" kern="100">
                          <a:effectLst/>
                        </a:rPr>
                        <a:t>서비스 프레임워크</a:t>
                      </a:r>
                      <a:endParaRPr lang="ko-KR" sz="20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89393998"/>
                  </a:ext>
                </a:extLst>
              </a:tr>
              <a:tr h="641351">
                <a:tc>
                  <a:txBody>
                    <a:bodyPr/>
                    <a:lstStyle/>
                    <a:p>
                      <a:pPr algn="ctr" latinLnBrk="0">
                        <a:lnSpc>
                          <a:spcPct val="2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>
                          <a:effectLst/>
                        </a:rPr>
                        <a:t>Spring Cloud</a:t>
                      </a:r>
                      <a:endParaRPr lang="ko-KR" sz="20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2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>
                          <a:effectLst/>
                        </a:rPr>
                        <a:t>2023.0.1</a:t>
                      </a:r>
                      <a:endParaRPr lang="ko-KR" sz="20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2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ko-KR" sz="2000" kern="100">
                          <a:effectLst/>
                        </a:rPr>
                        <a:t>애플리케이션 프레임워크</a:t>
                      </a:r>
                      <a:endParaRPr lang="ko-KR" sz="20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203465566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algn="ctr" latinLnBrk="0">
                        <a:lnSpc>
                          <a:spcPct val="2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>
                          <a:effectLst/>
                        </a:rPr>
                        <a:t>MongoDB</a:t>
                      </a:r>
                      <a:endParaRPr lang="ko-KR" sz="20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2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>
                          <a:effectLst/>
                        </a:rPr>
                        <a:t>7.0</a:t>
                      </a:r>
                      <a:endParaRPr lang="ko-KR" sz="20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2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ko-KR" sz="2000" kern="100">
                          <a:effectLst/>
                        </a:rPr>
                        <a:t>정보 저장 데이터베이스</a:t>
                      </a:r>
                      <a:endParaRPr lang="ko-KR" sz="20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842557673"/>
                  </a:ext>
                </a:extLst>
              </a:tr>
              <a:tr h="590057">
                <a:tc>
                  <a:txBody>
                    <a:bodyPr/>
                    <a:lstStyle/>
                    <a:p>
                      <a:pPr algn="ctr" latinLnBrk="0">
                        <a:lnSpc>
                          <a:spcPct val="2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>
                          <a:effectLst/>
                        </a:rPr>
                        <a:t>RabbitMQ</a:t>
                      </a:r>
                      <a:endParaRPr lang="ko-KR" sz="20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2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>
                          <a:effectLst/>
                        </a:rPr>
                        <a:t>3.12</a:t>
                      </a:r>
                      <a:endParaRPr lang="ko-KR" sz="20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2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ko-KR" sz="2000" kern="100">
                          <a:effectLst/>
                        </a:rPr>
                        <a:t>이벤트 메시지 큐</a:t>
                      </a:r>
                      <a:endParaRPr lang="ko-KR" sz="20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659228998"/>
                  </a:ext>
                </a:extLst>
              </a:tr>
              <a:tr h="590057">
                <a:tc>
                  <a:txBody>
                    <a:bodyPr/>
                    <a:lstStyle/>
                    <a:p>
                      <a:pPr algn="ctr" latinLnBrk="0">
                        <a:lnSpc>
                          <a:spcPct val="2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>
                          <a:effectLst/>
                        </a:rPr>
                        <a:t>Maven</a:t>
                      </a:r>
                      <a:endParaRPr lang="ko-KR" sz="20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2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>
                          <a:effectLst/>
                        </a:rPr>
                        <a:t>Apache Maven 3.6.3</a:t>
                      </a:r>
                      <a:endParaRPr lang="ko-KR" sz="20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2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ko-KR" sz="2000" kern="100">
                          <a:effectLst/>
                        </a:rPr>
                        <a:t>프로젝트 빌드</a:t>
                      </a:r>
                      <a:endParaRPr lang="ko-KR" sz="20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801842942"/>
                  </a:ext>
                </a:extLst>
              </a:tr>
              <a:tr h="648686">
                <a:tc>
                  <a:txBody>
                    <a:bodyPr/>
                    <a:lstStyle/>
                    <a:p>
                      <a:pPr algn="ctr" latinLnBrk="0">
                        <a:lnSpc>
                          <a:spcPct val="2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>
                          <a:effectLst/>
                        </a:rPr>
                        <a:t>Kubernetes</a:t>
                      </a:r>
                      <a:endParaRPr lang="ko-KR" sz="20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2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>
                          <a:effectLst/>
                        </a:rPr>
                        <a:t>Kubeadm / v1.28.15</a:t>
                      </a:r>
                      <a:endParaRPr lang="ko-KR" sz="20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2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ko-KR" sz="2000" kern="100">
                          <a:effectLst/>
                        </a:rPr>
                        <a:t>클러스터 오케스트레이션</a:t>
                      </a:r>
                      <a:endParaRPr lang="ko-KR" sz="20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83769818"/>
                  </a:ext>
                </a:extLst>
              </a:tr>
              <a:tr h="590057">
                <a:tc>
                  <a:txBody>
                    <a:bodyPr/>
                    <a:lstStyle/>
                    <a:p>
                      <a:pPr algn="ctr" latinLnBrk="0">
                        <a:lnSpc>
                          <a:spcPct val="2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>
                          <a:effectLst/>
                        </a:rPr>
                        <a:t>Linux</a:t>
                      </a:r>
                      <a:endParaRPr lang="ko-KR" sz="20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2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>
                          <a:effectLst/>
                        </a:rPr>
                        <a:t>Ubuntu 22.04 LTS</a:t>
                      </a:r>
                      <a:endParaRPr lang="ko-KR" sz="20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2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ko-KR" sz="2000" kern="100">
                          <a:effectLst/>
                        </a:rPr>
                        <a:t>운영체제</a:t>
                      </a:r>
                      <a:endParaRPr lang="ko-KR" sz="20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184887497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3009C889-34E4-8509-5A10-706484ED9FED}"/>
              </a:ext>
            </a:extLst>
          </p:cNvPr>
          <p:cNvSpPr txBox="1"/>
          <p:nvPr/>
        </p:nvSpPr>
        <p:spPr>
          <a:xfrm>
            <a:off x="3810000" y="2226235"/>
            <a:ext cx="2743200" cy="646331"/>
          </a:xfrm>
          <a:prstGeom prst="rect">
            <a:avLst/>
          </a:prstGeom>
          <a:noFill/>
          <a:ln w="28575">
            <a:solidFill>
              <a:schemeClr val="accent1">
                <a:lumMod val="60000"/>
                <a:lumOff val="4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3600" b="1"/>
              <a:t>개발 인프라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61AC836-FBA9-7A40-6075-CE3C31FFC8C7}"/>
              </a:ext>
            </a:extLst>
          </p:cNvPr>
          <p:cNvSpPr txBox="1"/>
          <p:nvPr/>
        </p:nvSpPr>
        <p:spPr>
          <a:xfrm>
            <a:off x="13175444" y="1427110"/>
            <a:ext cx="2743200" cy="646331"/>
          </a:xfrm>
          <a:prstGeom prst="rect">
            <a:avLst/>
          </a:prstGeom>
          <a:noFill/>
          <a:ln w="28575">
            <a:solidFill>
              <a:schemeClr val="accent1">
                <a:lumMod val="60000"/>
                <a:lumOff val="4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3600" b="1"/>
              <a:t>테스트 결과</a:t>
            </a: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B2ACCDFB-EC00-857C-9CCD-9D85748A120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79" t="319" r="1534" b="1009"/>
          <a:stretch/>
        </p:blipFill>
        <p:spPr bwMode="auto">
          <a:xfrm>
            <a:off x="10896600" y="2319563"/>
            <a:ext cx="6850844" cy="6019800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287139635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07493F-293D-389A-BAD9-651CC3896B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003C54EE-45E9-3B4F-CFA2-F53DFC2BDFF0}"/>
              </a:ext>
            </a:extLst>
          </p:cNvPr>
          <p:cNvGrpSpPr/>
          <p:nvPr/>
        </p:nvGrpSpPr>
        <p:grpSpPr>
          <a:xfrm>
            <a:off x="-290868" y="10008764"/>
            <a:ext cx="18869735" cy="120011"/>
            <a:chOff x="0" y="0"/>
            <a:chExt cx="4969807" cy="31608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F38A0669-3114-3549-BFC2-D2E6EA4BC0D3}"/>
                </a:ext>
              </a:extLst>
            </p:cNvPr>
            <p:cNvSpPr/>
            <p:nvPr/>
          </p:nvSpPr>
          <p:spPr>
            <a:xfrm>
              <a:off x="0" y="0"/>
              <a:ext cx="4969807" cy="31608"/>
            </a:xfrm>
            <a:custGeom>
              <a:avLst/>
              <a:gdLst/>
              <a:ahLst/>
              <a:cxnLst/>
              <a:rect l="l" t="t" r="r" b="b"/>
              <a:pathLst>
                <a:path w="4969807" h="31608">
                  <a:moveTo>
                    <a:pt x="0" y="0"/>
                  </a:moveTo>
                  <a:lnTo>
                    <a:pt x="4969807" y="0"/>
                  </a:lnTo>
                  <a:lnTo>
                    <a:pt x="4969807" y="31608"/>
                  </a:lnTo>
                  <a:lnTo>
                    <a:pt x="0" y="31608"/>
                  </a:lnTo>
                  <a:close/>
                </a:path>
              </a:pathLst>
            </a:custGeom>
            <a:solidFill>
              <a:srgbClr val="191919"/>
            </a:solidFill>
            <a:ln w="19050" cap="sq">
              <a:solidFill>
                <a:srgbClr val="191919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6AB7649F-13F2-F1AD-4D67-554A659ABFE8}"/>
                </a:ext>
              </a:extLst>
            </p:cNvPr>
            <p:cNvSpPr txBox="1"/>
            <p:nvPr/>
          </p:nvSpPr>
          <p:spPr>
            <a:xfrm>
              <a:off x="0" y="-47625"/>
              <a:ext cx="4969807" cy="792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AutoShape 5">
            <a:extLst>
              <a:ext uri="{FF2B5EF4-FFF2-40B4-BE49-F238E27FC236}">
                <a16:creationId xmlns:a16="http://schemas.microsoft.com/office/drawing/2014/main" id="{2FC81148-6504-AD9E-C01A-B58E420384CE}"/>
              </a:ext>
            </a:extLst>
          </p:cNvPr>
          <p:cNvSpPr/>
          <p:nvPr/>
        </p:nvSpPr>
        <p:spPr>
          <a:xfrm>
            <a:off x="0" y="828675"/>
            <a:ext cx="3276389" cy="0"/>
          </a:xfrm>
          <a:prstGeom prst="line">
            <a:avLst/>
          </a:prstGeom>
          <a:ln w="38100" cap="flat">
            <a:solidFill>
              <a:srgbClr val="19191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C687E2C2-2F8C-48BD-1471-F60F1B9C5E1E}"/>
              </a:ext>
            </a:extLst>
          </p:cNvPr>
          <p:cNvSpPr txBox="1"/>
          <p:nvPr/>
        </p:nvSpPr>
        <p:spPr>
          <a:xfrm>
            <a:off x="0" y="944124"/>
            <a:ext cx="5105400" cy="77931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6589"/>
              </a:lnSpc>
              <a:spcBef>
                <a:spcPct val="0"/>
              </a:spcBef>
            </a:pPr>
            <a:r>
              <a:rPr lang="en-US" altLang="ko-KR" sz="4800" b="1" spc="-65">
                <a:solidFill>
                  <a:srgbClr val="191919"/>
                </a:solidFill>
                <a:latin typeface="윤고딕"/>
                <a:ea typeface="윤고딕"/>
                <a:cs typeface="윤고딕"/>
                <a:sym typeface="윤고딕"/>
              </a:rPr>
              <a:t>4. </a:t>
            </a:r>
            <a:r>
              <a:rPr lang="ko-KR" altLang="en-US" sz="4800" b="1" spc="-65">
                <a:solidFill>
                  <a:srgbClr val="191919"/>
                </a:solidFill>
                <a:latin typeface="윤고딕"/>
                <a:ea typeface="윤고딕"/>
                <a:cs typeface="윤고딕"/>
                <a:sym typeface="윤고딕"/>
              </a:rPr>
              <a:t>인프라 및 테스트</a:t>
            </a:r>
            <a:endParaRPr lang="en-US" altLang="ko-KR" sz="4800" b="1" spc="-65">
              <a:solidFill>
                <a:srgbClr val="191919"/>
              </a:solidFill>
              <a:latin typeface="윤고딕"/>
              <a:ea typeface="윤고딕"/>
              <a:cs typeface="윤고딕"/>
              <a:sym typeface="윤고딕"/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A64D5D8F-4541-9314-F19F-9AF3CD460CA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000"/>
          <a:stretch/>
        </p:blipFill>
        <p:spPr>
          <a:xfrm>
            <a:off x="8763000" y="125236"/>
            <a:ext cx="9144000" cy="9740803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41BB6165-5331-C768-9461-CB0517F9E698}"/>
              </a:ext>
            </a:extLst>
          </p:cNvPr>
          <p:cNvSpPr txBox="1"/>
          <p:nvPr/>
        </p:nvSpPr>
        <p:spPr>
          <a:xfrm>
            <a:off x="8764832" y="342900"/>
            <a:ext cx="3654358" cy="222582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endParaRPr lang="ko-KR" alt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8E367CA-275B-B529-EFFD-DDEDC4D293AA}"/>
              </a:ext>
            </a:extLst>
          </p:cNvPr>
          <p:cNvSpPr txBox="1"/>
          <p:nvPr/>
        </p:nvSpPr>
        <p:spPr>
          <a:xfrm>
            <a:off x="15316200" y="2628900"/>
            <a:ext cx="2057400" cy="222582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endParaRPr lang="ko-KR" altLang="en-US"/>
          </a:p>
        </p:txBody>
      </p:sp>
      <p:pic>
        <p:nvPicPr>
          <p:cNvPr id="22" name="그림 21">
            <a:extLst>
              <a:ext uri="{FF2B5EF4-FFF2-40B4-BE49-F238E27FC236}">
                <a16:creationId xmlns:a16="http://schemas.microsoft.com/office/drawing/2014/main" id="{DA3A6D20-87AD-373C-BBA5-F379B9A8C2A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9302" b="14979"/>
          <a:stretch/>
        </p:blipFill>
        <p:spPr>
          <a:xfrm>
            <a:off x="406940" y="1969168"/>
            <a:ext cx="6629400" cy="3447785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7C158911-F7C5-C7BA-B7F5-8B5A6141734A}"/>
              </a:ext>
            </a:extLst>
          </p:cNvPr>
          <p:cNvSpPr txBox="1"/>
          <p:nvPr/>
        </p:nvSpPr>
        <p:spPr>
          <a:xfrm>
            <a:off x="0" y="5514079"/>
            <a:ext cx="7848600" cy="523220"/>
          </a:xfrm>
          <a:prstGeom prst="rect">
            <a:avLst/>
          </a:prstGeom>
          <a:noFill/>
          <a:ln w="28575">
            <a:solidFill>
              <a:schemeClr val="accent1">
                <a:lumMod val="60000"/>
                <a:lumOff val="4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sz="2800" b="1"/>
              <a:t>트래픽을 의도적으로 발생 시키기 위한 기능 반복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50E488F-29B1-F140-31BC-3FF1DBFDBFD5}"/>
              </a:ext>
            </a:extLst>
          </p:cNvPr>
          <p:cNvSpPr txBox="1"/>
          <p:nvPr/>
        </p:nvSpPr>
        <p:spPr>
          <a:xfrm>
            <a:off x="0" y="8087893"/>
            <a:ext cx="8686800" cy="1569660"/>
          </a:xfrm>
          <a:prstGeom prst="rect">
            <a:avLst/>
          </a:prstGeom>
          <a:noFill/>
          <a:ln w="28575">
            <a:solidFill>
              <a:schemeClr val="accent1">
                <a:lumMod val="60000"/>
                <a:lumOff val="4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2400" b="1"/>
              <a:t>Kubernetes</a:t>
            </a:r>
            <a:r>
              <a:rPr lang="ko-KR" altLang="en-US" sz="2400" b="1"/>
              <a:t> 상에서 </a:t>
            </a:r>
            <a:r>
              <a:rPr lang="en-US" altLang="ko-KR" sz="2400" b="1"/>
              <a:t>Pod</a:t>
            </a:r>
            <a:r>
              <a:rPr lang="ko-KR" altLang="en-US" sz="2400" b="1"/>
              <a:t>의 배치와 상태를 확인할 수 있음</a:t>
            </a:r>
            <a:endParaRPr lang="en-US" altLang="ko-KR" sz="2400" b="1"/>
          </a:p>
          <a:p>
            <a:endParaRPr lang="en-US" altLang="ko-KR" sz="2400" b="1"/>
          </a:p>
          <a:p>
            <a:r>
              <a:rPr lang="en-US" altLang="ko-KR" sz="2400" b="1"/>
              <a:t>Kubernetes</a:t>
            </a:r>
            <a:r>
              <a:rPr lang="ko-KR" altLang="en-US" sz="2400" b="1"/>
              <a:t> </a:t>
            </a:r>
            <a:r>
              <a:rPr lang="en-US" altLang="ko-KR" sz="2400" b="1"/>
              <a:t>Replicaset:</a:t>
            </a:r>
            <a:r>
              <a:rPr lang="ko-KR" altLang="en-US" sz="2400" b="1"/>
              <a:t> 일정 개수의 파드를 유지시키는 컨트롤러</a:t>
            </a:r>
            <a:endParaRPr lang="en-US" altLang="ko-KR" sz="2400" b="1"/>
          </a:p>
          <a:p>
            <a:r>
              <a:rPr lang="ko-KR" altLang="en-US" sz="2400" b="1"/>
              <a:t>해당 </a:t>
            </a:r>
            <a:r>
              <a:rPr lang="en-US" altLang="ko-KR" sz="2400" b="1"/>
              <a:t>NamepSpace </a:t>
            </a:r>
            <a:r>
              <a:rPr lang="ko-KR" altLang="en-US" sz="2400" b="1"/>
              <a:t>에서 실행 중인 </a:t>
            </a:r>
            <a:r>
              <a:rPr lang="en-US" altLang="ko-KR" sz="2400" b="1"/>
              <a:t>ReplicaSet </a:t>
            </a:r>
            <a:r>
              <a:rPr lang="ko-KR" altLang="en-US" sz="2400" b="1"/>
              <a:t>상태를 보여줌</a:t>
            </a:r>
          </a:p>
        </p:txBody>
      </p:sp>
      <p:sp>
        <p:nvSpPr>
          <p:cNvPr id="26" name="화살표: 오른쪽 25">
            <a:extLst>
              <a:ext uri="{FF2B5EF4-FFF2-40B4-BE49-F238E27FC236}">
                <a16:creationId xmlns:a16="http://schemas.microsoft.com/office/drawing/2014/main" id="{49389A65-98AD-E653-F429-6B890AC4C368}"/>
              </a:ext>
            </a:extLst>
          </p:cNvPr>
          <p:cNvSpPr/>
          <p:nvPr/>
        </p:nvSpPr>
        <p:spPr>
          <a:xfrm rot="19900921">
            <a:off x="5764266" y="6740064"/>
            <a:ext cx="2696434" cy="566692"/>
          </a:xfrm>
          <a:prstGeom prst="rightArrow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418805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6D2EE7-A89D-B7F8-E59C-812F93CE8E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3516A71F-3B8F-896B-2591-CDD836275386}"/>
              </a:ext>
            </a:extLst>
          </p:cNvPr>
          <p:cNvGrpSpPr/>
          <p:nvPr/>
        </p:nvGrpSpPr>
        <p:grpSpPr>
          <a:xfrm>
            <a:off x="-290868" y="10008764"/>
            <a:ext cx="18869735" cy="120011"/>
            <a:chOff x="0" y="0"/>
            <a:chExt cx="4969807" cy="31608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DBA33191-20E2-6D6A-43D1-0B927190835C}"/>
                </a:ext>
              </a:extLst>
            </p:cNvPr>
            <p:cNvSpPr/>
            <p:nvPr/>
          </p:nvSpPr>
          <p:spPr>
            <a:xfrm>
              <a:off x="0" y="0"/>
              <a:ext cx="4969807" cy="31608"/>
            </a:xfrm>
            <a:custGeom>
              <a:avLst/>
              <a:gdLst/>
              <a:ahLst/>
              <a:cxnLst/>
              <a:rect l="l" t="t" r="r" b="b"/>
              <a:pathLst>
                <a:path w="4969807" h="31608">
                  <a:moveTo>
                    <a:pt x="0" y="0"/>
                  </a:moveTo>
                  <a:lnTo>
                    <a:pt x="4969807" y="0"/>
                  </a:lnTo>
                  <a:lnTo>
                    <a:pt x="4969807" y="31608"/>
                  </a:lnTo>
                  <a:lnTo>
                    <a:pt x="0" y="31608"/>
                  </a:lnTo>
                  <a:close/>
                </a:path>
              </a:pathLst>
            </a:custGeom>
            <a:solidFill>
              <a:srgbClr val="191919"/>
            </a:solidFill>
            <a:ln w="19050" cap="sq">
              <a:solidFill>
                <a:srgbClr val="191919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78783920-7B62-1E79-15A4-0EB3DE6F2278}"/>
                </a:ext>
              </a:extLst>
            </p:cNvPr>
            <p:cNvSpPr txBox="1"/>
            <p:nvPr/>
          </p:nvSpPr>
          <p:spPr>
            <a:xfrm>
              <a:off x="0" y="-47625"/>
              <a:ext cx="4969807" cy="792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9" name="AutoShape 9">
            <a:extLst>
              <a:ext uri="{FF2B5EF4-FFF2-40B4-BE49-F238E27FC236}">
                <a16:creationId xmlns:a16="http://schemas.microsoft.com/office/drawing/2014/main" id="{8E12756D-B154-4FB7-76A4-E7B8D4412D22}"/>
              </a:ext>
            </a:extLst>
          </p:cNvPr>
          <p:cNvSpPr/>
          <p:nvPr/>
        </p:nvSpPr>
        <p:spPr>
          <a:xfrm>
            <a:off x="0" y="828675"/>
            <a:ext cx="3276389" cy="0"/>
          </a:xfrm>
          <a:prstGeom prst="line">
            <a:avLst/>
          </a:prstGeom>
          <a:ln w="38100" cap="flat">
            <a:solidFill>
              <a:srgbClr val="19191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Box 13">
            <a:extLst>
              <a:ext uri="{FF2B5EF4-FFF2-40B4-BE49-F238E27FC236}">
                <a16:creationId xmlns:a16="http://schemas.microsoft.com/office/drawing/2014/main" id="{748F73AA-24F2-5015-4E34-C414358F7709}"/>
              </a:ext>
            </a:extLst>
          </p:cNvPr>
          <p:cNvSpPr txBox="1"/>
          <p:nvPr/>
        </p:nvSpPr>
        <p:spPr>
          <a:xfrm>
            <a:off x="76200" y="896534"/>
            <a:ext cx="7391400" cy="77931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6589"/>
              </a:lnSpc>
              <a:spcBef>
                <a:spcPct val="0"/>
              </a:spcBef>
            </a:pPr>
            <a:r>
              <a:rPr lang="en-US" sz="4800" b="1" spc="-65">
                <a:solidFill>
                  <a:srgbClr val="191919"/>
                </a:solidFill>
                <a:latin typeface="윤고딕"/>
                <a:ea typeface="윤고딕"/>
                <a:cs typeface="윤고딕"/>
                <a:sym typeface="윤고딕"/>
              </a:rPr>
              <a:t>5. </a:t>
            </a:r>
            <a:r>
              <a:rPr lang="ko-KR" altLang="en-US" sz="4800" b="1" spc="-65">
                <a:solidFill>
                  <a:srgbClr val="191919"/>
                </a:solidFill>
                <a:latin typeface="윤고딕"/>
                <a:ea typeface="윤고딕"/>
                <a:cs typeface="윤고딕"/>
                <a:sym typeface="윤고딕"/>
              </a:rPr>
              <a:t>결론 및 향후 계획</a:t>
            </a:r>
            <a:r>
              <a:rPr lang="en-US" altLang="ko-KR" sz="4000" b="1" spc="-65">
                <a:solidFill>
                  <a:srgbClr val="191919"/>
                </a:solidFill>
                <a:latin typeface="윤고딕"/>
                <a:ea typeface="윤고딕"/>
                <a:cs typeface="윤고딕"/>
                <a:sym typeface="윤고딕"/>
              </a:rPr>
              <a:t> </a:t>
            </a:r>
            <a:endParaRPr lang="en-US" sz="4000" b="1" spc="-65">
              <a:solidFill>
                <a:srgbClr val="191919"/>
              </a:solidFill>
              <a:latin typeface="윤고딕"/>
              <a:ea typeface="윤고딕"/>
              <a:cs typeface="윤고딕"/>
              <a:sym typeface="윤고딕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62B1D7-AE9D-E2B6-0A4E-004355D5FC84}"/>
              </a:ext>
            </a:extLst>
          </p:cNvPr>
          <p:cNvSpPr txBox="1"/>
          <p:nvPr/>
        </p:nvSpPr>
        <p:spPr>
          <a:xfrm>
            <a:off x="419099" y="2073891"/>
            <a:ext cx="17868901" cy="88947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685800" indent="-685800">
              <a:buFont typeface="Arial" panose="020B0604020202020204" pitchFamily="34" charset="0"/>
              <a:buChar char="•"/>
            </a:pPr>
            <a:endParaRPr lang="en-US" altLang="ko-KR" sz="4000"/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en-US" altLang="ko-KR" sz="4000">
                <a:solidFill>
                  <a:srgbClr val="0070C0"/>
                </a:solidFill>
              </a:rPr>
              <a:t>Spring Cloud </a:t>
            </a:r>
            <a:r>
              <a:rPr lang="ko-KR" altLang="en-US" sz="4000"/>
              <a:t>기반의 마이크로서비스를 통해 결합도를 낮추고 </a:t>
            </a:r>
            <a:r>
              <a:rPr lang="ko-KR" altLang="en-US" sz="4000">
                <a:solidFill>
                  <a:srgbClr val="FF0000"/>
                </a:solidFill>
              </a:rPr>
              <a:t>민첩성 확장성</a:t>
            </a:r>
            <a:r>
              <a:rPr lang="ko-KR" altLang="en-US" sz="4000"/>
              <a:t>을 확보했다</a:t>
            </a:r>
            <a:r>
              <a:rPr lang="en-US" altLang="ko-KR" sz="4000"/>
              <a:t>.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endParaRPr lang="en-US" altLang="ko-KR" sz="4000"/>
          </a:p>
          <a:p>
            <a:pPr marL="685800" indent="-685800">
              <a:buFont typeface="Arial" panose="020B0604020202020204" pitchFamily="34" charset="0"/>
              <a:buChar char="•"/>
            </a:pPr>
            <a:endParaRPr lang="en-US" altLang="ko-KR" sz="4000"/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en-US" altLang="ko-KR" sz="4000">
                <a:solidFill>
                  <a:srgbClr val="0070C0"/>
                </a:solidFill>
              </a:rPr>
              <a:t>Kubernetes</a:t>
            </a:r>
            <a:r>
              <a:rPr lang="ko-KR" altLang="en-US" sz="4000"/>
              <a:t>를 활용한 오케스트레이션과 오토스케일링 기술을 적용해 </a:t>
            </a:r>
            <a:r>
              <a:rPr lang="ko-KR" altLang="en-US" sz="4000">
                <a:solidFill>
                  <a:srgbClr val="FF0000"/>
                </a:solidFill>
              </a:rPr>
              <a:t>동적 할당</a:t>
            </a:r>
            <a:r>
              <a:rPr lang="ko-KR" altLang="en-US" sz="4000"/>
              <a:t>과 </a:t>
            </a:r>
            <a:r>
              <a:rPr lang="ko-KR" altLang="en-US" sz="4000">
                <a:solidFill>
                  <a:srgbClr val="FF0000"/>
                </a:solidFill>
              </a:rPr>
              <a:t>안정적인 운영</a:t>
            </a:r>
            <a:r>
              <a:rPr lang="ko-KR" altLang="en-US" sz="4000"/>
              <a:t>이 가능해졌다</a:t>
            </a:r>
            <a:r>
              <a:rPr lang="en-US" altLang="ko-KR" sz="4000"/>
              <a:t>.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endParaRPr lang="en-US" altLang="ko-KR" sz="4000"/>
          </a:p>
          <a:p>
            <a:pPr marL="685800" indent="-685800">
              <a:buFont typeface="Arial" panose="020B0604020202020204" pitchFamily="34" charset="0"/>
              <a:buChar char="•"/>
            </a:pPr>
            <a:endParaRPr lang="en-US" altLang="ko-KR" sz="4000"/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ko-KR" altLang="en-US" sz="4000"/>
              <a:t>향후 추가적으로 모니터링 도구의 도입이나 물리적 워커노드의 추가로 더 가용성 있는 아키텍처를 완성 가능하다</a:t>
            </a:r>
            <a:r>
              <a:rPr lang="en-US" altLang="ko-KR" sz="4000"/>
              <a:t>.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endParaRPr lang="en-US" altLang="ko-KR" sz="4400"/>
          </a:p>
          <a:p>
            <a:pPr marL="685800" indent="-685800">
              <a:buFont typeface="Arial" panose="020B0604020202020204" pitchFamily="34" charset="0"/>
              <a:buChar char="•"/>
            </a:pPr>
            <a:endParaRPr lang="en-US" altLang="ko-KR" sz="4400"/>
          </a:p>
          <a:p>
            <a:endParaRPr lang="ko-KR" altLang="en-US" sz="4400"/>
          </a:p>
        </p:txBody>
      </p:sp>
    </p:spTree>
    <p:extLst>
      <p:ext uri="{BB962C8B-B14F-4D97-AF65-F5344CB8AC3E}">
        <p14:creationId xmlns:p14="http://schemas.microsoft.com/office/powerpoint/2010/main" val="23469886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solidFill>
          <a:schemeClr val="bg1"/>
        </a:solidFill>
        <a:ln w="28575">
          <a:solidFill>
            <a:schemeClr val="tx1"/>
          </a:solidFill>
        </a:ln>
      </a:spPr>
      <a:bodyPr wrap="square" rtlCol="0">
        <a:spAutoFit/>
      </a:bodyPr>
      <a:lstStyle>
        <a:defPPr algn="ctr">
          <a:defRPr sz="240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3063</TotalTime>
  <Words>660</Words>
  <Application>Microsoft Office PowerPoint</Application>
  <PresentationFormat>사용자 지정</PresentationFormat>
  <Paragraphs>212</Paragraphs>
  <Slides>19</Slides>
  <Notes>5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19</vt:i4>
      </vt:variant>
    </vt:vector>
  </HeadingPairs>
  <TitlesOfParts>
    <vt:vector size="27" baseType="lpstr">
      <vt:lpstr>나눔고딕</vt:lpstr>
      <vt:lpstr>Calibri</vt:lpstr>
      <vt:lpstr>윤고딕</vt:lpstr>
      <vt:lpstr>Wingdings</vt:lpstr>
      <vt:lpstr>Glacial Indifference</vt:lpstr>
      <vt:lpstr>맑은 고딕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블랙 화이트 심플한 비지니스 프로젝트 프레젠테이션</dc:title>
  <cp:lastModifiedBy>유동균</cp:lastModifiedBy>
  <cp:revision>14</cp:revision>
  <cp:lastPrinted>2025-05-15T02:50:12Z</cp:lastPrinted>
  <dcterms:created xsi:type="dcterms:W3CDTF">2006-08-16T00:00:00Z</dcterms:created>
  <dcterms:modified xsi:type="dcterms:W3CDTF">2025-05-22T14:18:10Z</dcterms:modified>
  <dc:identifier>DAGnarjZHOY</dc:identifier>
</cp:coreProperties>
</file>